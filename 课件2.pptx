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2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1231" r:id="rId3"/>
    <p:sldId id="1288" r:id="rId4"/>
    <p:sldId id="1289" r:id="rId5"/>
    <p:sldId id="1290" r:id="rId6"/>
    <p:sldId id="1291" r:id="rId7"/>
    <p:sldId id="1292" r:id="rId8"/>
    <p:sldId id="1293" r:id="rId9"/>
    <p:sldId id="1294" r:id="rId10"/>
    <p:sldId id="1295" r:id="rId11"/>
    <p:sldId id="1296" r:id="rId12"/>
    <p:sldId id="1297" r:id="rId13"/>
    <p:sldId id="1298" r:id="rId14"/>
    <p:sldId id="1299" r:id="rId15"/>
    <p:sldId id="1300" r:id="rId16"/>
    <p:sldId id="1301" r:id="rId17"/>
    <p:sldId id="1302" r:id="rId18"/>
    <p:sldId id="1303" r:id="rId19"/>
    <p:sldId id="1329" r:id="rId20"/>
    <p:sldId id="1305" r:id="rId21"/>
    <p:sldId id="1306" r:id="rId22"/>
    <p:sldId id="1307" r:id="rId23"/>
    <p:sldId id="1308" r:id="rId24"/>
    <p:sldId id="1309" r:id="rId25"/>
    <p:sldId id="1310" r:id="rId26"/>
    <p:sldId id="1311" r:id="rId27"/>
    <p:sldId id="1312" r:id="rId28"/>
    <p:sldId id="1313" r:id="rId29"/>
    <p:sldId id="1314" r:id="rId30"/>
    <p:sldId id="1315" r:id="rId31"/>
    <p:sldId id="1316" r:id="rId32"/>
    <p:sldId id="1317" r:id="rId33"/>
    <p:sldId id="1318" r:id="rId34"/>
    <p:sldId id="1319" r:id="rId35"/>
    <p:sldId id="1320" r:id="rId36"/>
    <p:sldId id="1321" r:id="rId37"/>
    <p:sldId id="1322" r:id="rId38"/>
    <p:sldId id="1323" r:id="rId39"/>
    <p:sldId id="1324" r:id="rId40"/>
    <p:sldId id="1325" r:id="rId41"/>
    <p:sldId id="1326" r:id="rId42"/>
    <p:sldId id="1327" r:id="rId43"/>
    <p:sldId id="1328" r:id="rId44"/>
  </p:sldIdLst>
  <p:sldSz cx="12801600" cy="7200900"/>
  <p:notesSz cx="6797675" cy="9928225"/>
  <p:defaultTextStyle>
    <a:defPPr>
      <a:defRPr lang="zh-CN"/>
    </a:defPPr>
    <a:lvl1pPr marL="0" lvl="0" indent="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70230" lvl="1" indent="-1130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41730" lvl="2" indent="-2273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711325" lvl="3" indent="-3397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82825" lvl="4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6">
          <p15:clr>
            <a:srgbClr val="A4A3A4"/>
          </p15:clr>
        </p15:guide>
        <p15:guide id="2" pos="408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D9D9D9"/>
    <a:srgbClr val="F7AA89"/>
    <a:srgbClr val="FFD78E"/>
    <a:srgbClr val="0070C0"/>
    <a:srgbClr val="A0B0DC"/>
    <a:srgbClr val="338DCD"/>
    <a:srgbClr val="FFD686"/>
    <a:srgbClr val="F6B89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4" autoAdjust="0"/>
    <p:restoredTop sz="82615" autoAdjust="0"/>
  </p:normalViewPr>
  <p:slideViewPr>
    <p:cSldViewPr showGuides="1">
      <p:cViewPr varScale="1">
        <p:scale>
          <a:sx n="79" d="100"/>
          <a:sy n="79" d="100"/>
        </p:scale>
        <p:origin x="996" y="84"/>
      </p:cViewPr>
      <p:guideLst>
        <p:guide orient="horz" pos="2286"/>
        <p:guide pos="408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黄聃" userId="05fd6555-67a9-4797-980c-de46b7ca3e6c" providerId="ADAL" clId="{19438446-675D-434B-8313-9E1A732F8088}"/>
  </pc:docChgLst>
  <pc:docChgLst>
    <pc:chgData userId="60900f52fed158ba" providerId="LiveId" clId="{012C068E-99C1-41F2-AD58-0A8F74D0EA41}"/>
    <pc:docChg chg="undo custSel modSld">
      <pc:chgData name="" userId="60900f52fed158ba" providerId="LiveId" clId="{012C068E-99C1-41F2-AD58-0A8F74D0EA41}" dt="2026-03-05T05:10:27.065" v="30" actId="20577"/>
      <pc:docMkLst>
        <pc:docMk/>
      </pc:docMkLst>
      <pc:sldChg chg="addSp delSp">
        <pc:chgData name="" userId="60900f52fed158ba" providerId="LiveId" clId="{012C068E-99C1-41F2-AD58-0A8F74D0EA41}" dt="2026-03-05T05:08:52.520" v="1" actId="478"/>
        <pc:sldMkLst>
          <pc:docMk/>
          <pc:sldMk cId="0" sldId="1300"/>
        </pc:sldMkLst>
        <pc:picChg chg="add del">
          <ac:chgData name="" userId="60900f52fed158ba" providerId="LiveId" clId="{012C068E-99C1-41F2-AD58-0A8F74D0EA41}" dt="2026-03-05T05:08:52.520" v="1" actId="478"/>
          <ac:picMkLst>
            <pc:docMk/>
            <pc:sldMk cId="0" sldId="1300"/>
            <ac:picMk id="33796" creationId="{00000000-0000-0000-0000-000000000000}"/>
          </ac:picMkLst>
        </pc:picChg>
      </pc:sldChg>
      <pc:sldChg chg="modSp">
        <pc:chgData name="" userId="60900f52fed158ba" providerId="LiveId" clId="{012C068E-99C1-41F2-AD58-0A8F74D0EA41}" dt="2026-03-05T05:10:27.065" v="30" actId="20577"/>
        <pc:sldMkLst>
          <pc:docMk/>
          <pc:sldMk cId="0" sldId="1301"/>
        </pc:sldMkLst>
        <pc:spChg chg="mod">
          <ac:chgData name="" userId="60900f52fed158ba" providerId="LiveId" clId="{012C068E-99C1-41F2-AD58-0A8F74D0EA41}" dt="2026-03-05T05:10:27.065" v="30" actId="20577"/>
          <ac:spMkLst>
            <pc:docMk/>
            <pc:sldMk cId="0" sldId="1301"/>
            <ac:spMk id="348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D72EB-56EB-4991-A892-A5CE144BC12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2026/3/5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516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B66D08-2390-484F-8BCE-1AC42F82CB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1" y="2236947"/>
            <a:ext cx="10881360" cy="1543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1" y="4080510"/>
            <a:ext cx="896112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1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2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3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4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5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6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6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2026/3/5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256" y="72058"/>
            <a:ext cx="9900000" cy="792088"/>
          </a:xfrm>
        </p:spPr>
        <p:txBody>
          <a:bodyPr/>
          <a:lstStyle>
            <a:lvl1pPr algn="l">
              <a:defRPr sz="40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5208364"/>
          </a:xfrm>
        </p:spPr>
        <p:txBody>
          <a:bodyPr/>
          <a:lstStyle>
            <a:lvl1pPr>
              <a:lnSpc>
                <a:spcPct val="125000"/>
              </a:lnSpc>
              <a:defRPr sz="3200" b="0" i="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2800" b="0" i="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2400" b="0" i="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2400" b="0" i="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2000" b="0" i="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2026/3/5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9" y="4627250"/>
            <a:ext cx="10881360" cy="1430179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9" y="3052049"/>
            <a:ext cx="10881360" cy="1575196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8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17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25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34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43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519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605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69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2026/3/5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2026/3/5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3" y="1611869"/>
            <a:ext cx="5656263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3" y="2283619"/>
            <a:ext cx="5656263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2026/3/5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0762906" cy="792000"/>
          </a:xfrm>
        </p:spPr>
        <p:txBody>
          <a:bodyPr/>
          <a:lstStyle>
            <a:lvl1pPr algn="ctr">
              <a:defRPr sz="40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2026/3/5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230" y="0"/>
            <a:ext cx="10033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占位符 2">
            <a:extLst>
              <a:ext uri="{FF2B5EF4-FFF2-40B4-BE49-F238E27FC236}">
                <a16:creationId xmlns:a16="http://schemas.microsoft.com/office/drawing/2014/main" id="{38523FED-A90C-3245-9F60-193B78B58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>
              <a:defRPr sz="3200" b="0" i="0" baseline="0">
                <a:latin typeface="Comic Sans MS" panose="030F0902030302020204" pitchFamily="66" charset="0"/>
              </a:defRPr>
            </a:lvl1pPr>
            <a:lvl2pPr>
              <a:defRPr sz="2800" b="0" i="0" baseline="0">
                <a:latin typeface="Comic Sans MS" panose="030F0902030302020204" pitchFamily="66" charset="0"/>
              </a:defRPr>
            </a:lvl2pPr>
            <a:lvl3pPr>
              <a:defRPr sz="2400" b="0" i="0" baseline="0">
                <a:latin typeface="Comic Sans MS" panose="030F0902030302020204" pitchFamily="66" charset="0"/>
              </a:defRPr>
            </a:lvl3pPr>
            <a:lvl4pPr>
              <a:defRPr sz="2000" b="0" i="0" baseline="0">
                <a:latin typeface="Comic Sans MS" panose="030F0902030302020204" pitchFamily="66" charset="0"/>
              </a:defRPr>
            </a:lvl4pPr>
            <a:lvl5pPr>
              <a:defRPr sz="1800" b="0" i="0" baseline="0">
                <a:latin typeface="Comic Sans MS" panose="030F0902030302020204" pitchFamily="66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2026/3/5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3" y="286707"/>
            <a:ext cx="4211639" cy="122015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2" y="286708"/>
            <a:ext cx="7156451" cy="614576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3" y="1506856"/>
            <a:ext cx="4211639" cy="4925616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2026/3/5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5"/>
            <a:ext cx="7680960" cy="595075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 vert="horz" wrap="square" lIns="114181" tIns="57091" rIns="114181" bIns="57091" numCol="1" rtlCol="0" anchor="t" anchorCtr="0" compatLnSpc="1">
            <a:normAutofit/>
          </a:bodyPr>
          <a:lstStyle>
            <a:lvl1pPr marL="0" indent="0">
              <a:buNone/>
              <a:defRPr sz="4000"/>
            </a:lvl1pPr>
            <a:lvl2pPr marL="570865" indent="0">
              <a:buNone/>
              <a:defRPr sz="3500"/>
            </a:lvl2pPr>
            <a:lvl3pPr marL="1141730" indent="0">
              <a:buNone/>
              <a:defRPr sz="3000"/>
            </a:lvl3pPr>
            <a:lvl4pPr marL="1712595" indent="0">
              <a:buNone/>
              <a:defRPr sz="2500"/>
            </a:lvl4pPr>
            <a:lvl5pPr marL="2283460" indent="0">
              <a:buNone/>
              <a:defRPr sz="2500"/>
            </a:lvl5pPr>
            <a:lvl6pPr marL="2854325" indent="0">
              <a:buNone/>
              <a:defRPr sz="2500"/>
            </a:lvl6pPr>
            <a:lvl7pPr marL="3425190" indent="0">
              <a:buNone/>
              <a:defRPr sz="2500"/>
            </a:lvl7pPr>
            <a:lvl8pPr marL="3996055" indent="0">
              <a:buNone/>
              <a:defRPr sz="2500"/>
            </a:lvl8pPr>
            <a:lvl9pPr marL="4566920" indent="0">
              <a:buNone/>
              <a:defRPr sz="2500"/>
            </a:lvl9pPr>
          </a:lstStyle>
          <a:p>
            <a:pPr marL="0" marR="0" lvl="0" indent="0" algn="l" defTabSz="11398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单击图标添加图片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10"/>
            <a:ext cx="7680960" cy="845105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2026/3/5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2026/3/5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2026/3/5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41350" y="193535"/>
            <a:ext cx="11085662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2026/3/5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defTabSz="1139825" rtl="0" eaLnBrk="1" fontAlgn="base" hangingPunct="1">
        <a:spcBef>
          <a:spcPct val="0"/>
        </a:spcBef>
        <a:spcAft>
          <a:spcPct val="0"/>
        </a:spcAft>
        <a:defRPr kumimoji="1" sz="40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25450" indent="-42545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dirty="0">
          <a:solidFill>
            <a:srgbClr val="0070C0"/>
          </a:solidFill>
          <a:latin typeface="+mn-lt"/>
          <a:ea typeface="微软雅黑" panose="020B0503020204020204" pitchFamily="34" charset="-122"/>
          <a:cs typeface="微软雅黑" panose="020B0503020204020204" pitchFamily="34" charset="-122"/>
        </a:defRPr>
      </a:lvl1pPr>
      <a:lvl2pPr marL="925830" indent="-35433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800" b="1" kern="1200" dirty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42557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400" b="1" kern="1200" dirty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9958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000" b="1" kern="1200" dirty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5673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1800" b="1" kern="1200" dirty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314007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094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180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267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86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59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346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432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519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5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692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784429" y="2489342"/>
            <a:ext cx="11377264" cy="70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zh-CN" altLang="en-US" sz="4000" b="1" spc="3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并行</a:t>
            </a:r>
            <a:r>
              <a:rPr lang="zh-CN" altLang="en-US" sz="4000" b="1" spc="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程序设计</a:t>
            </a:r>
            <a:endParaRPr lang="zh-CN" altLang="en-US" sz="4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/>
          <p:cNvSpPr txBox="1"/>
          <p:nvPr/>
        </p:nvSpPr>
        <p:spPr>
          <a:xfrm>
            <a:off x="1239224" y="1847676"/>
            <a:ext cx="10259219" cy="70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2224200" y="3897572"/>
            <a:ext cx="8136904" cy="168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任课教师：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聃（Huang，Dan）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288" y="-43295"/>
            <a:ext cx="973455" cy="90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Roadmap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1350" y="1480820"/>
            <a:ext cx="11483340" cy="4563110"/>
          </a:xfrm>
        </p:spPr>
        <p:txBody>
          <a:bodyPr/>
          <a:lstStyle/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Why we need ever-increasing performance.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Why we</a:t>
            </a:r>
            <a:r>
              <a:rPr lang="en-US" altLang="zh-CN" dirty="0"/>
              <a:t>’</a:t>
            </a:r>
            <a:r>
              <a:rPr lang="en-US" altLang="ja-JP" dirty="0"/>
              <a:t>re building parallel systems.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Why we need to write parallel programs.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How do we write parallel programs?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What we</a:t>
            </a:r>
            <a:r>
              <a:rPr lang="zh-CN" altLang="en-US" dirty="0"/>
              <a:t> </a:t>
            </a:r>
            <a:r>
              <a:rPr lang="en-US" altLang="ja-JP" dirty="0"/>
              <a:t>will be doing.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Concurrent, parallel, distributed!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Changing times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21508" name="Content Placeholder 8"/>
          <p:cNvSpPr>
            <a:spLocks noGrp="1"/>
          </p:cNvSpPr>
          <p:nvPr>
            <p:ph idx="1"/>
          </p:nvPr>
        </p:nvSpPr>
        <p:spPr>
          <a:xfrm>
            <a:off x="539750" y="1244600"/>
            <a:ext cx="11730355" cy="5111750"/>
          </a:xfrm>
        </p:spPr>
        <p:txBody>
          <a:bodyPr/>
          <a:lstStyle/>
          <a:p>
            <a:r>
              <a:rPr lang="en-US" altLang="en-US" sz="2800" dirty="0"/>
              <a:t>From 1986 – 2004, microprocessors were speeding like a rocket, increasing in performance an average of 50% per year.</a:t>
            </a:r>
            <a:br>
              <a:rPr lang="en-US" altLang="en-US" sz="2800" dirty="0"/>
            </a:br>
            <a:endParaRPr lang="en-US" altLang="en-US" sz="2800" dirty="0"/>
          </a:p>
          <a:p>
            <a:r>
              <a:rPr lang="en-US" altLang="en-US" sz="2800" dirty="0"/>
              <a:t>Since then, it’</a:t>
            </a:r>
            <a:r>
              <a:rPr lang="en-US" altLang="ja-JP" sz="2800" dirty="0"/>
              <a:t>s dropped to about 20% increase per year.</a:t>
            </a:r>
          </a:p>
        </p:txBody>
      </p:sp>
      <p:pic>
        <p:nvPicPr>
          <p:cNvPr id="21507" name="Picture 4" descr="C:\Documents and Settings\liszka\Local Settings\Temporary Internet Files\Content.IE5\EGYLQZJJ\MC900281085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3295" y="3960495"/>
            <a:ext cx="2460625" cy="2678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An intelligent solution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2531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/>
              <a:t>Instead of designing and building faster microprocessors, put </a:t>
            </a:r>
            <a:r>
              <a:rPr lang="en-US" altLang="en-US" sz="3200" u="sng" dirty="0">
                <a:solidFill>
                  <a:srgbClr val="FF0000"/>
                </a:solidFill>
              </a:rPr>
              <a:t>multiple</a:t>
            </a:r>
            <a:r>
              <a:rPr lang="en-US" altLang="en-US" sz="3200" u="sng" dirty="0"/>
              <a:t> </a:t>
            </a:r>
            <a:r>
              <a:rPr lang="en-US" altLang="en-US" sz="3200" dirty="0"/>
              <a:t>processors on a single integrated circuit.</a:t>
            </a:r>
            <a:br>
              <a:rPr lang="en-US" altLang="en-US" sz="3200" dirty="0"/>
            </a:br>
            <a:endParaRPr lang="en-US" altLang="en-US" sz="3200" dirty="0"/>
          </a:p>
          <a:p>
            <a:endParaRPr lang="en-US" altLang="en-US" sz="3200" dirty="0"/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22532" name="Picture 4" descr="C:\Documents and Settings\liszka\Local Settings\Temporary Internet Files\Content.IE5\60RV4HYO\MC900250279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575" y="4535805"/>
            <a:ext cx="1698625" cy="116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4" descr="C:\Documents and Settings\liszka\Local Settings\Temporary Internet Files\Content.IE5\60RV4HYO\MC900250279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920" y="4032885"/>
            <a:ext cx="1698625" cy="116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4" descr="C:\Documents and Settings\liszka\Local Settings\Temporary Internet Files\Content.IE5\60RV4HYO\MC900250279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445" y="5040630"/>
            <a:ext cx="1698625" cy="116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4" descr="C:\Documents and Settings\liszka\Local Settings\Temporary Internet Files\Content.IE5\60RV4HYO\MC900250279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845" y="4032885"/>
            <a:ext cx="1698625" cy="116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4" descr="C:\Documents and Settings\liszka\Local Settings\Temporary Internet Files\Content.IE5\60RV4HYO\MC900250279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050" y="4896485"/>
            <a:ext cx="1698625" cy="116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latin typeface="Comic Sans MS" panose="030F0702030302020204" pitchFamily="66" charset="0"/>
                <a:sym typeface="+mn-ea"/>
              </a:rPr>
              <a:t>Now it’</a:t>
            </a:r>
            <a:r>
              <a:rPr lang="en-US" altLang="ja-JP" dirty="0">
                <a:latin typeface="Comic Sans MS" panose="030F0702030302020204" pitchFamily="66" charset="0"/>
                <a:sym typeface="+mn-ea"/>
              </a:rPr>
              <a:t>s up to the programmers</a:t>
            </a:r>
            <a:endParaRPr lang="zh-CN" altLang="en-US" b="1" dirty="0">
              <a:solidFill>
                <a:srgbClr val="002060"/>
              </a:solidFill>
              <a:latin typeface="Comic Sans MS" panose="030F0702030302020204" pitchFamily="66" charset="0"/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436245" y="1427480"/>
            <a:ext cx="12109450" cy="5360035"/>
          </a:xfrm>
        </p:spPr>
        <p:txBody>
          <a:bodyPr/>
          <a:lstStyle/>
          <a:p>
            <a:r>
              <a:rPr lang="en-US" altLang="en-US" sz="2800" dirty="0"/>
              <a:t>Adding more processors doesn’</a:t>
            </a:r>
            <a:r>
              <a:rPr lang="en-US" altLang="ja-JP" sz="2800" dirty="0"/>
              <a:t>t help much if programmers aren</a:t>
            </a:r>
            <a:r>
              <a:rPr lang="en-US" altLang="zh-CN" sz="2800" dirty="0"/>
              <a:t>’</a:t>
            </a:r>
            <a:r>
              <a:rPr lang="en-US" altLang="ja-JP" sz="2800" dirty="0"/>
              <a:t>t aware of them…</a:t>
            </a:r>
          </a:p>
          <a:p>
            <a:r>
              <a:rPr lang="en-US" altLang="en-US" sz="2800" dirty="0"/>
              <a:t>… or don</a:t>
            </a:r>
            <a:r>
              <a:rPr lang="en-US" altLang="zh-CN" sz="2800" dirty="0"/>
              <a:t>’</a:t>
            </a:r>
            <a:r>
              <a:rPr lang="en-US" altLang="ja-JP" sz="2800" dirty="0"/>
              <a:t>t know how to use them.</a:t>
            </a:r>
            <a:br>
              <a:rPr lang="en-US" altLang="ja-JP" sz="2800" dirty="0"/>
            </a:br>
            <a:endParaRPr lang="en-US" altLang="ja-JP" sz="2800" dirty="0"/>
          </a:p>
          <a:p>
            <a:r>
              <a:rPr lang="en-US" altLang="en-US" sz="2800" dirty="0"/>
              <a:t>Serial programs don</a:t>
            </a:r>
            <a:r>
              <a:rPr lang="en-US" altLang="zh-CN" sz="2800" dirty="0"/>
              <a:t>’</a:t>
            </a:r>
            <a:r>
              <a:rPr lang="en-US" altLang="ja-JP" sz="2800" dirty="0"/>
              <a:t>t benefit from this approach (in most cases).</a:t>
            </a:r>
          </a:p>
        </p:txBody>
      </p:sp>
      <p:pic>
        <p:nvPicPr>
          <p:cNvPr id="23556" name="Picture 2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2915" y="4172585"/>
            <a:ext cx="2436495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784225" y="432199"/>
            <a:ext cx="10762906" cy="792000"/>
          </a:xfrm>
        </p:spPr>
        <p:txBody>
          <a:bodyPr/>
          <a:lstStyle/>
          <a:p>
            <a:pPr algn="ctr"/>
            <a:r>
              <a:rPr lang="en-US" altLang="en-US">
                <a:sym typeface="+mn-ea"/>
              </a:rPr>
              <a:t>Why we need ever-increasing performance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712470" y="1800225"/>
            <a:ext cx="11322685" cy="5118100"/>
          </a:xfrm>
        </p:spPr>
        <p:txBody>
          <a:bodyPr/>
          <a:lstStyle/>
          <a:p>
            <a:r>
              <a:rPr lang="en-US" altLang="en-US" sz="3200" b="0" dirty="0"/>
              <a:t>Computational power is increasing, but so are our computation problems and needs.</a:t>
            </a:r>
          </a:p>
          <a:p>
            <a:r>
              <a:rPr lang="en-US" altLang="en-US" sz="3200" b="0" dirty="0"/>
              <a:t>Problems that we never dreamed of, have been solved because of past increases, such as decoding the human genome.</a:t>
            </a:r>
          </a:p>
          <a:p>
            <a:r>
              <a:rPr lang="en-US" altLang="en-US" sz="3200" b="0" dirty="0"/>
              <a:t>More complex problems are still waiting to be solved.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Climate modeling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25603" name="Picture 4" descr="C:\Documents and Settings\liszka\Local Settings\Temporary Internet Files\Content.IE5\0AVCOKV0\MP910218826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605" y="1296035"/>
            <a:ext cx="7494270" cy="500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Protein folding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2662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50" y="1584325"/>
            <a:ext cx="7866380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Drug discovery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27651" name="Picture 2" descr="C:\Documents and Settings\liszka\Local Settings\Temporary Internet Files\Content.IE5\Q7HGDQRM\MP91022105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980" y="1368425"/>
            <a:ext cx="3476625" cy="5226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5" descr="C:\Documents and Settings\liszka\Local Settings\Temporary Internet Files\Content.IE5\5W39ONER\MP900178842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30" y="2060575"/>
            <a:ext cx="5148580" cy="3450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Energy research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28675" name="Picture 5" descr="C:\Documents and Settings\liszka\Local Settings\Temporary Internet Files\Content.IE5\5W39ONER\MP900437180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0935" y="1136015"/>
            <a:ext cx="3423920" cy="5128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11" descr="C:\Documents and Settings\liszka\Local Settings\Temporary Internet Files\Content.IE5\Q7HGDQRM\MP900437387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460" y="1152525"/>
            <a:ext cx="3420745" cy="514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Data analysis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29699" name="Picture 2" descr="C:\Documents and Settings\liszka\Local Settings\Temporary Internet Files\Content.IE5\5W39ONER\MP900309271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0843" y="1368425"/>
            <a:ext cx="2427287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6" descr="C:\Documents and Settings\liszka\Local Settings\Temporary Internet Files\Content.IE5\3X5GU20H\MP900399836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980" y="1369060"/>
            <a:ext cx="3448050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5" descr="C:\Documents and Settings\liszka\Local Settings\Temporary Internet Files\Content.IE5\1G3WK4XC\MP900400426[1]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548" y="1347153"/>
            <a:ext cx="3744912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1000125" y="143909"/>
            <a:ext cx="10762906" cy="792000"/>
          </a:xfrm>
        </p:spPr>
        <p:txBody>
          <a:bodyPr/>
          <a:lstStyle/>
          <a:p>
            <a:pPr algn="ctr"/>
            <a:r>
              <a:rPr lang="en-US" altLang="en-US" dirty="0">
                <a:sym typeface="+mn-ea"/>
              </a:rPr>
              <a:t>Why we</a:t>
            </a:r>
            <a:r>
              <a:rPr lang="en-US" altLang="zh-CN" dirty="0">
                <a:sym typeface="+mn-ea"/>
              </a:rPr>
              <a:t>’</a:t>
            </a:r>
            <a:r>
              <a:rPr lang="en-US" altLang="ja-JP" dirty="0">
                <a:sym typeface="+mn-ea"/>
              </a:rPr>
              <a:t>re building parallel systems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>
          <a:xfrm>
            <a:off x="684530" y="1628775"/>
            <a:ext cx="10621645" cy="4813935"/>
          </a:xfrm>
        </p:spPr>
        <p:txBody>
          <a:bodyPr/>
          <a:lstStyle/>
          <a:p>
            <a:r>
              <a:rPr lang="en-US" altLang="en-US" b="0" dirty="0"/>
              <a:t>Up to now, performance increases have been attributable to increasing density of transistors.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But there are inherent problems.</a:t>
            </a:r>
          </a:p>
        </p:txBody>
      </p:sp>
      <p:pic>
        <p:nvPicPr>
          <p:cNvPr id="307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110" y="3918666"/>
            <a:ext cx="4203065" cy="3216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sym typeface="+mn-ea"/>
              </a:rPr>
              <a:t>A little physics lesson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31748" name="Picture 2" descr="C:\Documents and Settings\liszka\Local Settings\Temporary Internet Files\Content.IE5\1G3WK4XC\MC900241091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7105" y="72390"/>
            <a:ext cx="912813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611505" y="1196975"/>
            <a:ext cx="11890375" cy="5598160"/>
          </a:xfrm>
        </p:spPr>
        <p:txBody>
          <a:bodyPr/>
          <a:lstStyle/>
          <a:p>
            <a:r>
              <a:rPr lang="en-US" altLang="en-US" dirty="0"/>
              <a:t>Smaller transistors -&gt; faster processors. </a:t>
            </a:r>
            <a:r>
              <a:rPr lang="zh-CN" altLang="en-US" dirty="0"/>
              <a:t> </a:t>
            </a:r>
            <a:r>
              <a:rPr lang="en-US" altLang="zh-CN" dirty="0"/>
              <a:t>(Dennard Scaling)</a:t>
            </a:r>
            <a:endParaRPr lang="en-US" altLang="en-US" dirty="0"/>
          </a:p>
          <a:p>
            <a:r>
              <a:rPr lang="en-US" altLang="en-US" dirty="0"/>
              <a:t>Faster processors -&gt; increased power consumption.</a:t>
            </a:r>
          </a:p>
          <a:p>
            <a:r>
              <a:rPr lang="en-US" altLang="en-US" dirty="0"/>
              <a:t>Increased power consumption -&gt; increased heat.</a:t>
            </a:r>
          </a:p>
          <a:p>
            <a:r>
              <a:rPr lang="en-US" altLang="en-US" dirty="0"/>
              <a:t>Increased heat -&gt; unreliable processors.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Solution 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>
          <a:xfrm>
            <a:off x="684530" y="1125855"/>
            <a:ext cx="11720830" cy="2469515"/>
          </a:xfrm>
        </p:spPr>
        <p:txBody>
          <a:bodyPr/>
          <a:lstStyle/>
          <a:p>
            <a:r>
              <a:rPr lang="en-US" altLang="en-US" sz="3200"/>
              <a:t>Move away from single-core systems to multicore processors.</a:t>
            </a:r>
          </a:p>
          <a:p>
            <a:r>
              <a:rPr lang="ja-JP" altLang="en-US" sz="3200"/>
              <a:t>“</a:t>
            </a:r>
            <a:r>
              <a:rPr lang="en-US" altLang="ja-JP" sz="3200"/>
              <a:t>core</a:t>
            </a:r>
            <a:r>
              <a:rPr lang="ja-JP" altLang="en-US" sz="3200"/>
              <a:t>”</a:t>
            </a:r>
            <a:r>
              <a:rPr lang="en-US" altLang="ja-JP" sz="3200"/>
              <a:t> = central processing unit (CPU)</a:t>
            </a:r>
            <a:br>
              <a:rPr lang="en-US" altLang="ja-JP" sz="3200"/>
            </a:br>
            <a:endParaRPr lang="en-US" altLang="ja-JP" sz="3200"/>
          </a:p>
        </p:txBody>
      </p:sp>
      <p:sp>
        <p:nvSpPr>
          <p:cNvPr id="32771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0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32772" name="Picture 3" descr="C:\Documents and Settings\liszka\Local Settings\Temporary Internet Files\Content.IE5\3X5GU20H\MP90040097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415" y="2952750"/>
            <a:ext cx="2541588" cy="317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 txBox="1"/>
          <p:nvPr/>
        </p:nvSpPr>
        <p:spPr bwMode="auto">
          <a:xfrm>
            <a:off x="4456430" y="4032568"/>
            <a:ext cx="5184775" cy="1511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kern="0" dirty="0">
                <a:solidFill>
                  <a:srgbClr val="003399"/>
                </a:solidFill>
                <a:latin typeface="+mn-lt"/>
                <a:ea typeface="+mn-ea"/>
              </a:rPr>
              <a:t>Introducing parallelism!!!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Why we need to write parallel programs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3794" name="Content Placeholder 2"/>
          <p:cNvSpPr>
            <a:spLocks noGrp="1"/>
          </p:cNvSpPr>
          <p:nvPr>
            <p:ph idx="1"/>
          </p:nvPr>
        </p:nvSpPr>
        <p:spPr>
          <a:xfrm>
            <a:off x="684530" y="1700530"/>
            <a:ext cx="11742420" cy="5014595"/>
          </a:xfrm>
        </p:spPr>
        <p:txBody>
          <a:bodyPr/>
          <a:lstStyle/>
          <a:p>
            <a:r>
              <a:rPr lang="en-US" altLang="en-US" sz="2800" dirty="0"/>
              <a:t>Running multiple instances of a serial program often isn’</a:t>
            </a:r>
            <a:r>
              <a:rPr lang="en-US" altLang="ja-JP" sz="2800" dirty="0"/>
              <a:t>t very useful.</a:t>
            </a:r>
          </a:p>
          <a:p>
            <a:r>
              <a:rPr lang="en-US" altLang="en-US" sz="2800" dirty="0"/>
              <a:t>Think of running multiple instances of your favorite game.</a:t>
            </a:r>
          </a:p>
          <a:p>
            <a:endParaRPr lang="en-US" altLang="en-US" sz="2800" dirty="0"/>
          </a:p>
          <a:p>
            <a:r>
              <a:rPr lang="en-US" altLang="en-US" sz="2800" dirty="0"/>
              <a:t>What you really want is for it to run faster.</a:t>
            </a:r>
          </a:p>
        </p:txBody>
      </p:sp>
      <p:pic>
        <p:nvPicPr>
          <p:cNvPr id="33796" name="Picture 2" descr="C:\Documents and Settings\liszka\Local Settings\Temporary Internet Files\Content.IE5\5W39ONER\MC900434783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5260" y="3816350"/>
            <a:ext cx="2739390" cy="273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Approaches to the serial problem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altLang="en-US" b="0" dirty="0">
                <a:latin typeface="Comic Sans MS" panose="030F0902030302020204" pitchFamily="66" charset="0"/>
              </a:rPr>
              <a:t>Rewrite serial programs so that they</a:t>
            </a:r>
            <a:r>
              <a:rPr lang="en-US" altLang="zh-CN" b="0" dirty="0">
                <a:latin typeface="Comic Sans MS" panose="030F0902030302020204" pitchFamily="66" charset="0"/>
              </a:rPr>
              <a:t>’</a:t>
            </a:r>
            <a:r>
              <a:rPr lang="en-US" altLang="ja-JP" b="0" dirty="0">
                <a:latin typeface="Comic Sans MS" panose="030F0902030302020204" pitchFamily="66" charset="0"/>
              </a:rPr>
              <a:t>re parallel.</a:t>
            </a:r>
            <a:br>
              <a:rPr lang="en-US" altLang="ja-JP" b="0" dirty="0">
                <a:latin typeface="Comic Sans MS" panose="030F0902030302020204" pitchFamily="66" charset="0"/>
              </a:rPr>
            </a:br>
            <a:endParaRPr lang="en-US" altLang="ja-JP" b="0" dirty="0">
              <a:latin typeface="Comic Sans MS" panose="030F0902030302020204" pitchFamily="66" charset="0"/>
            </a:endParaRPr>
          </a:p>
          <a:p>
            <a:r>
              <a:rPr lang="en-US" altLang="en-US" b="0" dirty="0">
                <a:latin typeface="Comic Sans MS" panose="030F0902030302020204" pitchFamily="66" charset="0"/>
              </a:rPr>
              <a:t>Write translation programs</a:t>
            </a:r>
            <a:r>
              <a:rPr lang="en-US" altLang="en-US" dirty="0"/>
              <a:t>/LLM</a:t>
            </a:r>
            <a:r>
              <a:rPr lang="zh-CN" altLang="en-US" dirty="0"/>
              <a:t> </a:t>
            </a:r>
            <a:r>
              <a:rPr lang="en-US" altLang="zh-CN" dirty="0"/>
              <a:t>agents</a:t>
            </a:r>
            <a:r>
              <a:rPr lang="en-US" altLang="en-US" b="0" dirty="0">
                <a:latin typeface="Comic Sans MS" panose="030F0902030302020204" pitchFamily="66" charset="0"/>
              </a:rPr>
              <a:t> that automatically convert serial programs into parallel programs.</a:t>
            </a:r>
          </a:p>
          <a:p>
            <a:pPr lvl="1"/>
            <a:r>
              <a:rPr lang="en-US" altLang="en-US" sz="2800" b="0" dirty="0">
                <a:latin typeface="Comic Sans MS" panose="030F0902030302020204" pitchFamily="66" charset="0"/>
              </a:rPr>
              <a:t>This is very difficult to do.</a:t>
            </a:r>
          </a:p>
          <a:p>
            <a:pPr lvl="1"/>
            <a:r>
              <a:rPr lang="en-US" altLang="en-US" sz="2800" b="0" dirty="0">
                <a:latin typeface="Comic Sans MS" panose="030F0902030302020204" pitchFamily="66" charset="0"/>
              </a:rPr>
              <a:t>Success has been limited.</a:t>
            </a:r>
          </a:p>
          <a:p>
            <a:r>
              <a:rPr lang="en-US" altLang="en-US"/>
              <a:t>Deploy </a:t>
            </a:r>
            <a:r>
              <a:rPr lang="en-US" altLang="en-US" dirty="0"/>
              <a:t>LLM agents that automatically convert serial programs into parallel programs.</a:t>
            </a:r>
          </a:p>
          <a:p>
            <a:endParaRPr lang="en-US" altLang="en-US" b="0" dirty="0">
              <a:latin typeface="Comic Sans MS" panose="030F0902030302020204" pitchFamily="66" charset="0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More problems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58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>
                <a:latin typeface="Comic Sans MS" panose="030F0702030302020204" pitchFamily="66" charset="0"/>
                <a:cs typeface="Calibri" panose="020F0502020204030204" pitchFamily="34" charset="0"/>
              </a:rPr>
              <a:t>Some coding constructs can be recognized by an automatic program generator, and converted to a parallel construct.</a:t>
            </a:r>
          </a:p>
          <a:p>
            <a:r>
              <a:rPr lang="en-US" altLang="en-US" sz="3200" dirty="0">
                <a:latin typeface="Comic Sans MS" panose="030F0702030302020204" pitchFamily="66" charset="0"/>
                <a:cs typeface="Calibri" panose="020F0502020204030204" pitchFamily="34" charset="0"/>
              </a:rPr>
              <a:t>However, it</a:t>
            </a:r>
            <a:r>
              <a:rPr lang="en-US" altLang="zh-CN" sz="3200" dirty="0">
                <a:latin typeface="Comic Sans MS" panose="030F0702030302020204" pitchFamily="66" charset="0"/>
                <a:cs typeface="Calibri" panose="020F0502020204030204" pitchFamily="34" charset="0"/>
              </a:rPr>
              <a:t>’</a:t>
            </a:r>
            <a:r>
              <a:rPr lang="en-US" altLang="ja-JP" sz="3200" dirty="0">
                <a:latin typeface="Comic Sans MS" panose="030F0702030302020204" pitchFamily="66" charset="0"/>
                <a:cs typeface="Calibri" panose="020F0502020204030204" pitchFamily="34" charset="0"/>
              </a:rPr>
              <a:t>s likely that the result will be a very </a:t>
            </a:r>
            <a:r>
              <a:rPr lang="en-US" altLang="ja-JP" sz="320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inefficient</a:t>
            </a:r>
            <a:r>
              <a:rPr lang="en-US" altLang="ja-JP" sz="3200" dirty="0">
                <a:latin typeface="Comic Sans MS" panose="030F0702030302020204" pitchFamily="66" charset="0"/>
                <a:cs typeface="Calibri" panose="020F0502020204030204" pitchFamily="34" charset="0"/>
              </a:rPr>
              <a:t> program.</a:t>
            </a:r>
          </a:p>
          <a:p>
            <a:r>
              <a:rPr lang="en-US" altLang="en-US" sz="3200" dirty="0">
                <a:latin typeface="Comic Sans MS" panose="030F0702030302020204" pitchFamily="66" charset="0"/>
                <a:cs typeface="Calibri" panose="020F0502020204030204" pitchFamily="34" charset="0"/>
              </a:rPr>
              <a:t>Sometimes the best parallel solution is to step back and devise an entirely new algorithm.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Example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6866" name="Content Placeholder 2"/>
          <p:cNvSpPr>
            <a:spLocks noGrp="1"/>
          </p:cNvSpPr>
          <p:nvPr>
            <p:ph idx="1"/>
          </p:nvPr>
        </p:nvSpPr>
        <p:spPr>
          <a:xfrm>
            <a:off x="712470" y="1226185"/>
            <a:ext cx="10677525" cy="2065655"/>
          </a:xfrm>
        </p:spPr>
        <p:txBody>
          <a:bodyPr/>
          <a:lstStyle/>
          <a:p>
            <a:r>
              <a:rPr lang="en-US" altLang="en-US" b="0"/>
              <a:t>Compute n values and add them together.</a:t>
            </a:r>
          </a:p>
          <a:p>
            <a:r>
              <a:rPr lang="en-US" altLang="en-US" b="0"/>
              <a:t>Serial solution:</a:t>
            </a:r>
          </a:p>
        </p:txBody>
      </p:sp>
      <p:pic>
        <p:nvPicPr>
          <p:cNvPr id="36868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695" y="3240405"/>
            <a:ext cx="6040438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0704791-A0ED-407D-BCE9-2FBD93A48052}"/>
              </a:ext>
            </a:extLst>
          </p:cNvPr>
          <p:cNvSpPr txBox="1"/>
          <p:nvPr/>
        </p:nvSpPr>
        <p:spPr>
          <a:xfrm>
            <a:off x="8465034" y="3909061"/>
            <a:ext cx="24048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omic Sans MS" panose="030F0702030302020204" pitchFamily="66" charset="0"/>
              </a:rPr>
              <a:t>// call a function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ontent Placeholder 2"/>
          <p:cNvSpPr>
            <a:spLocks noGrp="1"/>
          </p:cNvSpPr>
          <p:nvPr>
            <p:ph idx="1"/>
          </p:nvPr>
        </p:nvSpPr>
        <p:spPr>
          <a:xfrm>
            <a:off x="1388110" y="1035050"/>
            <a:ext cx="10506075" cy="2359660"/>
          </a:xfrm>
        </p:spPr>
        <p:txBody>
          <a:bodyPr/>
          <a:lstStyle/>
          <a:p>
            <a:r>
              <a:rPr lang="en-US" altLang="en-US"/>
              <a:t>We have p cores, p much smaller than n.</a:t>
            </a:r>
          </a:p>
          <a:p>
            <a:r>
              <a:rPr lang="en-US" altLang="en-US"/>
              <a:t>Each core performs a partial sum of approximately n/p values.</a:t>
            </a:r>
          </a:p>
        </p:txBody>
      </p:sp>
      <p:sp>
        <p:nvSpPr>
          <p:cNvPr id="37891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642" y="3298746"/>
            <a:ext cx="7864316" cy="2191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TextBox 5"/>
          <p:cNvSpPr txBox="1">
            <a:spLocks noChangeArrowheads="1"/>
          </p:cNvSpPr>
          <p:nvPr/>
        </p:nvSpPr>
        <p:spPr bwMode="auto">
          <a:xfrm>
            <a:off x="6022420" y="5188982"/>
            <a:ext cx="4583430" cy="1020445"/>
          </a:xfrm>
          <a:prstGeom prst="rect">
            <a:avLst/>
          </a:prstGeom>
          <a:noFill/>
          <a:ln w="9525">
            <a:solidFill>
              <a:srgbClr val="3399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890">
                <a:latin typeface="Arial" panose="020B0604020202020204" pitchFamily="34" charset="0"/>
              </a:rPr>
              <a:t>Each core uses it</a:t>
            </a:r>
            <a:r>
              <a:rPr lang="ja-JP" altLang="en-US" sz="1890">
                <a:latin typeface="Arial" panose="020B0604020202020204" pitchFamily="34" charset="0"/>
              </a:rPr>
              <a:t>’</a:t>
            </a:r>
            <a:r>
              <a:rPr lang="en-US" altLang="ja-JP" sz="1890">
                <a:latin typeface="Arial" panose="020B0604020202020204" pitchFamily="34" charset="0"/>
              </a:rPr>
              <a:t>s own private variables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890">
                <a:latin typeface="Arial" panose="020B0604020202020204" pitchFamily="34" charset="0"/>
              </a:rPr>
              <a:t>and executes this block of code</a:t>
            </a:r>
            <a:br>
              <a:rPr lang="en-US" altLang="en-US" sz="1890">
                <a:latin typeface="Arial" panose="020B0604020202020204" pitchFamily="34" charset="0"/>
              </a:rPr>
            </a:br>
            <a:r>
              <a:rPr lang="en-US" altLang="en-US" sz="1890">
                <a:latin typeface="Arial" panose="020B0604020202020204" pitchFamily="34" charset="0"/>
              </a:rPr>
              <a:t>independently of the other cores.</a:t>
            </a:r>
          </a:p>
        </p:txBody>
      </p:sp>
      <p:sp>
        <p:nvSpPr>
          <p:cNvPr id="37894" name="Freeform 7"/>
          <p:cNvSpPr>
            <a:spLocks noChangeArrowheads="1"/>
          </p:cNvSpPr>
          <p:nvPr/>
        </p:nvSpPr>
        <p:spPr bwMode="auto">
          <a:xfrm>
            <a:off x="3227070" y="5077301"/>
            <a:ext cx="2815352" cy="446405"/>
          </a:xfrm>
          <a:custGeom>
            <a:avLst/>
            <a:gdLst>
              <a:gd name="T0" fmla="*/ 77493 w 2681206"/>
              <a:gd name="T1" fmla="*/ 0 h 681926"/>
              <a:gd name="T2" fmla="*/ 108491 w 2681206"/>
              <a:gd name="T3" fmla="*/ 356826 h 681926"/>
              <a:gd name="T4" fmla="*/ 728442 w 2681206"/>
              <a:gd name="T5" fmla="*/ 139628 h 681926"/>
              <a:gd name="T6" fmla="*/ 619951 w 2681206"/>
              <a:gd name="T7" fmla="*/ 558511 h 681926"/>
              <a:gd name="T8" fmla="*/ 1611872 w 2681206"/>
              <a:gd name="T9" fmla="*/ 186171 h 681926"/>
              <a:gd name="T10" fmla="*/ 1441386 w 2681206"/>
              <a:gd name="T11" fmla="*/ 651596 h 681926"/>
              <a:gd name="T12" fmla="*/ 2681288 w 2681206"/>
              <a:gd name="T13" fmla="*/ 372341 h 6819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81206"/>
              <a:gd name="T22" fmla="*/ 0 h 681926"/>
              <a:gd name="T23" fmla="*/ 2681206 w 2681206"/>
              <a:gd name="T24" fmla="*/ 681926 h 68192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81206" h="681926">
                <a:moveTo>
                  <a:pt x="77491" y="0"/>
                </a:moveTo>
                <a:cubicBezTo>
                  <a:pt x="38745" y="166607"/>
                  <a:pt x="0" y="333214"/>
                  <a:pt x="108488" y="356461"/>
                </a:cubicBezTo>
                <a:cubicBezTo>
                  <a:pt x="216976" y="379708"/>
                  <a:pt x="643179" y="105905"/>
                  <a:pt x="728420" y="139485"/>
                </a:cubicBezTo>
                <a:cubicBezTo>
                  <a:pt x="813661" y="173065"/>
                  <a:pt x="472698" y="550190"/>
                  <a:pt x="619932" y="557939"/>
                </a:cubicBezTo>
                <a:cubicBezTo>
                  <a:pt x="767166" y="565688"/>
                  <a:pt x="1474921" y="170482"/>
                  <a:pt x="1611823" y="185980"/>
                </a:cubicBezTo>
                <a:cubicBezTo>
                  <a:pt x="1748725" y="201478"/>
                  <a:pt x="1263112" y="619932"/>
                  <a:pt x="1441342" y="650929"/>
                </a:cubicBezTo>
                <a:cubicBezTo>
                  <a:pt x="1619572" y="681926"/>
                  <a:pt x="2150389" y="526943"/>
                  <a:pt x="2681206" y="371960"/>
                </a:cubicBezTo>
              </a:path>
            </a:pathLst>
          </a:custGeom>
          <a:noFill/>
          <a:ln w="9525">
            <a:solidFill>
              <a:srgbClr val="3399FF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2310"/>
          </a:p>
        </p:txBody>
      </p:sp>
      <p:sp>
        <p:nvSpPr>
          <p:cNvPr id="37895" name="Freeform 8"/>
          <p:cNvSpPr>
            <a:spLocks noChangeArrowheads="1"/>
          </p:cNvSpPr>
          <p:nvPr/>
        </p:nvSpPr>
        <p:spPr bwMode="auto">
          <a:xfrm>
            <a:off x="2318624" y="3070384"/>
            <a:ext cx="416719" cy="446405"/>
          </a:xfrm>
          <a:custGeom>
            <a:avLst/>
            <a:gdLst>
              <a:gd name="T0" fmla="*/ 103084 w 397790"/>
              <a:gd name="T1" fmla="*/ 0 h 366793"/>
              <a:gd name="T2" fmla="*/ 25772 w 397790"/>
              <a:gd name="T3" fmla="*/ 124496 h 366793"/>
              <a:gd name="T4" fmla="*/ 257712 w 397790"/>
              <a:gd name="T5" fmla="*/ 171182 h 366793"/>
              <a:gd name="T6" fmla="*/ 87622 w 397790"/>
              <a:gd name="T7" fmla="*/ 342364 h 366793"/>
              <a:gd name="T8" fmla="*/ 396875 w 397790"/>
              <a:gd name="T9" fmla="*/ 326802 h 3667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97790"/>
              <a:gd name="T16" fmla="*/ 0 h 366793"/>
              <a:gd name="T17" fmla="*/ 397790 w 397790"/>
              <a:gd name="T18" fmla="*/ 366793 h 3667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97790" h="366793">
                <a:moveTo>
                  <a:pt x="103322" y="0"/>
                </a:moveTo>
                <a:cubicBezTo>
                  <a:pt x="51661" y="47786"/>
                  <a:pt x="0" y="95573"/>
                  <a:pt x="25831" y="123987"/>
                </a:cubicBezTo>
                <a:cubicBezTo>
                  <a:pt x="51662" y="152401"/>
                  <a:pt x="247974" y="134319"/>
                  <a:pt x="258306" y="170482"/>
                </a:cubicBezTo>
                <a:cubicBezTo>
                  <a:pt x="268638" y="206645"/>
                  <a:pt x="64577" y="315133"/>
                  <a:pt x="87824" y="340963"/>
                </a:cubicBezTo>
                <a:cubicBezTo>
                  <a:pt x="111071" y="366793"/>
                  <a:pt x="254430" y="346129"/>
                  <a:pt x="397790" y="325465"/>
                </a:cubicBezTo>
              </a:path>
            </a:pathLst>
          </a:custGeom>
          <a:noFill/>
          <a:ln w="9525">
            <a:solidFill>
              <a:srgbClr val="3399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2310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Example (cont.)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Example (cont.)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8914" name="Content Placeholder 2"/>
          <p:cNvSpPr>
            <a:spLocks noGrp="1"/>
          </p:cNvSpPr>
          <p:nvPr>
            <p:ph idx="1"/>
          </p:nvPr>
        </p:nvSpPr>
        <p:spPr>
          <a:xfrm>
            <a:off x="684530" y="1125855"/>
            <a:ext cx="11713845" cy="4264660"/>
          </a:xfrm>
        </p:spPr>
        <p:txBody>
          <a:bodyPr/>
          <a:lstStyle/>
          <a:p>
            <a:pPr algn="l"/>
            <a:r>
              <a:rPr lang="en-US" altLang="en-US" sz="3200" b="0"/>
              <a:t>After each core completes execution of the code, is a private variable </a:t>
            </a:r>
            <a:r>
              <a:rPr lang="en-US" altLang="en-US" sz="3200" b="0">
                <a:solidFill>
                  <a:srgbClr val="3399FF"/>
                </a:solidFill>
              </a:rPr>
              <a:t>my_sum</a:t>
            </a:r>
            <a:r>
              <a:rPr lang="en-US" altLang="en-US" sz="3200" b="0"/>
              <a:t> contains the sum of the values computed by its calls to </a:t>
            </a:r>
            <a:r>
              <a:rPr lang="en-US" altLang="en-US" sz="3200" b="0">
                <a:solidFill>
                  <a:srgbClr val="3399FF"/>
                </a:solidFill>
              </a:rPr>
              <a:t>Compute_next_value</a:t>
            </a:r>
            <a:r>
              <a:rPr lang="en-US" altLang="en-US" sz="3200" b="0"/>
              <a:t>.</a:t>
            </a:r>
          </a:p>
          <a:p>
            <a:pPr algn="l"/>
            <a:endParaRPr lang="en-US" altLang="en-US" sz="3200" b="0"/>
          </a:p>
          <a:p>
            <a:pPr algn="l"/>
            <a:r>
              <a:rPr lang="en-US" altLang="en-US" sz="3200" b="0"/>
              <a:t>Ex., 8 cores, n = 24, then the calls to </a:t>
            </a:r>
            <a:r>
              <a:rPr lang="en-US" altLang="en-US" sz="3200" b="0">
                <a:solidFill>
                  <a:srgbClr val="3399FF"/>
                </a:solidFill>
              </a:rPr>
              <a:t>Compute_next_value</a:t>
            </a:r>
            <a:r>
              <a:rPr lang="en-US" altLang="en-US" sz="3200" b="0"/>
              <a:t> return: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824730"/>
            <a:ext cx="96545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1,4,3,   9,2,8,    5,1,1,   5,2,7,   2,5,0,   4,1,8,   6,5,1,   2,3,9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Example (cont.)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9938" name="Content Placeholder 2"/>
          <p:cNvSpPr>
            <a:spLocks noGrp="1"/>
          </p:cNvSpPr>
          <p:nvPr>
            <p:ph idx="1"/>
          </p:nvPr>
        </p:nvSpPr>
        <p:spPr>
          <a:xfrm>
            <a:off x="684530" y="1125855"/>
            <a:ext cx="11148060" cy="2842895"/>
          </a:xfrm>
        </p:spPr>
        <p:txBody>
          <a:bodyPr/>
          <a:lstStyle/>
          <a:p>
            <a:r>
              <a:rPr lang="en-US" altLang="en-US" b="0"/>
              <a:t>Once all the cores are done computing their private </a:t>
            </a:r>
            <a:r>
              <a:rPr lang="en-US" altLang="en-US" b="0">
                <a:solidFill>
                  <a:srgbClr val="3399FF"/>
                </a:solidFill>
              </a:rPr>
              <a:t>my_sum</a:t>
            </a:r>
            <a:r>
              <a:rPr lang="en-US" altLang="en-US" b="0"/>
              <a:t>, they form a global sum by sending results to a designated </a:t>
            </a:r>
            <a:r>
              <a:rPr lang="ja-JP" altLang="en-US" b="0"/>
              <a:t>“</a:t>
            </a:r>
            <a:r>
              <a:rPr lang="en-US" altLang="ja-JP" b="0"/>
              <a:t>master</a:t>
            </a:r>
            <a:r>
              <a:rPr lang="ja-JP" altLang="en-US" b="0"/>
              <a:t>”</a:t>
            </a:r>
            <a:r>
              <a:rPr lang="en-US" altLang="ja-JP" b="0"/>
              <a:t> core which adds the final result.</a:t>
            </a:r>
            <a:endParaRPr lang="en-US" altLang="en-US" b="0"/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Example (cont.)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4096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170" y="1224280"/>
            <a:ext cx="8630285" cy="4304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Example (cont.)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92605" y="1513205"/>
          <a:ext cx="7908925" cy="1150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16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35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lang="en-US" sz="1800" dirty="0"/>
                        <a:t>Core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34" marR="91434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lang="en-US" sz="1800" dirty="0" err="1"/>
                        <a:t>my_sum</a:t>
                      </a:r>
                      <a:endParaRPr lang="en-US" sz="1800" dirty="0"/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L="91434" marR="91434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64360" y="3182620"/>
            <a:ext cx="7987030" cy="835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u="sng" dirty="0">
                <a:latin typeface="+mj-lt"/>
                <a:ea typeface="+mn-ea"/>
              </a:rPr>
              <a:t>Global sum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latin typeface="+mj-lt"/>
                <a:ea typeface="+mn-ea"/>
              </a:rPr>
              <a:t>8 + 19 + 7 + 15 + 7 + 13 + 12 + 14 = 95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92605" y="4681855"/>
          <a:ext cx="7908925" cy="1150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16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35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lang="en-US" sz="1800" dirty="0"/>
                        <a:t>Core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34" marR="91434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lang="en-US" sz="1800" dirty="0" err="1"/>
                        <a:t>my_sum</a:t>
                      </a:r>
                      <a:endParaRPr lang="en-US" sz="1800" dirty="0"/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95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L="91434" marR="91434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Example (cont.)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43011" name="TextBox 7"/>
          <p:cNvSpPr txBox="1">
            <a:spLocks noChangeArrowheads="1"/>
          </p:cNvSpPr>
          <p:nvPr/>
        </p:nvSpPr>
        <p:spPr bwMode="auto">
          <a:xfrm>
            <a:off x="784225" y="2376170"/>
            <a:ext cx="6264275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dirty="0">
                <a:latin typeface="Comic Sans MS" panose="030F0902030302020204" pitchFamily="66" charset="0"/>
              </a:rPr>
              <a:t>But wait!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dirty="0">
                <a:latin typeface="Comic Sans MS" panose="030F0902030302020204" pitchFamily="66" charset="0"/>
              </a:rPr>
              <a:t>There</a:t>
            </a:r>
            <a:r>
              <a:rPr lang="ja-JP" altLang="en-US">
                <a:latin typeface="Comic Sans MS" panose="030F0902030302020204" pitchFamily="66" charset="0"/>
              </a:rPr>
              <a:t>’</a:t>
            </a:r>
            <a:r>
              <a:rPr lang="en-US" altLang="ja-JP" dirty="0">
                <a:latin typeface="Comic Sans MS" panose="030F0902030302020204" pitchFamily="66" charset="0"/>
              </a:rPr>
              <a:t>s a much better way</a:t>
            </a:r>
            <a:br>
              <a:rPr lang="en-US" altLang="ja-JP" dirty="0">
                <a:latin typeface="Comic Sans MS" panose="030F0902030302020204" pitchFamily="66" charset="0"/>
              </a:rPr>
            </a:br>
            <a:r>
              <a:rPr lang="en-US" altLang="ja-JP" dirty="0">
                <a:latin typeface="Comic Sans MS" panose="030F0902030302020204" pitchFamily="66" charset="0"/>
              </a:rPr>
              <a:t>to compute the global sum.</a:t>
            </a:r>
            <a:endParaRPr lang="en-US" altLang="en-US" dirty="0">
              <a:latin typeface="Comic Sans MS" panose="030F0902030302020204" pitchFamily="66" charset="0"/>
            </a:endParaRPr>
          </a:p>
        </p:txBody>
      </p:sp>
      <p:pic>
        <p:nvPicPr>
          <p:cNvPr id="43010" name="Picture 6" descr="C:\Documents and Settings\liszka\Local Settings\Temporary Internet Files\Content.IE5\Q7HGDQRM\MP900442237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025" y="1656080"/>
            <a:ext cx="3535363" cy="465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Better parallel algorithm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44034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altLang="en-US"/>
              <a:t>Don’</a:t>
            </a:r>
            <a:r>
              <a:rPr lang="en-US" altLang="ja-JP" dirty="0"/>
              <a:t>t make the master core do all the work.</a:t>
            </a:r>
          </a:p>
          <a:p>
            <a:r>
              <a:rPr lang="en-US" altLang="en-US" dirty="0"/>
              <a:t>Share it among the other cores.</a:t>
            </a:r>
          </a:p>
          <a:p>
            <a:r>
              <a:rPr lang="en-US" altLang="en-US" dirty="0"/>
              <a:t>Pair the cores so that core 0 adds its result with </a:t>
            </a:r>
            <a:r>
              <a:rPr lang="en-US" altLang="en-US"/>
              <a:t>core 1’</a:t>
            </a:r>
            <a:r>
              <a:rPr lang="en-US" altLang="ja-JP" dirty="0"/>
              <a:t>s result.</a:t>
            </a:r>
          </a:p>
          <a:p>
            <a:r>
              <a:rPr lang="en-US" altLang="en-US" dirty="0"/>
              <a:t>Core 2 adds its result with </a:t>
            </a:r>
            <a:r>
              <a:rPr lang="en-US" altLang="en-US"/>
              <a:t>core 3’</a:t>
            </a:r>
            <a:r>
              <a:rPr lang="en-US" altLang="ja-JP" dirty="0"/>
              <a:t>s result, etc.</a:t>
            </a:r>
          </a:p>
          <a:p>
            <a:r>
              <a:rPr lang="en-US" altLang="en-US" dirty="0"/>
              <a:t>Work with odd and even numbered pairs of cores.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Better parallel algorithm (cont.)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450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Repeat the process now with only the evenly ranked cores.</a:t>
            </a:r>
          </a:p>
          <a:p>
            <a:r>
              <a:rPr lang="en-US" altLang="en-US" b="0" dirty="0"/>
              <a:t>Core 0 adds result from core 2.</a:t>
            </a:r>
          </a:p>
          <a:p>
            <a:r>
              <a:rPr lang="en-US" altLang="en-US" b="0" dirty="0"/>
              <a:t>Core 4 adds the result from core 6, etc.</a:t>
            </a:r>
          </a:p>
          <a:p>
            <a:endParaRPr lang="en-US" altLang="en-US" b="0" dirty="0"/>
          </a:p>
          <a:p>
            <a:r>
              <a:rPr lang="en-US" altLang="en-US" b="0" dirty="0"/>
              <a:t>Now cores divisible by 4 repeat the process, and so forth, until core 0 has the final result.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Multiple cores forming a global sum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4608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070" y="1008380"/>
            <a:ext cx="8416925" cy="5685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Analysis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47106" name="Content Placeholder 2"/>
          <p:cNvSpPr>
            <a:spLocks noGrp="1"/>
          </p:cNvSpPr>
          <p:nvPr>
            <p:ph idx="1"/>
          </p:nvPr>
        </p:nvSpPr>
        <p:spPr>
          <a:xfrm>
            <a:off x="539750" y="1125855"/>
            <a:ext cx="11417935" cy="5445125"/>
          </a:xfrm>
        </p:spPr>
        <p:txBody>
          <a:bodyPr/>
          <a:lstStyle/>
          <a:p>
            <a:r>
              <a:rPr lang="en-US" altLang="en-US" b="0"/>
              <a:t>In the first example, the master core performs 7 receives and 7 additions.</a:t>
            </a:r>
          </a:p>
          <a:p>
            <a:endParaRPr lang="en-US" altLang="en-US" b="0"/>
          </a:p>
          <a:p>
            <a:r>
              <a:rPr lang="en-US" altLang="en-US" b="0"/>
              <a:t>In the second example, the master core performs 3 receives and 3 additions.</a:t>
            </a:r>
          </a:p>
          <a:p>
            <a:endParaRPr lang="en-US" altLang="en-US" b="0"/>
          </a:p>
          <a:p>
            <a:r>
              <a:rPr lang="en-US" altLang="en-US" b="0"/>
              <a:t>The improvement is more than a factor of 2!</a:t>
            </a: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Analysis (cont.)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481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b="0" dirty="0"/>
              <a:t>The difference is more dramatic with a larger number of cores.</a:t>
            </a:r>
          </a:p>
          <a:p>
            <a:r>
              <a:rPr lang="en-US" altLang="en-US" sz="3200" b="0" dirty="0"/>
              <a:t>If we have 1000 cores:</a:t>
            </a:r>
          </a:p>
          <a:p>
            <a:pPr lvl="1"/>
            <a:r>
              <a:rPr lang="en-US" altLang="en-US" sz="2800" b="0" dirty="0"/>
              <a:t>The first example would require </a:t>
            </a:r>
            <a:r>
              <a:rPr lang="en-US" altLang="en-US" sz="2800" b="1" dirty="0"/>
              <a:t>the master </a:t>
            </a:r>
            <a:r>
              <a:rPr lang="en-US" altLang="en-US" sz="2800" b="0" dirty="0"/>
              <a:t>to perform 999 receives and 999 additions.</a:t>
            </a:r>
          </a:p>
          <a:p>
            <a:pPr lvl="1"/>
            <a:r>
              <a:rPr lang="en-US" altLang="en-US" sz="2800" b="0" dirty="0"/>
              <a:t>The second example would only require (the master) 10 receives and 10 additions.</a:t>
            </a:r>
            <a:br>
              <a:rPr lang="en-US" altLang="en-US" sz="2800" b="0" dirty="0"/>
            </a:br>
            <a:endParaRPr lang="en-US" altLang="en-US" sz="2800" b="0" dirty="0"/>
          </a:p>
          <a:p>
            <a:r>
              <a:rPr lang="en-US" altLang="en-US" sz="3200" b="0" dirty="0"/>
              <a:t>Tha</a:t>
            </a:r>
            <a:r>
              <a:rPr lang="en-US" altLang="zh-CN" sz="3200" b="0" dirty="0"/>
              <a:t>t’</a:t>
            </a:r>
            <a:r>
              <a:rPr lang="en-US" altLang="ja-JP" sz="3200" b="0" dirty="0"/>
              <a:t>s an improvement of almost a factor of 100!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How do we write parallel programs?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684530" y="1628775"/>
            <a:ext cx="11291570" cy="5033010"/>
          </a:xfrm>
        </p:spPr>
        <p:txBody>
          <a:bodyPr/>
          <a:lstStyle/>
          <a:p>
            <a:r>
              <a:rPr lang="en-US" altLang="en-US" b="0" dirty="0"/>
              <a:t>Task parallelism </a:t>
            </a:r>
          </a:p>
          <a:p>
            <a:pPr lvl="1"/>
            <a:r>
              <a:rPr lang="en-US" altLang="en-US" b="0" dirty="0"/>
              <a:t>Partition various tasks carried out solving the problem among the cores.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Data parallelism</a:t>
            </a:r>
          </a:p>
          <a:p>
            <a:pPr lvl="1"/>
            <a:r>
              <a:rPr lang="en-US" altLang="en-US" b="0" dirty="0"/>
              <a:t>Partition the data used in solving the problem among the cores.</a:t>
            </a:r>
          </a:p>
          <a:p>
            <a:pPr lvl="1"/>
            <a:r>
              <a:rPr lang="en-US" altLang="en-US" b="0" dirty="0"/>
              <a:t>Each core carries out similar operations </a:t>
            </a:r>
            <a:r>
              <a:rPr lang="en-US" altLang="en-US" b="0"/>
              <a:t>on it’</a:t>
            </a:r>
            <a:r>
              <a:rPr lang="en-US" altLang="ja-JP" b="0"/>
              <a:t>s </a:t>
            </a:r>
            <a:r>
              <a:rPr lang="en-US" altLang="ja-JP" b="0" dirty="0"/>
              <a:t>part of the data.</a:t>
            </a:r>
            <a:endParaRPr lang="en-US" altLang="en-US" b="0" dirty="0"/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Professor P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50179" name="Picture 2" descr="C:\Documents and Settings\liszka\Local Settings\Temporary Internet Files\Content.IE5\1G3WK4XC\MP90042259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780" y="1368108"/>
            <a:ext cx="3248025" cy="486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3" descr="C:\Documents and Settings\liszka\Local Settings\Temporary Internet Files\Content.IE5\Q7HGDQRM\MC900024275[1].wm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485" y="4031615"/>
            <a:ext cx="2463165" cy="1462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232785" y="2304415"/>
            <a:ext cx="3175000" cy="103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15 questions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300 exams</a:t>
            </a: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sym typeface="+mn-ea"/>
              </a:rPr>
              <a:t>Professor P</a:t>
            </a:r>
            <a:r>
              <a:rPr lang="en-US" altLang="zh-CN" dirty="0">
                <a:sym typeface="+mn-ea"/>
              </a:rPr>
              <a:t>’</a:t>
            </a:r>
            <a:r>
              <a:rPr lang="en-US" altLang="ja-JP" dirty="0">
                <a:sym typeface="+mn-ea"/>
              </a:rPr>
              <a:t>s grading assistants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51203" name="Picture 4" descr="C:\Documents and Settings\liszka\Local Settings\Temporary Internet Files\Content.IE5\1G3WK4XC\MP900439561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505" y="1152525"/>
            <a:ext cx="8323580" cy="5557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Division of work – data parallelism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52227" name="Picture 2" descr="C:\Documents and Settings\liszka\Local Settings\Temporary Internet Files\Content.IE5\Q7HGDQRM\MC900024275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215" y="2088515"/>
            <a:ext cx="2152650" cy="1276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00113" y="1989138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9090" y="5185410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36380" y="2664778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TA#3</a:t>
            </a:r>
          </a:p>
        </p:txBody>
      </p:sp>
      <p:pic>
        <p:nvPicPr>
          <p:cNvPr id="52231" name="Picture 2" descr="C:\Documents and Settings\liszka\Local Settings\Temporary Internet Files\Content.IE5\Q7HGDQRM\MC900024275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720" y="4176395"/>
            <a:ext cx="1947863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2" name="Picture 2" descr="C:\Documents and Settings\liszka\Local Settings\Temporary Internet Files\Content.IE5\Q7HGDQRM\MC900024275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825" y="1769745"/>
            <a:ext cx="2121535" cy="1258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187450" y="3429000"/>
            <a:ext cx="171640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100 exams</a:t>
            </a:r>
          </a:p>
        </p:txBody>
      </p:sp>
      <p:sp>
        <p:nvSpPr>
          <p:cNvPr id="2" name="TextBox 10"/>
          <p:cNvSpPr txBox="1"/>
          <p:nvPr/>
        </p:nvSpPr>
        <p:spPr>
          <a:xfrm>
            <a:off x="7048818" y="2952115"/>
            <a:ext cx="171640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100 exams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1165" y="5472748"/>
            <a:ext cx="171640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100 exams</a:t>
            </a: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Division of work – task parallelism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41893" y="2160588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20255" y="5328285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7605" y="2592388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9230" y="3600450"/>
            <a:ext cx="23463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Questions 1 - 5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6793" y="5688648"/>
            <a:ext cx="252666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Questions 6 - 10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8605" y="3168650"/>
            <a:ext cx="270700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  <a:ea typeface="+mn-ea"/>
              </a:rPr>
              <a:t>Questions 11 - 15</a:t>
            </a:r>
          </a:p>
        </p:txBody>
      </p:sp>
      <p:pic>
        <p:nvPicPr>
          <p:cNvPr id="53257" name="Picture 2" descr="C:\Documents and Settings\liszka\Local Settings\Temporary Internet Files\Content.IE5\1G3WK4XC\MC900310998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720" y="1955165"/>
            <a:ext cx="1442085" cy="1402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8" name="Picture 2" descr="C:\Documents and Settings\liszka\Local Settings\Temporary Internet Files\Content.IE5\1G3WK4XC\MC900310998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910" y="4320540"/>
            <a:ext cx="1403350" cy="1362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9" name="Picture 2" descr="C:\Documents and Settings\liszka\Local Settings\Temporary Internet Files\Content.IE5\1G3WK4XC\MC90031099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3280" y="1800225"/>
            <a:ext cx="1306513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D8D53F2-55C1-488D-93F5-7BCFFAFBB177}"/>
              </a:ext>
            </a:extLst>
          </p:cNvPr>
          <p:cNvSpPr txBox="1"/>
          <p:nvPr/>
        </p:nvSpPr>
        <p:spPr>
          <a:xfrm>
            <a:off x="9497144" y="4895328"/>
            <a:ext cx="18389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Pipeline?</a:t>
            </a: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640080" y="71519"/>
            <a:ext cx="10762906" cy="792000"/>
          </a:xfrm>
        </p:spPr>
        <p:txBody>
          <a:bodyPr/>
          <a:lstStyle/>
          <a:p>
            <a:pPr algn="ctr"/>
            <a:r>
              <a:rPr lang="en-US" altLang="en-US">
                <a:sym typeface="+mn-ea"/>
              </a:rPr>
              <a:t>Division of work – data parallelism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5427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060575"/>
            <a:ext cx="9147810" cy="2945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Division of work – task parallelism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5529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980" y="1584325"/>
            <a:ext cx="8087995" cy="4036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9956483" y="3888740"/>
            <a:ext cx="2066015" cy="2074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u="sng" dirty="0">
                <a:solidFill>
                  <a:srgbClr val="0066FF"/>
                </a:solidFill>
                <a:latin typeface="+mj-lt"/>
                <a:ea typeface="+mn-ea"/>
              </a:rPr>
              <a:t>Tasks</a:t>
            </a:r>
          </a:p>
          <a:p>
            <a:pPr marL="514350" indent="-5143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AutoNum type="arabicParenR"/>
              <a:defRPr/>
            </a:pPr>
            <a:r>
              <a:rPr lang="en-US" sz="2800" dirty="0">
                <a:solidFill>
                  <a:srgbClr val="0066FF"/>
                </a:solidFill>
                <a:latin typeface="+mj-lt"/>
                <a:ea typeface="+mn-ea"/>
              </a:rPr>
              <a:t>Receiving</a:t>
            </a:r>
          </a:p>
          <a:p>
            <a:pPr marL="514350" indent="-5143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AutoNum type="arabicParenR"/>
              <a:defRPr/>
            </a:pPr>
            <a:r>
              <a:rPr lang="en-US" sz="2800" dirty="0">
                <a:solidFill>
                  <a:srgbClr val="0066FF"/>
                </a:solidFill>
                <a:latin typeface="+mj-lt"/>
                <a:ea typeface="+mn-ea"/>
              </a:rPr>
              <a:t>Addition </a:t>
            </a:r>
          </a:p>
          <a:p>
            <a:pPr marL="514350" indent="-5143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AutoNum type="arabicParenR"/>
              <a:defRPr/>
            </a:pPr>
            <a:r>
              <a:rPr lang="en-US" sz="2800" dirty="0">
                <a:solidFill>
                  <a:srgbClr val="0066FF"/>
                </a:solidFill>
                <a:latin typeface="+mj-lt"/>
              </a:rPr>
              <a:t>Sending</a:t>
            </a:r>
            <a:endParaRPr lang="en-US" sz="2800" dirty="0">
              <a:solidFill>
                <a:srgbClr val="0066FF"/>
              </a:solidFill>
              <a:latin typeface="+mj-lt"/>
              <a:ea typeface="+mn-ea"/>
            </a:endParaRP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sym typeface="+mn-ea"/>
              </a:rPr>
              <a:t>Coordination and enhancement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395605" y="981075"/>
            <a:ext cx="11485880" cy="5487670"/>
          </a:xfrm>
        </p:spPr>
        <p:txBody>
          <a:bodyPr/>
          <a:lstStyle/>
          <a:p>
            <a:r>
              <a:rPr lang="en-US" altLang="en-US" b="0"/>
              <a:t>Cores usually need to coordinate their work.</a:t>
            </a:r>
          </a:p>
          <a:p>
            <a:r>
              <a:rPr lang="en-US" altLang="en-US" b="0">
                <a:solidFill>
                  <a:srgbClr val="3399FF"/>
                </a:solidFill>
              </a:rPr>
              <a:t>Communication</a:t>
            </a:r>
            <a:r>
              <a:rPr lang="en-US" altLang="en-US" b="0"/>
              <a:t> – one or more cores send their current partial sums to another core.</a:t>
            </a:r>
          </a:p>
          <a:p>
            <a:r>
              <a:rPr lang="en-US" altLang="en-US" b="0">
                <a:solidFill>
                  <a:srgbClr val="3399FF"/>
                </a:solidFill>
              </a:rPr>
              <a:t>Load balancing </a:t>
            </a:r>
            <a:r>
              <a:rPr lang="en-US" altLang="en-US" b="0"/>
              <a:t>– share the work evenly among the cores so that one is not heavily loaded.</a:t>
            </a:r>
          </a:p>
          <a:p>
            <a:r>
              <a:rPr lang="en-US" altLang="en-US" b="0">
                <a:solidFill>
                  <a:srgbClr val="3399FF"/>
                </a:solidFill>
              </a:rPr>
              <a:t>Synchronization</a:t>
            </a:r>
            <a:r>
              <a:rPr lang="en-US" altLang="en-US" b="0"/>
              <a:t> – because each core works at its own pace, make sure cores do not get too far ahead of the rest.</a:t>
            </a: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sym typeface="+mn-ea"/>
              </a:rPr>
              <a:t>What we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wi</a:t>
            </a:r>
            <a:r>
              <a:rPr lang="en-US" altLang="ja-JP" dirty="0">
                <a:sym typeface="+mn-ea"/>
              </a:rPr>
              <a:t>ll be doing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573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/>
              <a:t>Learning to write programs that are explicitly parallel.</a:t>
            </a:r>
          </a:p>
          <a:p>
            <a:r>
              <a:rPr lang="en-US" altLang="en-US" b="0"/>
              <a:t>Using the C language.</a:t>
            </a:r>
          </a:p>
          <a:p>
            <a:r>
              <a:rPr lang="en-US" altLang="en-US" b="0"/>
              <a:t>Using three different extensions to C.</a:t>
            </a:r>
          </a:p>
          <a:p>
            <a:pPr lvl="1"/>
            <a:r>
              <a:rPr lang="en-US" altLang="en-US" b="0"/>
              <a:t>Message-Passing Interface (MPI)</a:t>
            </a:r>
          </a:p>
          <a:p>
            <a:pPr lvl="1"/>
            <a:r>
              <a:rPr lang="en-US" altLang="en-US" b="0"/>
              <a:t>Posix Threads (Pthreads)</a:t>
            </a:r>
          </a:p>
          <a:p>
            <a:pPr lvl="1"/>
            <a:r>
              <a:rPr lang="en-US" altLang="en-US" b="0"/>
              <a:t>OpenMP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Type of parallel systems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583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Shared-memory</a:t>
            </a:r>
          </a:p>
          <a:p>
            <a:pPr lvl="1"/>
            <a:r>
              <a:rPr lang="en-US" altLang="en-US" b="0" dirty="0"/>
              <a:t>The cores can share access to the computer</a:t>
            </a:r>
            <a:r>
              <a:rPr lang="en-US" altLang="en-US" dirty="0"/>
              <a:t>’</a:t>
            </a:r>
            <a:r>
              <a:rPr lang="en-US" altLang="ja-JP" b="0" dirty="0"/>
              <a:t>s memory.</a:t>
            </a:r>
          </a:p>
          <a:p>
            <a:pPr lvl="1"/>
            <a:r>
              <a:rPr lang="en-US" altLang="en-US" b="0" dirty="0"/>
              <a:t>Coordinate the cores by having them examine and update shared memory locations.</a:t>
            </a:r>
          </a:p>
          <a:p>
            <a:r>
              <a:rPr lang="en-US" altLang="en-US" b="0" dirty="0"/>
              <a:t>Distributed-memory</a:t>
            </a:r>
          </a:p>
          <a:p>
            <a:pPr lvl="1"/>
            <a:r>
              <a:rPr lang="en-US" altLang="en-US" b="0" dirty="0"/>
              <a:t>Each core has its own, private memory.</a:t>
            </a:r>
          </a:p>
          <a:p>
            <a:pPr lvl="1"/>
            <a:r>
              <a:rPr lang="en-US" altLang="en-US" b="0" dirty="0"/>
              <a:t>The cores must communicate explicitly by sending messages across a network.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Type of parallel systems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5939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820" y="1152525"/>
            <a:ext cx="9083675" cy="5297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Terminology 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604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b="0" dirty="0">
                <a:solidFill>
                  <a:srgbClr val="0066FF"/>
                </a:solidFill>
              </a:rPr>
              <a:t>Concurrent computing </a:t>
            </a:r>
            <a:r>
              <a:rPr lang="en-US" altLang="en-US" sz="3200" b="0" dirty="0"/>
              <a:t>– a program is one in which multiple tasks can be </a:t>
            </a:r>
            <a:r>
              <a:rPr lang="en-US" altLang="en-US" sz="3200" b="0" u="sng" dirty="0"/>
              <a:t>in progress </a:t>
            </a:r>
            <a:r>
              <a:rPr lang="en-US" altLang="en-US" sz="3200" b="0" dirty="0"/>
              <a:t>at any instant.</a:t>
            </a:r>
          </a:p>
          <a:p>
            <a:pPr lvl="1"/>
            <a:r>
              <a:rPr lang="en-US" altLang="en-US" sz="2800" b="0" dirty="0"/>
              <a:t>E.g. E-business website</a:t>
            </a:r>
          </a:p>
          <a:p>
            <a:r>
              <a:rPr lang="en-US" altLang="en-US" sz="3200" b="0" dirty="0">
                <a:solidFill>
                  <a:srgbClr val="0066FF"/>
                </a:solidFill>
              </a:rPr>
              <a:t>Parallel computing </a:t>
            </a:r>
            <a:r>
              <a:rPr lang="en-US" altLang="en-US" sz="3200" b="0" dirty="0"/>
              <a:t>– a program is one in which multiple tasks </a:t>
            </a:r>
            <a:r>
              <a:rPr lang="en-US" altLang="en-US" sz="3200" b="0" u="sng" dirty="0"/>
              <a:t>cooperate closely </a:t>
            </a:r>
            <a:r>
              <a:rPr lang="en-US" altLang="en-US" sz="3200" b="0" dirty="0"/>
              <a:t>to solve a problem</a:t>
            </a:r>
          </a:p>
          <a:p>
            <a:pPr lvl="1"/>
            <a:r>
              <a:rPr lang="en-US" altLang="en-US" sz="2800" b="0" dirty="0"/>
              <a:t>Parallel matrix multiplication solver</a:t>
            </a:r>
          </a:p>
          <a:p>
            <a:r>
              <a:rPr lang="en-US" altLang="en-US" sz="3200" b="0" dirty="0">
                <a:solidFill>
                  <a:srgbClr val="0066FF"/>
                </a:solidFill>
              </a:rPr>
              <a:t>Distributed computing </a:t>
            </a:r>
            <a:r>
              <a:rPr lang="en-US" altLang="en-US" sz="3200" b="0" dirty="0"/>
              <a:t>– a program may need to cooperate with other programs to solve a problem.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Concluding Remarks (1)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614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/>
              <a:t>The laws of physics have brought us to the doorstep of multicore technology.</a:t>
            </a:r>
          </a:p>
          <a:p>
            <a:r>
              <a:rPr lang="en-US" altLang="en-US" b="0"/>
              <a:t>Serial programs typically don</a:t>
            </a:r>
            <a:r>
              <a:rPr lang="ja-JP" altLang="en-US" b="0"/>
              <a:t>’</a:t>
            </a:r>
            <a:r>
              <a:rPr lang="en-US" altLang="ja-JP" b="0"/>
              <a:t>t benefit from multiple cores.</a:t>
            </a:r>
          </a:p>
          <a:p>
            <a:r>
              <a:rPr lang="en-US" altLang="en-US" b="0"/>
              <a:t>Automatic parallel program generation from serial program code isn</a:t>
            </a:r>
            <a:r>
              <a:rPr lang="ja-JP" altLang="en-US" b="0"/>
              <a:t>’</a:t>
            </a:r>
            <a:r>
              <a:rPr lang="en-US" altLang="ja-JP" b="0"/>
              <a:t>t the most efficient approach to get high performance from multicore computers.</a:t>
            </a:r>
            <a:endParaRPr lang="en-US" altLang="en-US" b="0"/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Concluding Remarks (2)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624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/>
              <a:t>Learning to write parallel programs involves learning how to coordinate the cores.</a:t>
            </a:r>
          </a:p>
          <a:p>
            <a:r>
              <a:rPr lang="en-US" altLang="en-US" b="0"/>
              <a:t>Parallel programs are usually very complex and therefore, require sound program techniques and development.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062.5007874015746,&quot;width&quot;:9512.50078740157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fbb7d7a-e8ad-44ef-82fe-4a080d68a000}"/>
</p:tagLst>
</file>

<file path=ppt/theme/theme1.xml><?xml version="1.0" encoding="utf-8"?>
<a:theme xmlns:a="http://schemas.openxmlformats.org/drawingml/2006/main" name="教育部工程研究中心项目汇报-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教育部工程研究中心项目汇报-改</Template>
  <TotalTime>210</TotalTime>
  <Words>2184</Words>
  <Application>Microsoft Office PowerPoint</Application>
  <PresentationFormat>自定义</PresentationFormat>
  <Paragraphs>329</Paragraphs>
  <Slides>43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MS PGothic</vt:lpstr>
      <vt:lpstr>宋体</vt:lpstr>
      <vt:lpstr>微软雅黑</vt:lpstr>
      <vt:lpstr>等线</vt:lpstr>
      <vt:lpstr>Arial</vt:lpstr>
      <vt:lpstr>Calibri</vt:lpstr>
      <vt:lpstr>Calibri Light</vt:lpstr>
      <vt:lpstr>Comic Sans MS</vt:lpstr>
      <vt:lpstr>Wingdings</vt:lpstr>
      <vt:lpstr>教育部工程研究中心项目汇报-改</vt:lpstr>
      <vt:lpstr>PowerPoint 演示文稿</vt:lpstr>
      <vt:lpstr>Roadmap</vt:lpstr>
      <vt:lpstr>Changing times</vt:lpstr>
      <vt:lpstr>An intelligent solution</vt:lpstr>
      <vt:lpstr>Now it’s up to the programmers</vt:lpstr>
      <vt:lpstr>Why we need ever-increasing performance</vt:lpstr>
      <vt:lpstr>Climate modeling</vt:lpstr>
      <vt:lpstr>Protein folding</vt:lpstr>
      <vt:lpstr>Drug discovery</vt:lpstr>
      <vt:lpstr>Energy research</vt:lpstr>
      <vt:lpstr>Data analysis</vt:lpstr>
      <vt:lpstr>Why we’re building parallel systems</vt:lpstr>
      <vt:lpstr>A little physics lesson</vt:lpstr>
      <vt:lpstr>Solution </vt:lpstr>
      <vt:lpstr>Why we need to write parallel programs</vt:lpstr>
      <vt:lpstr>Approaches to the serial problem</vt:lpstr>
      <vt:lpstr>More problems</vt:lpstr>
      <vt:lpstr>Example</vt:lpstr>
      <vt:lpstr>Example (cont.)</vt:lpstr>
      <vt:lpstr>Example (cont.)</vt:lpstr>
      <vt:lpstr>Example (cont.)</vt:lpstr>
      <vt:lpstr>Example (cont.)</vt:lpstr>
      <vt:lpstr>Example (cont.)</vt:lpstr>
      <vt:lpstr>Example (cont.)</vt:lpstr>
      <vt:lpstr>Better parallel algorithm</vt:lpstr>
      <vt:lpstr>Better parallel algorithm (cont.)</vt:lpstr>
      <vt:lpstr>Multiple cores forming a global sum</vt:lpstr>
      <vt:lpstr>Analysis</vt:lpstr>
      <vt:lpstr>Analysis (cont.)</vt:lpstr>
      <vt:lpstr>How do we write parallel programs?</vt:lpstr>
      <vt:lpstr>Professor P</vt:lpstr>
      <vt:lpstr>Professor P’s grading assistants</vt:lpstr>
      <vt:lpstr>Division of work – data parallelism</vt:lpstr>
      <vt:lpstr>Division of work – task parallelism</vt:lpstr>
      <vt:lpstr>Division of work – data parallelism</vt:lpstr>
      <vt:lpstr>Division of work – task parallelism</vt:lpstr>
      <vt:lpstr>Coordination and enhancement</vt:lpstr>
      <vt:lpstr>What we will be doing</vt:lpstr>
      <vt:lpstr>Type of parallel systems</vt:lpstr>
      <vt:lpstr>Type of parallel systems</vt:lpstr>
      <vt:lpstr>Terminology </vt:lpstr>
      <vt:lpstr>Concluding Remarks (1)</vt:lpstr>
      <vt:lpstr>Concluding Remarks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HuangDan</cp:lastModifiedBy>
  <cp:revision>2602</cp:revision>
  <dcterms:created xsi:type="dcterms:W3CDTF">2016-05-19T09:43:00Z</dcterms:created>
  <dcterms:modified xsi:type="dcterms:W3CDTF">2026-03-05T05:10:28Z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B9EA0971408F4A94A57BE94789587C85</vt:lpwstr>
  </property>
</Properties>
</file>