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71" r:id="rId15"/>
    <p:sldId id="272" r:id="rId16"/>
    <p:sldId id="274"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2" r:id="rId33"/>
    <p:sldId id="294" r:id="rId34"/>
    <p:sldId id="295" r:id="rId35"/>
    <p:sldId id="296" r:id="rId36"/>
    <p:sldId id="297" r:id="rId37"/>
    <p:sldId id="298" r:id="rId38"/>
    <p:sldId id="299" r:id="rId39"/>
    <p:sldId id="300" r:id="rId40"/>
    <p:sldId id="301" r:id="rId41"/>
    <p:sldId id="302" r:id="rId42"/>
    <p:sldId id="303" r:id="rId43"/>
    <p:sldId id="304" r:id="rId44"/>
    <p:sldId id="306" r:id="rId45"/>
    <p:sldId id="308" r:id="rId46"/>
    <p:sldId id="309" r:id="rId47"/>
    <p:sldId id="310" r:id="rId48"/>
    <p:sldId id="311" r:id="rId49"/>
    <p:sldId id="312" r:id="rId50"/>
    <p:sldId id="314" r:id="rId51"/>
    <p:sldId id="313" r:id="rId52"/>
    <p:sldId id="315" r:id="rId53"/>
    <p:sldId id="316" r:id="rId54"/>
    <p:sldId id="318" r:id="rId55"/>
    <p:sldId id="320" r:id="rId56"/>
    <p:sldId id="321" r:id="rId57"/>
    <p:sldId id="324"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uyuan DENG" initials="XD" lastIdx="1" clrIdx="0"/>
  <p:cmAuthor id="2" name="Betty Mo" initials="BM"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2"/>
  </p:normalViewPr>
  <p:slideViewPr>
    <p:cSldViewPr snapToGrid="0">
      <p:cViewPr varScale="1">
        <p:scale>
          <a:sx n="103" d="100"/>
          <a:sy n="103" d="100"/>
        </p:scale>
        <p:origin x="1854" y="96"/>
      </p:cViewPr>
      <p:guideLst/>
    </p:cSldViewPr>
  </p:slideViewPr>
  <p:notesTextViewPr>
    <p:cViewPr>
      <p:scale>
        <a:sx n="1" d="1"/>
        <a:sy n="1" d="1"/>
      </p:scale>
      <p:origin x="0" y="0"/>
    </p:cViewPr>
  </p:notesTextViewPr>
  <p:notesViewPr>
    <p:cSldViewPr snapToGrid="0">
      <p:cViewPr varScale="1">
        <p:scale>
          <a:sx n="87" d="100"/>
          <a:sy n="87" d="100"/>
        </p:scale>
        <p:origin x="3840"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黄聃" userId="05fd6555-67a9-4797-980c-de46b7ca3e6c" providerId="ADAL" clId="{E22D7F71-13BB-204E-A170-7162347612F6}"/>
    <pc:docChg chg="custSel modSld">
      <pc:chgData name="黄聃" userId="05fd6555-67a9-4797-980c-de46b7ca3e6c" providerId="ADAL" clId="{E22D7F71-13BB-204E-A170-7162347612F6}" dt="2023-10-29T13:31:55.097" v="62" actId="20577"/>
      <pc:docMkLst>
        <pc:docMk/>
      </pc:docMkLst>
      <pc:sldChg chg="modSp mod">
        <pc:chgData name="黄聃" userId="05fd6555-67a9-4797-980c-de46b7ca3e6c" providerId="ADAL" clId="{E22D7F71-13BB-204E-A170-7162347612F6}" dt="2023-10-29T12:34:17.135" v="35" actId="207"/>
        <pc:sldMkLst>
          <pc:docMk/>
          <pc:sldMk cId="0" sldId="265"/>
        </pc:sldMkLst>
        <pc:spChg chg="mod">
          <ac:chgData name="黄聃" userId="05fd6555-67a9-4797-980c-de46b7ca3e6c" providerId="ADAL" clId="{E22D7F71-13BB-204E-A170-7162347612F6}" dt="2023-10-29T12:34:07.254" v="33" actId="207"/>
          <ac:spMkLst>
            <pc:docMk/>
            <pc:sldMk cId="0" sldId="265"/>
            <ac:spMk id="5" creationId="{00000000-0000-0000-0000-000000000000}"/>
          </ac:spMkLst>
        </pc:spChg>
        <pc:spChg chg="mod">
          <ac:chgData name="黄聃" userId="05fd6555-67a9-4797-980c-de46b7ca3e6c" providerId="ADAL" clId="{E22D7F71-13BB-204E-A170-7162347612F6}" dt="2023-10-29T12:34:17.135" v="35" actId="207"/>
          <ac:spMkLst>
            <pc:docMk/>
            <pc:sldMk cId="0" sldId="265"/>
            <ac:spMk id="6" creationId="{00000000-0000-0000-0000-000000000000}"/>
          </ac:spMkLst>
        </pc:spChg>
      </pc:sldChg>
      <pc:sldChg chg="delSp modSp mod">
        <pc:chgData name="黄聃" userId="05fd6555-67a9-4797-980c-de46b7ca3e6c" providerId="ADAL" clId="{E22D7F71-13BB-204E-A170-7162347612F6}" dt="2023-10-29T13:07:28.458" v="57" actId="478"/>
        <pc:sldMkLst>
          <pc:docMk/>
          <pc:sldMk cId="0" sldId="266"/>
        </pc:sldMkLst>
        <pc:spChg chg="mod">
          <ac:chgData name="黄聃" userId="05fd6555-67a9-4797-980c-de46b7ca3e6c" providerId="ADAL" clId="{E22D7F71-13BB-204E-A170-7162347612F6}" dt="2023-10-29T13:06:37.635" v="53" actId="1037"/>
          <ac:spMkLst>
            <pc:docMk/>
            <pc:sldMk cId="0" sldId="266"/>
            <ac:spMk id="7" creationId="{00000000-0000-0000-0000-000000000000}"/>
          </ac:spMkLst>
        </pc:spChg>
        <pc:spChg chg="mod">
          <ac:chgData name="黄聃" userId="05fd6555-67a9-4797-980c-de46b7ca3e6c" providerId="ADAL" clId="{E22D7F71-13BB-204E-A170-7162347612F6}" dt="2023-10-29T13:07:22.308" v="54" actId="20577"/>
          <ac:spMkLst>
            <pc:docMk/>
            <pc:sldMk cId="0" sldId="266"/>
            <ac:spMk id="27" creationId="{00000000-0000-0000-0000-000000000000}"/>
          </ac:spMkLst>
        </pc:spChg>
        <pc:spChg chg="del">
          <ac:chgData name="黄聃" userId="05fd6555-67a9-4797-980c-de46b7ca3e6c" providerId="ADAL" clId="{E22D7F71-13BB-204E-A170-7162347612F6}" dt="2023-10-29T13:07:26.723" v="56" actId="478"/>
          <ac:spMkLst>
            <pc:docMk/>
            <pc:sldMk cId="0" sldId="266"/>
            <ac:spMk id="28" creationId="{00000000-0000-0000-0000-000000000000}"/>
          </ac:spMkLst>
        </pc:spChg>
        <pc:spChg chg="del">
          <ac:chgData name="黄聃" userId="05fd6555-67a9-4797-980c-de46b7ca3e6c" providerId="ADAL" clId="{E22D7F71-13BB-204E-A170-7162347612F6}" dt="2023-10-29T13:07:24.909" v="55" actId="478"/>
          <ac:spMkLst>
            <pc:docMk/>
            <pc:sldMk cId="0" sldId="266"/>
            <ac:spMk id="29" creationId="{00000000-0000-0000-0000-000000000000}"/>
          </ac:spMkLst>
        </pc:spChg>
        <pc:spChg chg="del">
          <ac:chgData name="黄聃" userId="05fd6555-67a9-4797-980c-de46b7ca3e6c" providerId="ADAL" clId="{E22D7F71-13BB-204E-A170-7162347612F6}" dt="2023-10-29T13:07:28.458" v="57" actId="478"/>
          <ac:spMkLst>
            <pc:docMk/>
            <pc:sldMk cId="0" sldId="266"/>
            <ac:spMk id="31" creationId="{00000000-0000-0000-0000-000000000000}"/>
          </ac:spMkLst>
        </pc:spChg>
        <pc:spChg chg="mod">
          <ac:chgData name="黄聃" userId="05fd6555-67a9-4797-980c-de46b7ca3e6c" providerId="ADAL" clId="{E22D7F71-13BB-204E-A170-7162347612F6}" dt="2023-10-29T12:35:25.612" v="37" actId="20577"/>
          <ac:spMkLst>
            <pc:docMk/>
            <pc:sldMk cId="0" sldId="266"/>
            <ac:spMk id="39" creationId="{00000000-0000-0000-0000-000000000000}"/>
          </ac:spMkLst>
        </pc:spChg>
      </pc:sldChg>
      <pc:sldChg chg="modSp mod">
        <pc:chgData name="黄聃" userId="05fd6555-67a9-4797-980c-de46b7ca3e6c" providerId="ADAL" clId="{E22D7F71-13BB-204E-A170-7162347612F6}" dt="2023-10-29T13:31:55.097" v="62" actId="20577"/>
        <pc:sldMkLst>
          <pc:docMk/>
          <pc:sldMk cId="0" sldId="294"/>
        </pc:sldMkLst>
        <pc:spChg chg="mod">
          <ac:chgData name="黄聃" userId="05fd6555-67a9-4797-980c-de46b7ca3e6c" providerId="ADAL" clId="{E22D7F71-13BB-204E-A170-7162347612F6}" dt="2023-10-29T13:31:55.097" v="62" actId="20577"/>
          <ac:spMkLst>
            <pc:docMk/>
            <pc:sldMk cId="0" sldId="29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05329-6B42-4FD2-8738-D9586E9FC4D5}" type="datetimeFigureOut">
              <a:rPr lang="en-US" smtClean="0"/>
              <a:t>2025/04/09</a:t>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80DC9-D634-4BAB-8AC5-A97A19483B8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lnSpc>
        <a:spcPct val="150000"/>
      </a:lnSpc>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30"/>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7F68671A-1028-4918-B52D-F225EDA688D1}"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1" y="136520"/>
            <a:ext cx="8023806" cy="548358"/>
          </a:xfrm>
          <a:prstGeom prst="rect">
            <a:avLst/>
          </a:prstGeom>
        </p:spPr>
        <p:txBody>
          <a:bodyPr/>
          <a:lstStyle>
            <a:lvl1pPr>
              <a:defRPr baseline="0">
                <a:latin typeface="Calibri" panose="020F0502020204030204" pitchFamily="34" charset="0"/>
              </a:defRPr>
            </a:lvl1pPr>
          </a:lstStyle>
          <a:p>
            <a:r>
              <a:rPr lang="zh-CN" altLang="en-US" dirty="0"/>
              <a:t>单击此处编辑母版标题样式</a:t>
            </a:r>
          </a:p>
        </p:txBody>
      </p:sp>
      <p:sp>
        <p:nvSpPr>
          <p:cNvPr id="3" name="内容占位符 2"/>
          <p:cNvSpPr>
            <a:spLocks noGrp="1"/>
          </p:cNvSpPr>
          <p:nvPr>
            <p:ph idx="1"/>
          </p:nvPr>
        </p:nvSpPr>
        <p:spPr>
          <a:xfrm>
            <a:off x="457200" y="1028733"/>
            <a:ext cx="8229600" cy="4525963"/>
          </a:xfrm>
          <a:prstGeom prst="rect">
            <a:avLst/>
          </a:prstGeom>
        </p:spPr>
        <p:txBody>
          <a:bodyPr/>
          <a:lstStyle>
            <a:lvl1pPr>
              <a:defRPr baseline="0">
                <a:latin typeface="Calibri" panose="020F0502020204030204" pitchFamily="34" charset="0"/>
                <a:cs typeface="Calibri" panose="020F0502020204030204" pitchFamily="34" charset="0"/>
              </a:defRPr>
            </a:lvl1pPr>
            <a:lvl2pPr marL="979805" indent="-435610">
              <a:buFont typeface="Arial" panose="020B0604020202020204" pitchFamily="34" charset="0"/>
              <a:buChar char="»"/>
              <a:defRPr baseline="0">
                <a:latin typeface="Calibri" panose="020F0502020204030204" pitchFamily="34" charset="0"/>
                <a:cs typeface="Calibri" panose="020F0502020204030204" pitchFamily="34" charset="0"/>
              </a:defRPr>
            </a:lvl2pPr>
            <a:lvl3pPr>
              <a:defRPr baseline="0">
                <a:latin typeface="Calibri" panose="020F0502020204030204" pitchFamily="34" charset="0"/>
                <a:cs typeface="Calibri" panose="020F0502020204030204" pitchFamily="34" charset="0"/>
              </a:defRPr>
            </a:lvl3pPr>
            <a:lvl4pPr>
              <a:defRPr baseline="0">
                <a:latin typeface="Calibri" panose="020F0502020204030204" pitchFamily="34" charset="0"/>
                <a:cs typeface="Calibri" panose="020F0502020204030204" pitchFamily="34" charset="0"/>
              </a:defRPr>
            </a:lvl4pPr>
            <a:lvl5pPr>
              <a:defRPr baseline="0">
                <a:latin typeface="Calibri" panose="020F0502020204030204" pitchFamily="34" charset="0"/>
                <a:cs typeface="Calibri" panose="020F050202020403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CA40A734-EF3B-425E-9970-80954DDB0807}"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6"/>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4"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91F44B76-BDB5-48DA-9429-18FB768FED70}"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6"/>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1" y="1600206"/>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89D35798-1DC4-447E-97F5-D240AF3B9805}"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9"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9"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8"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1FFB9FFA-BBF7-4E6B-ACD4-E99548C5776B}"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4"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FA78C75F-3921-4200-A546-C4950D0184B6}"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3"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47694E68-0D6D-410C-8C00-3741D352D069}"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3" y="273055"/>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435104"/>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875CE17F-E7E8-4836-8B19-28E882EF05B9}"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9"/>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530D8648-5A27-46B1-9DFF-F43427A188ED}"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6"/>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B6AFD8D9-97CE-47AB-99B6-669B4E33450F}"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4"/>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44"/>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14D234CD-C4BF-451E-A810-76886530BD7F}"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2025/4/9</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lum/>
          </a:blip>
          <a:srcRect/>
          <a:stretch>
            <a:fillRect/>
          </a:stretch>
        </a:blip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1280206" y="184319"/>
            <a:ext cx="7096231" cy="547830"/>
          </a:xfrm>
          <a:prstGeom prst="rect">
            <a:avLst/>
          </a:prstGeom>
          <a:noFill/>
          <a:ln w="9525">
            <a:noFill/>
          </a:ln>
        </p:spPr>
        <p:txBody>
          <a:bodyPr lIns="114181" tIns="57091" rIns="114181" bIns="57091" anchor="ctr"/>
          <a:lstStyle/>
          <a:p>
            <a:pPr lvl="0"/>
            <a:r>
              <a:rPr lang="zh-CN" altLang="en-US" dirty="0"/>
              <a:t>单击此处编辑母版标题样式</a:t>
            </a:r>
          </a:p>
        </p:txBody>
      </p:sp>
      <p:sp>
        <p:nvSpPr>
          <p:cNvPr id="8" name="文本占位符 2"/>
          <p:cNvSpPr>
            <a:spLocks noGrp="1"/>
          </p:cNvSpPr>
          <p:nvPr>
            <p:ph type="body" idx="1"/>
          </p:nvPr>
        </p:nvSpPr>
        <p:spPr>
          <a:xfrm>
            <a:off x="458107" y="1097312"/>
            <a:ext cx="8227786" cy="4550868"/>
          </a:xfrm>
          <a:prstGeom prst="rect">
            <a:avLst/>
          </a:prstGeom>
          <a:noFill/>
          <a:ln w="9525">
            <a:noFill/>
          </a:ln>
        </p:spPr>
        <p:txBody>
          <a:bodyPr lIns="114181" tIns="57091" rIns="114181" bIns="57091"/>
          <a:lstStyle/>
          <a:p>
            <a:pPr lvl="0"/>
            <a:r>
              <a:rPr lang="zh-CN" altLang="en-US" dirty="0"/>
              <a:t>单击此处编辑母版文本样式</a:t>
            </a:r>
          </a:p>
          <a:p>
            <a:pPr marL="925830" lvl="1" indent="-354330" algn="l" defTabSz="1139825" rtl="0" eaLnBrk="1" fontAlgn="base" hangingPunct="1">
              <a:spcBef>
                <a:spcPct val="20000"/>
              </a:spcBef>
              <a:spcAft>
                <a:spcPct val="0"/>
              </a:spcAft>
              <a:buFont typeface="Arial" panose="020B0604020202020204" pitchFamily="34" charset="0"/>
              <a:buChar char="»"/>
            </a:pPr>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458107" y="6356048"/>
            <a:ext cx="2132920" cy="365881"/>
          </a:xfrm>
          <a:prstGeom prst="rect">
            <a:avLst/>
          </a:prstGeom>
        </p:spPr>
        <p:txBody>
          <a:bodyPr vert="horz" wrap="square" lIns="114181" tIns="57091" rIns="114181" bIns="57091" numCol="1" anchor="ctr" anchorCtr="0" compatLnSpc="1"/>
          <a:lstStyle>
            <a:lvl1pPr eaLnBrk="1" hangingPunct="1">
              <a:defRPr sz="1430">
                <a:solidFill>
                  <a:srgbClr val="898989"/>
                </a:solidFill>
              </a:defRPr>
            </a:lvl1p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2025/4/9</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3974" y="6356048"/>
            <a:ext cx="2896054" cy="365881"/>
          </a:xfrm>
          <a:prstGeom prst="rect">
            <a:avLst/>
          </a:prstGeom>
        </p:spPr>
        <p:txBody>
          <a:bodyPr vert="horz" lIns="114181" tIns="57091" rIns="114181" bIns="57091" rtlCol="0" anchor="ctr"/>
          <a:lstStyle>
            <a:lvl1pPr algn="ctr" defTabSz="1141730" eaLnBrk="1" fontAlgn="auto" hangingPunct="1">
              <a:spcBef>
                <a:spcPts val="0"/>
              </a:spcBef>
              <a:spcAft>
                <a:spcPts val="0"/>
              </a:spcAft>
              <a:defRPr sz="1430">
                <a:solidFill>
                  <a:schemeClr val="tx1">
                    <a:tint val="75000"/>
                  </a:schemeClr>
                </a:solidFill>
                <a:latin typeface="+mn-lt"/>
                <a:ea typeface="+mn-ea"/>
                <a:cs typeface="+mn-cs"/>
              </a:defRPr>
            </a:lvl1p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6783674" y="6344659"/>
            <a:ext cx="2132920" cy="365881"/>
          </a:xfrm>
          <a:prstGeom prst="rect">
            <a:avLst/>
          </a:prstGeom>
        </p:spPr>
        <p:txBody>
          <a:bodyPr vert="horz" wrap="square" lIns="114181" tIns="57091" rIns="114181" bIns="57091" numCol="1" anchor="ctr" anchorCtr="0" compatLnSpc="1"/>
          <a:lstStyle>
            <a:lvl1pPr algn="r" eaLnBrk="1" hangingPunct="1">
              <a:defRPr sz="1430">
                <a:solidFill>
                  <a:srgbClr val="898989"/>
                </a:solidFill>
              </a:defRPr>
            </a:lvl1p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2" name="图片 5"/>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282305" y="0"/>
            <a:ext cx="92519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kumimoji="1" lang="zh-CN" altLang="en-US" sz="3810" b="1" kern="1200" baseline="0" dirty="0">
          <a:solidFill>
            <a:schemeClr val="tx1"/>
          </a:solidFill>
          <a:latin typeface="Calibri" panose="020F0502020204030204" pitchFamily="34" charset="0"/>
          <a:ea typeface="微软雅黑" panose="020B0503020204020204" pitchFamily="34" charset="-122"/>
          <a:cs typeface="+mj-cs"/>
        </a:defRPr>
      </a:lvl1pPr>
      <a:lvl2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5pPr>
      <a:lvl6pPr marL="48006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6pPr>
      <a:lvl7pPr marL="96012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7pPr>
      <a:lvl8pPr marL="144018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8pPr>
      <a:lvl9pPr marL="192024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19000"/>
        </a:spcBef>
        <a:spcAft>
          <a:spcPct val="0"/>
        </a:spcAft>
        <a:buFont typeface="Arial" panose="020B0604020202020204" pitchFamily="34" charset="0"/>
        <a:buChar char="»"/>
        <a:defRPr kumimoji="1" lang="zh-CN" altLang="en-US" sz="3430" b="1" kern="1200" dirty="0">
          <a:solidFill>
            <a:srgbClr val="0070C0"/>
          </a:solidFill>
          <a:latin typeface="Calibri" panose="020F0502020204030204" pitchFamily="34" charset="0"/>
          <a:ea typeface="微软雅黑" panose="020B0503020204020204" pitchFamily="34" charset="-122"/>
          <a:cs typeface="Calibri" panose="020F0502020204030204" pitchFamily="34" charset="0"/>
        </a:defRPr>
      </a:lvl1pPr>
      <a:lvl2pPr marL="979805" indent="-435610" algn="l" rtl="0" eaLnBrk="0" fontAlgn="base" hangingPunct="0">
        <a:spcBef>
          <a:spcPct val="19000"/>
        </a:spcBef>
        <a:spcAft>
          <a:spcPct val="0"/>
        </a:spcAft>
        <a:buFont typeface="Arial" panose="020B0604020202020204" pitchFamily="34" charset="0"/>
        <a:buChar char="–"/>
        <a:defRPr kumimoji="1" lang="zh-CN" altLang="en-US" sz="3050" b="1" kern="1200" dirty="0">
          <a:solidFill>
            <a:schemeClr val="tx1"/>
          </a:solidFill>
          <a:latin typeface="Calibri" panose="020F0502020204030204" pitchFamily="34" charset="0"/>
          <a:ea typeface="微软雅黑" panose="020B0503020204020204" pitchFamily="34" charset="-122"/>
          <a:cs typeface="Calibri" panose="020F0502020204030204" pitchFamily="34" charset="0"/>
        </a:defRPr>
      </a:lvl2pPr>
      <a:lvl3pPr marL="1143000" indent="-228600" algn="l" rtl="0" eaLnBrk="0" fontAlgn="base" hangingPunct="0">
        <a:spcBef>
          <a:spcPct val="19000"/>
        </a:spcBef>
        <a:spcAft>
          <a:spcPct val="0"/>
        </a:spcAft>
        <a:buFont typeface="Arial" panose="020B0604020202020204" pitchFamily="34" charset="0"/>
        <a:buChar char="»"/>
        <a:defRPr kumimoji="1" lang="zh-CN" altLang="en-US" sz="2665" b="1" kern="1200" dirty="0">
          <a:solidFill>
            <a:schemeClr val="tx1"/>
          </a:solidFill>
          <a:latin typeface="Calibri" panose="020F0502020204030204" pitchFamily="34" charset="0"/>
          <a:ea typeface="微软雅黑" panose="020B0503020204020204" pitchFamily="34" charset="-122"/>
          <a:cs typeface="Calibri" panose="020F0502020204030204" pitchFamily="34" charset="0"/>
        </a:defRPr>
      </a:lvl3pPr>
      <a:lvl4pPr marL="1600200" indent="-228600" algn="l" rtl="0" eaLnBrk="0" fontAlgn="base" hangingPunct="0">
        <a:spcBef>
          <a:spcPct val="19000"/>
        </a:spcBef>
        <a:spcAft>
          <a:spcPct val="0"/>
        </a:spcAft>
        <a:buFont typeface="Arial" panose="020B0604020202020204" pitchFamily="34" charset="0"/>
        <a:buChar char="»"/>
        <a:defRPr kumimoji="1" lang="zh-CN" altLang="en-US" sz="2285" b="1" kern="1200" dirty="0">
          <a:solidFill>
            <a:schemeClr val="tx1"/>
          </a:solidFill>
          <a:latin typeface="Calibri" panose="020F0502020204030204" pitchFamily="34" charset="0"/>
          <a:ea typeface="微软雅黑" panose="020B0503020204020204" pitchFamily="34" charset="-122"/>
          <a:cs typeface="Calibri" panose="020F0502020204030204" pitchFamily="34" charset="0"/>
        </a:defRPr>
      </a:lvl4pPr>
      <a:lvl5pPr marL="2057400" indent="-228600" algn="l" rtl="0" eaLnBrk="0" fontAlgn="base" hangingPunct="0">
        <a:spcBef>
          <a:spcPct val="19000"/>
        </a:spcBef>
        <a:spcAft>
          <a:spcPct val="0"/>
        </a:spcAft>
        <a:buFont typeface="Arial" panose="020B0604020202020204" pitchFamily="34" charset="0"/>
        <a:buChar char="»"/>
        <a:defRPr kumimoji="1" lang="zh-CN" altLang="en-US" sz="1905" b="1" kern="1200" dirty="0">
          <a:solidFill>
            <a:schemeClr val="tx1"/>
          </a:solidFill>
          <a:latin typeface="Calibri" panose="020F0502020204030204" pitchFamily="34" charset="0"/>
          <a:ea typeface="微软雅黑" panose="020B0503020204020204" pitchFamily="34" charset="-122"/>
          <a:cs typeface="Calibri" panose="020F0502020204030204" pitchFamily="34" charset="0"/>
        </a:defRPr>
      </a:lvl5pPr>
      <a:lvl6pPr marL="25146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14.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10.xml.rels><?xml version="1.0" encoding="UTF-8" standalone="yes"?>
<Relationships xmlns="http://schemas.openxmlformats.org/package/2006/relationships"><Relationship Id="rId2" Type="http://schemas.openxmlformats.org/officeDocument/2006/relationships/hyperlink" Target="https://www.top500.org/news/intel-takes-on-nvidia-with-knights-landing-launch/"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puZy.or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docs.nersc.gov/job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docs.nersc.gov/job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docs.nersc.gov/jobs/"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2.xml"/><Relationship Id="rId4" Type="http://schemas.openxmlformats.org/officeDocument/2006/relationships/image" Target="../media/image69.jpeg"/></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5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681596"/>
            <a:ext cx="6858000" cy="1392491"/>
          </a:xfrm>
        </p:spPr>
        <p:txBody>
          <a:bodyPr>
            <a:normAutofit/>
          </a:bodyPr>
          <a:lstStyle/>
          <a:p>
            <a:r>
              <a:rPr lang="zh-CN" altLang="en-US">
                <a:latin typeface="黑体" panose="02010609060101010101" pitchFamily="49" charset="-122"/>
                <a:ea typeface="黑体" panose="02010609060101010101" pitchFamily="49" charset="-122"/>
              </a:rPr>
              <a:t>并行程序设计</a:t>
            </a:r>
            <a:endParaRPr lang="en-US" dirty="0">
              <a:latin typeface="黑体" panose="02010609060101010101" pitchFamily="49" charset="-122"/>
              <a:ea typeface="黑体" panose="02010609060101010101" pitchFamily="49" charset="-122"/>
            </a:endParaRPr>
          </a:p>
        </p:txBody>
      </p:sp>
      <p:sp>
        <p:nvSpPr>
          <p:cNvPr id="3" name="副标题 2"/>
          <p:cNvSpPr>
            <a:spLocks noGrp="1"/>
          </p:cNvSpPr>
          <p:nvPr>
            <p:ph type="subTitle" idx="1"/>
          </p:nvPr>
        </p:nvSpPr>
        <p:spPr>
          <a:xfrm>
            <a:off x="1371600" y="3140075"/>
            <a:ext cx="6400800" cy="1752600"/>
          </a:xfrm>
        </p:spPr>
        <p:txBody>
          <a:bodyPr>
            <a:normAutofit/>
          </a:bodyPr>
          <a:lstStyle/>
          <a:p>
            <a:r>
              <a:rPr lang="zh-CN" altLang="en-US" sz="2000" dirty="0"/>
              <a:t>任课教师：黄聃（</a:t>
            </a:r>
            <a:r>
              <a:rPr lang="en-US" altLang="zh-CN" sz="2000" dirty="0"/>
              <a:t>Huang</a:t>
            </a:r>
            <a:r>
              <a:rPr lang="zh-CN" altLang="en-US" sz="2000" dirty="0"/>
              <a:t>，</a:t>
            </a:r>
            <a:r>
              <a:rPr lang="en-US" altLang="zh-CN" sz="2000" dirty="0"/>
              <a:t>Dan</a:t>
            </a:r>
            <a:r>
              <a:rPr lang="zh-CN" altLang="en-US" sz="2000" dirty="0"/>
              <a:t>）</a:t>
            </a:r>
            <a:endParaRPr lang="en-US" altLang="zh-CN" sz="2000" dirty="0"/>
          </a:p>
          <a:p>
            <a:r>
              <a:rPr lang="en-US" altLang="zh-CN" sz="2000" dirty="0"/>
              <a:t>Based on the slides of Steve Leak </a:t>
            </a:r>
          </a:p>
          <a:p>
            <a:r>
              <a:rPr lang="en-US" altLang="zh-CN" sz="2000" dirty="0"/>
              <a:t>NERSC User Engagement Group</a:t>
            </a:r>
          </a:p>
          <a:p>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15631" y="132238"/>
            <a:ext cx="306905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chemeClr val="tx1"/>
                </a:solidFill>
                <a:latin typeface="+mj-lt"/>
                <a:cs typeface="Times New Roman" panose="02020603050405020304" pitchFamily="18" charset="0"/>
              </a:rPr>
              <a:t>NERSC Cori</a:t>
            </a:r>
          </a:p>
        </p:txBody>
      </p:sp>
      <p:sp>
        <p:nvSpPr>
          <p:cNvPr id="3" name="object 3"/>
          <p:cNvSpPr txBox="1"/>
          <p:nvPr/>
        </p:nvSpPr>
        <p:spPr>
          <a:xfrm>
            <a:off x="535939" y="1230508"/>
            <a:ext cx="3758565" cy="1623060"/>
          </a:xfrm>
          <a:prstGeom prst="rect">
            <a:avLst/>
          </a:prstGeom>
        </p:spPr>
        <p:txBody>
          <a:bodyPr vert="horz" wrap="square" lIns="0" tIns="75565" rIns="0" bIns="0" rtlCol="0">
            <a:spAutoFit/>
          </a:bodyPr>
          <a:lstStyle/>
          <a:p>
            <a:pPr marL="355600" indent="-342900" algn="just">
              <a:lnSpc>
                <a:spcPct val="100000"/>
              </a:lnSpc>
              <a:spcBef>
                <a:spcPts val="595"/>
              </a:spcBef>
              <a:buFont typeface="Arial" panose="020B0604020202020204"/>
              <a:buChar char="•"/>
              <a:tabLst>
                <a:tab pos="355600" algn="l"/>
              </a:tabLst>
            </a:pPr>
            <a:r>
              <a:rPr sz="2400" b="1" dirty="0">
                <a:latin typeface="+mj-lt"/>
                <a:cs typeface="Calibri" panose="020F0502020204030204"/>
              </a:rPr>
              <a:t>34 double-width cabinets</a:t>
            </a:r>
            <a:endParaRPr sz="2400">
              <a:latin typeface="+mj-lt"/>
              <a:cs typeface="Calibri" panose="020F0502020204030204"/>
            </a:endParaRPr>
          </a:p>
          <a:p>
            <a:pPr marL="355600" marR="5080" indent="-342900" algn="just">
              <a:lnSpc>
                <a:spcPct val="101000"/>
              </a:lnSpc>
              <a:spcBef>
                <a:spcPts val="465"/>
              </a:spcBef>
              <a:buFont typeface="Arial" panose="020B0604020202020204"/>
              <a:buChar char="•"/>
              <a:tabLst>
                <a:tab pos="355600" algn="l"/>
              </a:tabLst>
            </a:pPr>
            <a:r>
              <a:rPr sz="2400" b="1" dirty="0">
                <a:latin typeface="+mj-lt"/>
                <a:cs typeface="Calibri" panose="020F0502020204030204"/>
              </a:rPr>
              <a:t>9,688 KNL + 2,388 Haswell  nodes on Aries High-Speed  Network</a:t>
            </a:r>
            <a:endParaRPr sz="2400">
              <a:latin typeface="+mj-lt"/>
              <a:cs typeface="Calibri" panose="020F0502020204030204"/>
            </a:endParaRPr>
          </a:p>
        </p:txBody>
      </p:sp>
      <p:sp>
        <p:nvSpPr>
          <p:cNvPr id="4" name="object 4"/>
          <p:cNvSpPr txBox="1"/>
          <p:nvPr/>
        </p:nvSpPr>
        <p:spPr>
          <a:xfrm>
            <a:off x="4726940" y="1293500"/>
            <a:ext cx="3823335" cy="1188720"/>
          </a:xfrm>
          <a:prstGeom prst="rect">
            <a:avLst/>
          </a:prstGeom>
        </p:spPr>
        <p:txBody>
          <a:bodyPr vert="horz" wrap="square" lIns="0" tIns="12700" rIns="0" bIns="0" rtlCol="0">
            <a:spAutoFit/>
          </a:bodyPr>
          <a:lstStyle/>
          <a:p>
            <a:pPr marL="355600" indent="-342900">
              <a:lnSpc>
                <a:spcPts val="2840"/>
              </a:lnSpc>
              <a:spcBef>
                <a:spcPts val="100"/>
              </a:spcBef>
              <a:buFont typeface="Arial" panose="020B0604020202020204"/>
              <a:buChar char="•"/>
              <a:tabLst>
                <a:tab pos="354965" algn="l"/>
                <a:tab pos="355600" algn="l"/>
              </a:tabLst>
            </a:pPr>
            <a:r>
              <a:rPr sz="2400" b="1" dirty="0">
                <a:latin typeface="+mj-lt"/>
                <a:cs typeface="Calibri" panose="020F0502020204030204"/>
              </a:rPr>
              <a:t>658,784 KNL cores + 76,416</a:t>
            </a:r>
            <a:endParaRPr sz="2400">
              <a:latin typeface="+mj-lt"/>
              <a:cs typeface="Calibri" panose="020F0502020204030204"/>
            </a:endParaRPr>
          </a:p>
          <a:p>
            <a:pPr marL="355600">
              <a:lnSpc>
                <a:spcPts val="2840"/>
              </a:lnSpc>
            </a:pPr>
            <a:r>
              <a:rPr sz="2400" b="1" dirty="0">
                <a:latin typeface="+mj-lt"/>
                <a:cs typeface="Calibri" panose="020F0502020204030204"/>
              </a:rPr>
              <a:t>Haswell cores</a:t>
            </a:r>
            <a:endParaRPr sz="2400">
              <a:latin typeface="+mj-lt"/>
              <a:cs typeface="Calibri" panose="020F0502020204030204"/>
            </a:endParaRPr>
          </a:p>
          <a:p>
            <a:pPr marL="355600" indent="-342900">
              <a:lnSpc>
                <a:spcPct val="100000"/>
              </a:lnSpc>
              <a:spcBef>
                <a:spcPts val="595"/>
              </a:spcBef>
              <a:buFont typeface="Arial" panose="020B0604020202020204"/>
              <a:buChar char="•"/>
              <a:tabLst>
                <a:tab pos="354965" algn="l"/>
                <a:tab pos="355600" algn="l"/>
              </a:tabLst>
            </a:pPr>
            <a:r>
              <a:rPr sz="2400" b="1" dirty="0">
                <a:latin typeface="+mj-lt"/>
                <a:cs typeface="Calibri" panose="020F0502020204030204"/>
              </a:rPr>
              <a:t>Top500 #6 (June 2017)</a:t>
            </a:r>
            <a:endParaRPr sz="2400">
              <a:latin typeface="+mj-lt"/>
              <a:cs typeface="Calibri" panose="020F0502020204030204"/>
            </a:endParaRPr>
          </a:p>
        </p:txBody>
      </p:sp>
      <p:sp>
        <p:nvSpPr>
          <p:cNvPr id="5" name="object 5"/>
          <p:cNvSpPr/>
          <p:nvPr/>
        </p:nvSpPr>
        <p:spPr>
          <a:xfrm>
            <a:off x="711703" y="2901533"/>
            <a:ext cx="7776409" cy="3365054"/>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7020" y="132239"/>
            <a:ext cx="2585473"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Font typeface="Arial" panose="020B0604020202020204"/>
              <a:buChar char="•"/>
              <a:tabLst>
                <a:tab pos="354965" algn="l"/>
                <a:tab pos="355600" algn="l"/>
              </a:tabLst>
            </a:pPr>
            <a:r>
              <a:rPr sz="2800" b="1" dirty="0">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Font typeface="Arial" panose="020B0604020202020204"/>
              <a:buChar char="•"/>
              <a:tabLst>
                <a:tab pos="354965" algn="l"/>
                <a:tab pos="355600" algn="l"/>
              </a:tabLst>
            </a:pPr>
            <a:r>
              <a:rPr sz="2800" b="1" dirty="0">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Font typeface="Arial" panose="020B0604020202020204"/>
              <a:buChar char="•"/>
              <a:tabLst>
                <a:tab pos="354965" algn="l"/>
                <a:tab pos="355600" algn="l"/>
              </a:tabLst>
            </a:pPr>
            <a:r>
              <a:rPr sz="2800" b="1" dirty="0">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Font typeface="Arial" panose="020B0604020202020204"/>
              <a:buChar char="•"/>
              <a:tabLst>
                <a:tab pos="354965" algn="l"/>
                <a:tab pos="355600" algn="l"/>
              </a:tabLst>
            </a:pPr>
            <a:r>
              <a:rPr sz="2800" b="1" dirty="0">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2215811" y="92869"/>
            <a:ext cx="471321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Cori Overview</a:t>
            </a:r>
          </a:p>
        </p:txBody>
      </p:sp>
      <p:sp>
        <p:nvSpPr>
          <p:cNvPr id="7" name="object 7"/>
          <p:cNvSpPr txBox="1">
            <a:spLocks noGrp="1"/>
          </p:cNvSpPr>
          <p:nvPr>
            <p:ph type="body" idx="1"/>
          </p:nvPr>
        </p:nvSpPr>
        <p:spPr>
          <a:xfrm>
            <a:off x="628650" y="1688757"/>
            <a:ext cx="7886700" cy="4203065"/>
          </a:xfrm>
          <a:prstGeom prst="rect">
            <a:avLst/>
          </a:prstGeom>
        </p:spPr>
        <p:txBody>
          <a:bodyPr vert="horz" wrap="square" lIns="0" tIns="58419" rIns="0" bIns="0" rtlCol="0">
            <a:spAutoFit/>
          </a:bodyPr>
          <a:lstStyle/>
          <a:p>
            <a:pPr marL="4528185" marR="16510" indent="-342900">
              <a:lnSpc>
                <a:spcPts val="2800"/>
              </a:lnSpc>
              <a:spcBef>
                <a:spcPts val="460"/>
              </a:spcBef>
              <a:buFont typeface="Arial" panose="020B0604020202020204"/>
              <a:buChar char="•"/>
              <a:tabLst>
                <a:tab pos="4527550" algn="l"/>
                <a:tab pos="4528185" algn="l"/>
              </a:tabLst>
            </a:pPr>
            <a:r>
              <a:rPr sz="2000" dirty="0">
                <a:latin typeface="+mj-lt"/>
              </a:rPr>
              <a:t>Login and compute nodes  are distinct</a:t>
            </a:r>
          </a:p>
          <a:p>
            <a:pPr marL="4528185" indent="-342900">
              <a:lnSpc>
                <a:spcPts val="2950"/>
              </a:lnSpc>
              <a:spcBef>
                <a:spcPts val="1460"/>
              </a:spcBef>
              <a:buFont typeface="Arial" panose="020B0604020202020204"/>
              <a:buChar char="•"/>
              <a:tabLst>
                <a:tab pos="4527550" algn="l"/>
                <a:tab pos="4528185" algn="l"/>
              </a:tabLst>
            </a:pPr>
            <a:r>
              <a:rPr sz="2000" dirty="0">
                <a:latin typeface="+mj-lt"/>
              </a:rPr>
              <a:t>Large, fast, parallel</a:t>
            </a:r>
          </a:p>
          <a:p>
            <a:pPr marL="4528185" marR="163195">
              <a:lnSpc>
                <a:spcPts val="2800"/>
              </a:lnSpc>
              <a:spcBef>
                <a:spcPts val="190"/>
              </a:spcBef>
            </a:pPr>
            <a:r>
              <a:rPr sz="2000" dirty="0">
                <a:latin typeface="+mj-lt"/>
              </a:rPr>
              <a:t>$SCRATCH ﬁlesystem for  running jobs</a:t>
            </a:r>
          </a:p>
          <a:p>
            <a:pPr marL="4528185" marR="415290" indent="-342900">
              <a:lnSpc>
                <a:spcPct val="91000"/>
              </a:lnSpc>
              <a:spcBef>
                <a:spcPts val="1745"/>
              </a:spcBef>
              <a:buFont typeface="Arial" panose="020B0604020202020204"/>
              <a:buChar char="•"/>
              <a:tabLst>
                <a:tab pos="4527550" algn="l"/>
                <a:tab pos="4528185" algn="l"/>
              </a:tabLst>
            </a:pPr>
            <a:r>
              <a:rPr sz="2000" dirty="0">
                <a:latin typeface="+mj-lt"/>
              </a:rPr>
              <a:t>Smaller $HOME,  conﬁgured for building  code</a:t>
            </a:r>
            <a:endParaRPr dirty="0">
              <a:latin typeface="+mj-lt"/>
            </a:endParaRPr>
          </a:p>
          <a:p>
            <a:pPr marL="4528185" marR="5080" indent="-342900">
              <a:lnSpc>
                <a:spcPct val="89000"/>
              </a:lnSpc>
              <a:spcBef>
                <a:spcPts val="1835"/>
              </a:spcBef>
              <a:buFont typeface="Arial" panose="020B0604020202020204"/>
              <a:buChar char="•"/>
              <a:tabLst>
                <a:tab pos="4527550" algn="l"/>
                <a:tab pos="4528185" algn="l"/>
              </a:tabLst>
            </a:pPr>
            <a:r>
              <a:rPr sz="2000" dirty="0">
                <a:latin typeface="+mj-lt"/>
              </a:rPr>
              <a:t>Burst buﬀer ﬁlesystem  integrated, on high-speed  network</a:t>
            </a:r>
          </a:p>
        </p:txBody>
      </p:sp>
      <p:sp>
        <p:nvSpPr>
          <p:cNvPr id="8" name="object 8"/>
          <p:cNvSpPr/>
          <p:nvPr/>
        </p:nvSpPr>
        <p:spPr>
          <a:xfrm>
            <a:off x="360341" y="1260481"/>
            <a:ext cx="4266299" cy="5299192"/>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dirty="0">
                <a:latin typeface="+mj-lt"/>
              </a:rPr>
              <a:t>'</a:t>
            </a:r>
            <a:r>
              <a:rPr dirty="0">
                <a:latin typeface="+mj-lt"/>
              </a:rPr>
              <a:t>s so special about it?</a:t>
            </a:r>
          </a:p>
        </p:txBody>
      </p:sp>
      <p:sp>
        <p:nvSpPr>
          <p:cNvPr id="7" name="object 7"/>
          <p:cNvSpPr txBox="1"/>
          <p:nvPr/>
        </p:nvSpPr>
        <p:spPr>
          <a:xfrm>
            <a:off x="535939" y="1293500"/>
            <a:ext cx="3257550" cy="1303020"/>
          </a:xfrm>
          <a:prstGeom prst="rect">
            <a:avLst/>
          </a:prstGeom>
        </p:spPr>
        <p:txBody>
          <a:bodyPr vert="horz" wrap="square" lIns="0" tIns="13970" rIns="0" bIns="0" rtlCol="0">
            <a:spAutoFit/>
          </a:bodyPr>
          <a:lstStyle/>
          <a:p>
            <a:pPr marL="355600" marR="5080" indent="-342900">
              <a:lnSpc>
                <a:spcPct val="100000"/>
              </a:lnSpc>
              <a:spcBef>
                <a:spcPts val="110"/>
              </a:spcBef>
              <a:buFont typeface="Arial" panose="020B0604020202020204"/>
              <a:buChar char="•"/>
              <a:tabLst>
                <a:tab pos="354965" algn="l"/>
                <a:tab pos="355600" algn="l"/>
              </a:tabLst>
            </a:pPr>
            <a:r>
              <a:rPr sz="2800" b="1" dirty="0">
                <a:latin typeface="+mj-lt"/>
                <a:cs typeface="Calibri" panose="020F0502020204030204"/>
              </a:rPr>
              <a:t>Your quad-core  desktop CPU looks  something like this:</a:t>
            </a:r>
            <a:endParaRPr sz="2800" dirty="0">
              <a:latin typeface="+mj-lt"/>
              <a:cs typeface="Calibri" panose="020F0502020204030204"/>
            </a:endParaRPr>
          </a:p>
        </p:txBody>
      </p:sp>
      <p:sp>
        <p:nvSpPr>
          <p:cNvPr id="8" name="object 8"/>
          <p:cNvSpPr txBox="1"/>
          <p:nvPr/>
        </p:nvSpPr>
        <p:spPr>
          <a:xfrm>
            <a:off x="4726940" y="1293500"/>
            <a:ext cx="3221990" cy="879728"/>
          </a:xfrm>
          <a:prstGeom prst="rect">
            <a:avLst/>
          </a:prstGeom>
        </p:spPr>
        <p:txBody>
          <a:bodyPr vert="horz" wrap="square" lIns="0" tIns="33020" rIns="0" bIns="0" rtlCol="0">
            <a:spAutoFit/>
          </a:bodyPr>
          <a:lstStyle/>
          <a:p>
            <a:pPr marL="355600" marR="508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Compared to a Cori  Haswell node:</a:t>
            </a:r>
            <a:endParaRPr sz="2800">
              <a:latin typeface="+mj-lt"/>
              <a:cs typeface="Calibri" panose="020F0502020204030204"/>
            </a:endParaRPr>
          </a:p>
        </p:txBody>
      </p:sp>
      <p:sp>
        <p:nvSpPr>
          <p:cNvPr id="9" name="object 9"/>
          <p:cNvSpPr/>
          <p:nvPr/>
        </p:nvSpPr>
        <p:spPr>
          <a:xfrm>
            <a:off x="457200" y="3374572"/>
            <a:ext cx="3302772" cy="1687285"/>
          </a:xfrm>
          <a:prstGeom prst="rect">
            <a:avLst/>
          </a:prstGeom>
          <a:blipFill>
            <a:blip r:embed="rId2" cstate="print"/>
            <a:stretch>
              <a:fillRect/>
            </a:stretch>
          </a:blipFill>
        </p:spPr>
        <p:txBody>
          <a:bodyPr wrap="square" lIns="0" tIns="0" rIns="0" bIns="0" rtlCol="0"/>
          <a:lstStyle/>
          <a:p>
            <a:endParaRPr>
              <a:latin typeface="+mj-lt"/>
            </a:endParaRPr>
          </a:p>
        </p:txBody>
      </p:sp>
      <p:sp>
        <p:nvSpPr>
          <p:cNvPr id="10" name="object 10"/>
          <p:cNvSpPr/>
          <p:nvPr/>
        </p:nvSpPr>
        <p:spPr>
          <a:xfrm>
            <a:off x="5101771" y="2316650"/>
            <a:ext cx="2373085" cy="1859984"/>
          </a:xfrm>
          <a:prstGeom prst="rect">
            <a:avLst/>
          </a:prstGeom>
          <a:blipFill>
            <a:blip r:embed="rId3" cstate="print"/>
            <a:stretch>
              <a:fillRect/>
            </a:stretch>
          </a:blipFill>
        </p:spPr>
        <p:txBody>
          <a:bodyPr wrap="square" lIns="0" tIns="0" rIns="0" bIns="0" rtlCol="0"/>
          <a:lstStyle/>
          <a:p>
            <a:endParaRPr>
              <a:latin typeface="+mj-lt"/>
            </a:endParaRPr>
          </a:p>
        </p:txBody>
      </p:sp>
      <p:sp>
        <p:nvSpPr>
          <p:cNvPr id="11" name="object 11"/>
          <p:cNvSpPr/>
          <p:nvPr/>
        </p:nvSpPr>
        <p:spPr>
          <a:xfrm>
            <a:off x="5101771" y="4682478"/>
            <a:ext cx="2373085" cy="1859985"/>
          </a:xfrm>
          <a:prstGeom prst="rect">
            <a:avLst/>
          </a:prstGeom>
          <a:blipFill>
            <a:blip r:embed="rId3" cstate="print"/>
            <a:stretch>
              <a:fillRect/>
            </a:stretch>
          </a:blipFill>
        </p:spPr>
        <p:txBody>
          <a:bodyPr wrap="square" lIns="0" tIns="0" rIns="0" bIns="0" rtlCol="0"/>
          <a:lstStyle/>
          <a:p>
            <a:endParaRPr>
              <a:latin typeface="+mj-lt"/>
            </a:endParaRPr>
          </a:p>
        </p:txBody>
      </p:sp>
      <p:sp>
        <p:nvSpPr>
          <p:cNvPr id="12" name="object 12"/>
          <p:cNvSpPr/>
          <p:nvPr/>
        </p:nvSpPr>
        <p:spPr>
          <a:xfrm>
            <a:off x="5306783" y="4176634"/>
            <a:ext cx="272415" cy="526415"/>
          </a:xfrm>
          <a:custGeom>
            <a:avLst/>
            <a:gdLst/>
            <a:ahLst/>
            <a:cxnLst/>
            <a:rect l="l" t="t" r="r" b="b"/>
            <a:pathLst>
              <a:path w="272414" h="526414">
                <a:moveTo>
                  <a:pt x="136072" y="0"/>
                </a:moveTo>
                <a:lnTo>
                  <a:pt x="0" y="136071"/>
                </a:lnTo>
                <a:lnTo>
                  <a:pt x="68036" y="136071"/>
                </a:lnTo>
                <a:lnTo>
                  <a:pt x="68036" y="390071"/>
                </a:lnTo>
                <a:lnTo>
                  <a:pt x="0" y="390071"/>
                </a:lnTo>
                <a:lnTo>
                  <a:pt x="136072" y="526143"/>
                </a:lnTo>
                <a:lnTo>
                  <a:pt x="272143" y="390071"/>
                </a:lnTo>
                <a:lnTo>
                  <a:pt x="204106" y="390071"/>
                </a:lnTo>
                <a:lnTo>
                  <a:pt x="204106" y="136071"/>
                </a:lnTo>
                <a:lnTo>
                  <a:pt x="272143" y="136071"/>
                </a:lnTo>
                <a:lnTo>
                  <a:pt x="136072" y="0"/>
                </a:lnTo>
                <a:close/>
              </a:path>
            </a:pathLst>
          </a:custGeom>
          <a:solidFill>
            <a:srgbClr val="FDD843"/>
          </a:solidFill>
        </p:spPr>
        <p:txBody>
          <a:bodyPr wrap="square" lIns="0" tIns="0" rIns="0" bIns="0" rtlCol="0"/>
          <a:lstStyle/>
          <a:p>
            <a:endParaRPr>
              <a:latin typeface="+mj-lt"/>
            </a:endParaRPr>
          </a:p>
        </p:txBody>
      </p:sp>
      <p:sp>
        <p:nvSpPr>
          <p:cNvPr id="13" name="object 13"/>
          <p:cNvSpPr/>
          <p:nvPr/>
        </p:nvSpPr>
        <p:spPr>
          <a:xfrm>
            <a:off x="5306783" y="4176634"/>
            <a:ext cx="272415" cy="526415"/>
          </a:xfrm>
          <a:custGeom>
            <a:avLst/>
            <a:gdLst/>
            <a:ahLst/>
            <a:cxnLst/>
            <a:rect l="l" t="t" r="r" b="b"/>
            <a:pathLst>
              <a:path w="272414" h="526414">
                <a:moveTo>
                  <a:pt x="0" y="136071"/>
                </a:moveTo>
                <a:lnTo>
                  <a:pt x="136071" y="0"/>
                </a:lnTo>
                <a:lnTo>
                  <a:pt x="272143" y="136071"/>
                </a:lnTo>
                <a:lnTo>
                  <a:pt x="204106" y="136071"/>
                </a:lnTo>
                <a:lnTo>
                  <a:pt x="204106" y="390071"/>
                </a:lnTo>
                <a:lnTo>
                  <a:pt x="272143" y="390071"/>
                </a:lnTo>
                <a:lnTo>
                  <a:pt x="136071" y="526142"/>
                </a:lnTo>
                <a:lnTo>
                  <a:pt x="0" y="390071"/>
                </a:lnTo>
                <a:lnTo>
                  <a:pt x="68036" y="390071"/>
                </a:lnTo>
                <a:lnTo>
                  <a:pt x="68036" y="136071"/>
                </a:lnTo>
                <a:lnTo>
                  <a:pt x="0" y="136071"/>
                </a:lnTo>
                <a:close/>
              </a:path>
            </a:pathLst>
          </a:custGeom>
          <a:ln w="25399">
            <a:solidFill>
              <a:srgbClr val="C6A82F"/>
            </a:solidFill>
          </a:ln>
        </p:spPr>
        <p:txBody>
          <a:bodyPr wrap="square" lIns="0" tIns="0" rIns="0" bIns="0" rtlCol="0"/>
          <a:lstStyle/>
          <a:p>
            <a:endParaRPr>
              <a:latin typeface="+mj-lt"/>
            </a:endParaRPr>
          </a:p>
        </p:txBody>
      </p:sp>
      <p:sp>
        <p:nvSpPr>
          <p:cNvPr id="14" name="object 14"/>
          <p:cNvSpPr/>
          <p:nvPr/>
        </p:nvSpPr>
        <p:spPr>
          <a:xfrm>
            <a:off x="5731327" y="4156335"/>
            <a:ext cx="272415" cy="526415"/>
          </a:xfrm>
          <a:custGeom>
            <a:avLst/>
            <a:gdLst/>
            <a:ahLst/>
            <a:cxnLst/>
            <a:rect l="l" t="t" r="r" b="b"/>
            <a:pathLst>
              <a:path w="272414" h="526414">
                <a:moveTo>
                  <a:pt x="136071" y="0"/>
                </a:moveTo>
                <a:lnTo>
                  <a:pt x="0" y="136071"/>
                </a:lnTo>
                <a:lnTo>
                  <a:pt x="68036" y="136071"/>
                </a:lnTo>
                <a:lnTo>
                  <a:pt x="68036" y="390071"/>
                </a:lnTo>
                <a:lnTo>
                  <a:pt x="0" y="390071"/>
                </a:lnTo>
                <a:lnTo>
                  <a:pt x="136071" y="526143"/>
                </a:lnTo>
                <a:lnTo>
                  <a:pt x="272143" y="390071"/>
                </a:lnTo>
                <a:lnTo>
                  <a:pt x="204106" y="390071"/>
                </a:lnTo>
                <a:lnTo>
                  <a:pt x="204106" y="136071"/>
                </a:lnTo>
                <a:lnTo>
                  <a:pt x="272143" y="136071"/>
                </a:lnTo>
                <a:lnTo>
                  <a:pt x="136071" y="0"/>
                </a:lnTo>
                <a:close/>
              </a:path>
            </a:pathLst>
          </a:custGeom>
          <a:solidFill>
            <a:srgbClr val="FDD843"/>
          </a:solidFill>
        </p:spPr>
        <p:txBody>
          <a:bodyPr wrap="square" lIns="0" tIns="0" rIns="0" bIns="0" rtlCol="0"/>
          <a:lstStyle/>
          <a:p>
            <a:endParaRPr>
              <a:latin typeface="+mj-lt"/>
            </a:endParaRPr>
          </a:p>
        </p:txBody>
      </p:sp>
      <p:sp>
        <p:nvSpPr>
          <p:cNvPr id="15" name="object 15"/>
          <p:cNvSpPr/>
          <p:nvPr/>
        </p:nvSpPr>
        <p:spPr>
          <a:xfrm>
            <a:off x="5731326" y="4156335"/>
            <a:ext cx="272415" cy="526415"/>
          </a:xfrm>
          <a:custGeom>
            <a:avLst/>
            <a:gdLst/>
            <a:ahLst/>
            <a:cxnLst/>
            <a:rect l="l" t="t" r="r" b="b"/>
            <a:pathLst>
              <a:path w="272414" h="526414">
                <a:moveTo>
                  <a:pt x="0" y="136071"/>
                </a:moveTo>
                <a:lnTo>
                  <a:pt x="136071" y="0"/>
                </a:lnTo>
                <a:lnTo>
                  <a:pt x="272143" y="136071"/>
                </a:lnTo>
                <a:lnTo>
                  <a:pt x="204106" y="136071"/>
                </a:lnTo>
                <a:lnTo>
                  <a:pt x="204106" y="390071"/>
                </a:lnTo>
                <a:lnTo>
                  <a:pt x="272143" y="390071"/>
                </a:lnTo>
                <a:lnTo>
                  <a:pt x="136071" y="526142"/>
                </a:lnTo>
                <a:lnTo>
                  <a:pt x="0" y="390071"/>
                </a:lnTo>
                <a:lnTo>
                  <a:pt x="68036" y="390071"/>
                </a:lnTo>
                <a:lnTo>
                  <a:pt x="68036" y="136071"/>
                </a:lnTo>
                <a:lnTo>
                  <a:pt x="0" y="136071"/>
                </a:lnTo>
                <a:close/>
              </a:path>
            </a:pathLst>
          </a:custGeom>
          <a:ln w="25399">
            <a:solidFill>
              <a:srgbClr val="C6A82F"/>
            </a:solidFill>
          </a:ln>
        </p:spPr>
        <p:txBody>
          <a:bodyPr wrap="square" lIns="0" tIns="0" rIns="0" bIns="0" rtlCol="0"/>
          <a:lstStyle/>
          <a:p>
            <a:endParaRPr>
              <a:latin typeface="+mj-lt"/>
            </a:endParaRPr>
          </a:p>
        </p:txBody>
      </p:sp>
      <p:sp>
        <p:nvSpPr>
          <p:cNvPr id="16" name="object 16"/>
          <p:cNvSpPr/>
          <p:nvPr/>
        </p:nvSpPr>
        <p:spPr>
          <a:xfrm>
            <a:off x="1161142" y="3232670"/>
            <a:ext cx="2463800" cy="1230630"/>
          </a:xfrm>
          <a:custGeom>
            <a:avLst/>
            <a:gdLst/>
            <a:ahLst/>
            <a:cxnLst/>
            <a:rect l="l" t="t" r="r" b="b"/>
            <a:pathLst>
              <a:path w="2463800" h="1230629">
                <a:moveTo>
                  <a:pt x="0" y="615236"/>
                </a:moveTo>
                <a:lnTo>
                  <a:pt x="6360" y="552332"/>
                </a:lnTo>
                <a:lnTo>
                  <a:pt x="25027" y="491245"/>
                </a:lnTo>
                <a:lnTo>
                  <a:pt x="55383" y="432284"/>
                </a:lnTo>
                <a:lnTo>
                  <a:pt x="96808" y="375758"/>
                </a:lnTo>
                <a:lnTo>
                  <a:pt x="148683" y="321978"/>
                </a:lnTo>
                <a:lnTo>
                  <a:pt x="178346" y="296214"/>
                </a:lnTo>
                <a:lnTo>
                  <a:pt x="210389" y="271252"/>
                </a:lnTo>
                <a:lnTo>
                  <a:pt x="244734" y="247130"/>
                </a:lnTo>
                <a:lnTo>
                  <a:pt x="281306" y="223889"/>
                </a:lnTo>
                <a:lnTo>
                  <a:pt x="320025" y="201565"/>
                </a:lnTo>
                <a:lnTo>
                  <a:pt x="360815" y="180198"/>
                </a:lnTo>
                <a:lnTo>
                  <a:pt x="403598" y="159827"/>
                </a:lnTo>
                <a:lnTo>
                  <a:pt x="448297" y="140490"/>
                </a:lnTo>
                <a:lnTo>
                  <a:pt x="494834" y="122225"/>
                </a:lnTo>
                <a:lnTo>
                  <a:pt x="543132" y="105072"/>
                </a:lnTo>
                <a:lnTo>
                  <a:pt x="593114" y="89069"/>
                </a:lnTo>
                <a:lnTo>
                  <a:pt x="644703" y="74255"/>
                </a:lnTo>
                <a:lnTo>
                  <a:pt x="697820" y="60669"/>
                </a:lnTo>
                <a:lnTo>
                  <a:pt x="752388" y="48348"/>
                </a:lnTo>
                <a:lnTo>
                  <a:pt x="808331" y="37332"/>
                </a:lnTo>
                <a:lnTo>
                  <a:pt x="865570" y="27659"/>
                </a:lnTo>
                <a:lnTo>
                  <a:pt x="924028" y="19369"/>
                </a:lnTo>
                <a:lnTo>
                  <a:pt x="983628" y="12499"/>
                </a:lnTo>
                <a:lnTo>
                  <a:pt x="1044293" y="7088"/>
                </a:lnTo>
                <a:lnTo>
                  <a:pt x="1105945" y="3176"/>
                </a:lnTo>
                <a:lnTo>
                  <a:pt x="1168506" y="800"/>
                </a:lnTo>
                <a:lnTo>
                  <a:pt x="1231899" y="0"/>
                </a:lnTo>
                <a:lnTo>
                  <a:pt x="1295293" y="800"/>
                </a:lnTo>
                <a:lnTo>
                  <a:pt x="1357854" y="3176"/>
                </a:lnTo>
                <a:lnTo>
                  <a:pt x="1419506" y="7088"/>
                </a:lnTo>
                <a:lnTo>
                  <a:pt x="1480170" y="12499"/>
                </a:lnTo>
                <a:lnTo>
                  <a:pt x="1539770" y="19369"/>
                </a:lnTo>
                <a:lnTo>
                  <a:pt x="1598229" y="27659"/>
                </a:lnTo>
                <a:lnTo>
                  <a:pt x="1655468" y="37332"/>
                </a:lnTo>
                <a:lnTo>
                  <a:pt x="1711410" y="48348"/>
                </a:lnTo>
                <a:lnTo>
                  <a:pt x="1765979" y="60669"/>
                </a:lnTo>
                <a:lnTo>
                  <a:pt x="1819096" y="74255"/>
                </a:lnTo>
                <a:lnTo>
                  <a:pt x="1870684" y="89069"/>
                </a:lnTo>
                <a:lnTo>
                  <a:pt x="1920666" y="105072"/>
                </a:lnTo>
                <a:lnTo>
                  <a:pt x="1968965" y="122225"/>
                </a:lnTo>
                <a:lnTo>
                  <a:pt x="2015502" y="140490"/>
                </a:lnTo>
                <a:lnTo>
                  <a:pt x="2060201" y="159827"/>
                </a:lnTo>
                <a:lnTo>
                  <a:pt x="2102984" y="180198"/>
                </a:lnTo>
                <a:lnTo>
                  <a:pt x="2143774" y="201565"/>
                </a:lnTo>
                <a:lnTo>
                  <a:pt x="2182493" y="223889"/>
                </a:lnTo>
                <a:lnTo>
                  <a:pt x="2219064" y="247130"/>
                </a:lnTo>
                <a:lnTo>
                  <a:pt x="2253410" y="271252"/>
                </a:lnTo>
                <a:lnTo>
                  <a:pt x="2285453" y="296214"/>
                </a:lnTo>
                <a:lnTo>
                  <a:pt x="2315115" y="321978"/>
                </a:lnTo>
                <a:lnTo>
                  <a:pt x="2366990" y="375758"/>
                </a:lnTo>
                <a:lnTo>
                  <a:pt x="2408415" y="432284"/>
                </a:lnTo>
                <a:lnTo>
                  <a:pt x="2438771" y="491245"/>
                </a:lnTo>
                <a:lnTo>
                  <a:pt x="2457439" y="552332"/>
                </a:lnTo>
                <a:lnTo>
                  <a:pt x="2463799" y="615236"/>
                </a:lnTo>
                <a:lnTo>
                  <a:pt x="2462196" y="646896"/>
                </a:lnTo>
                <a:lnTo>
                  <a:pt x="2449605" y="708931"/>
                </a:lnTo>
                <a:lnTo>
                  <a:pt x="2425015" y="768994"/>
                </a:lnTo>
                <a:lnTo>
                  <a:pt x="2389048" y="826775"/>
                </a:lnTo>
                <a:lnTo>
                  <a:pt x="2342320" y="881967"/>
                </a:lnTo>
                <a:lnTo>
                  <a:pt x="2285453" y="934259"/>
                </a:lnTo>
                <a:lnTo>
                  <a:pt x="2253410" y="959221"/>
                </a:lnTo>
                <a:lnTo>
                  <a:pt x="2219064" y="983342"/>
                </a:lnTo>
                <a:lnTo>
                  <a:pt x="2182493" y="1006584"/>
                </a:lnTo>
                <a:lnTo>
                  <a:pt x="2143774" y="1028908"/>
                </a:lnTo>
                <a:lnTo>
                  <a:pt x="2102984" y="1050274"/>
                </a:lnTo>
                <a:lnTo>
                  <a:pt x="2060201" y="1070646"/>
                </a:lnTo>
                <a:lnTo>
                  <a:pt x="2015502" y="1089983"/>
                </a:lnTo>
                <a:lnTo>
                  <a:pt x="1968965" y="1108247"/>
                </a:lnTo>
                <a:lnTo>
                  <a:pt x="1920666" y="1125400"/>
                </a:lnTo>
                <a:lnTo>
                  <a:pt x="1870684" y="1141403"/>
                </a:lnTo>
                <a:lnTo>
                  <a:pt x="1819096" y="1156217"/>
                </a:lnTo>
                <a:lnTo>
                  <a:pt x="1765979" y="1169804"/>
                </a:lnTo>
                <a:lnTo>
                  <a:pt x="1711410" y="1182125"/>
                </a:lnTo>
                <a:lnTo>
                  <a:pt x="1655468" y="1193141"/>
                </a:lnTo>
                <a:lnTo>
                  <a:pt x="1598229" y="1202813"/>
                </a:lnTo>
                <a:lnTo>
                  <a:pt x="1539770" y="1211104"/>
                </a:lnTo>
                <a:lnTo>
                  <a:pt x="1480170" y="1217974"/>
                </a:lnTo>
                <a:lnTo>
                  <a:pt x="1419506" y="1223384"/>
                </a:lnTo>
                <a:lnTo>
                  <a:pt x="1357854" y="1227297"/>
                </a:lnTo>
                <a:lnTo>
                  <a:pt x="1295293" y="1229673"/>
                </a:lnTo>
                <a:lnTo>
                  <a:pt x="1231899" y="1230473"/>
                </a:lnTo>
                <a:lnTo>
                  <a:pt x="1168506" y="1229673"/>
                </a:lnTo>
                <a:lnTo>
                  <a:pt x="1105945" y="1227297"/>
                </a:lnTo>
                <a:lnTo>
                  <a:pt x="1044293" y="1223384"/>
                </a:lnTo>
                <a:lnTo>
                  <a:pt x="983628" y="1217974"/>
                </a:lnTo>
                <a:lnTo>
                  <a:pt x="924028" y="1211104"/>
                </a:lnTo>
                <a:lnTo>
                  <a:pt x="865570" y="1202813"/>
                </a:lnTo>
                <a:lnTo>
                  <a:pt x="808331" y="1193141"/>
                </a:lnTo>
                <a:lnTo>
                  <a:pt x="752388" y="1182125"/>
                </a:lnTo>
                <a:lnTo>
                  <a:pt x="697820" y="1169804"/>
                </a:lnTo>
                <a:lnTo>
                  <a:pt x="644703" y="1156217"/>
                </a:lnTo>
                <a:lnTo>
                  <a:pt x="593114" y="1141403"/>
                </a:lnTo>
                <a:lnTo>
                  <a:pt x="543132" y="1125400"/>
                </a:lnTo>
                <a:lnTo>
                  <a:pt x="494834" y="1108247"/>
                </a:lnTo>
                <a:lnTo>
                  <a:pt x="448297" y="1089983"/>
                </a:lnTo>
                <a:lnTo>
                  <a:pt x="403598" y="1070646"/>
                </a:lnTo>
                <a:lnTo>
                  <a:pt x="360815" y="1050274"/>
                </a:lnTo>
                <a:lnTo>
                  <a:pt x="320025" y="1028908"/>
                </a:lnTo>
                <a:lnTo>
                  <a:pt x="281306" y="1006584"/>
                </a:lnTo>
                <a:lnTo>
                  <a:pt x="244734" y="983342"/>
                </a:lnTo>
                <a:lnTo>
                  <a:pt x="210389" y="959221"/>
                </a:lnTo>
                <a:lnTo>
                  <a:pt x="178346" y="934259"/>
                </a:lnTo>
                <a:lnTo>
                  <a:pt x="148683" y="908495"/>
                </a:lnTo>
                <a:lnTo>
                  <a:pt x="96808" y="854714"/>
                </a:lnTo>
                <a:lnTo>
                  <a:pt x="55383" y="798189"/>
                </a:lnTo>
                <a:lnTo>
                  <a:pt x="25027" y="739228"/>
                </a:lnTo>
                <a:lnTo>
                  <a:pt x="6360" y="678141"/>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17" name="object 17"/>
          <p:cNvSpPr/>
          <p:nvPr/>
        </p:nvSpPr>
        <p:spPr>
          <a:xfrm>
            <a:off x="5101770" y="2617433"/>
            <a:ext cx="205104" cy="1230630"/>
          </a:xfrm>
          <a:custGeom>
            <a:avLst/>
            <a:gdLst/>
            <a:ahLst/>
            <a:cxnLst/>
            <a:rect l="l" t="t" r="r" b="b"/>
            <a:pathLst>
              <a:path w="205104" h="1230629">
                <a:moveTo>
                  <a:pt x="0" y="615236"/>
                </a:moveTo>
                <a:lnTo>
                  <a:pt x="798" y="538062"/>
                </a:lnTo>
                <a:lnTo>
                  <a:pt x="3130" y="463749"/>
                </a:lnTo>
                <a:lnTo>
                  <a:pt x="6899" y="392873"/>
                </a:lnTo>
                <a:lnTo>
                  <a:pt x="12010" y="326010"/>
                </a:lnTo>
                <a:lnTo>
                  <a:pt x="18365" y="263738"/>
                </a:lnTo>
                <a:lnTo>
                  <a:pt x="25870" y="206633"/>
                </a:lnTo>
                <a:lnTo>
                  <a:pt x="34428" y="155271"/>
                </a:lnTo>
                <a:lnTo>
                  <a:pt x="43942" y="110229"/>
                </a:lnTo>
                <a:lnTo>
                  <a:pt x="54317" y="72084"/>
                </a:lnTo>
                <a:lnTo>
                  <a:pt x="77267" y="18789"/>
                </a:lnTo>
                <a:lnTo>
                  <a:pt x="102506" y="0"/>
                </a:lnTo>
                <a:lnTo>
                  <a:pt x="115365" y="4793"/>
                </a:lnTo>
                <a:lnTo>
                  <a:pt x="139555" y="41412"/>
                </a:lnTo>
                <a:lnTo>
                  <a:pt x="161071" y="110229"/>
                </a:lnTo>
                <a:lnTo>
                  <a:pt x="170585" y="155271"/>
                </a:lnTo>
                <a:lnTo>
                  <a:pt x="179143" y="206633"/>
                </a:lnTo>
                <a:lnTo>
                  <a:pt x="186648" y="263738"/>
                </a:lnTo>
                <a:lnTo>
                  <a:pt x="193003" y="326010"/>
                </a:lnTo>
                <a:lnTo>
                  <a:pt x="198113" y="392873"/>
                </a:lnTo>
                <a:lnTo>
                  <a:pt x="201883" y="463749"/>
                </a:lnTo>
                <a:lnTo>
                  <a:pt x="204215" y="538062"/>
                </a:lnTo>
                <a:lnTo>
                  <a:pt x="205013" y="615236"/>
                </a:lnTo>
                <a:lnTo>
                  <a:pt x="204215" y="692410"/>
                </a:lnTo>
                <a:lnTo>
                  <a:pt x="201883" y="766724"/>
                </a:lnTo>
                <a:lnTo>
                  <a:pt x="198113" y="837600"/>
                </a:lnTo>
                <a:lnTo>
                  <a:pt x="193003" y="904462"/>
                </a:lnTo>
                <a:lnTo>
                  <a:pt x="186648" y="966734"/>
                </a:lnTo>
                <a:lnTo>
                  <a:pt x="179143" y="1023839"/>
                </a:lnTo>
                <a:lnTo>
                  <a:pt x="170585" y="1075201"/>
                </a:lnTo>
                <a:lnTo>
                  <a:pt x="161071" y="1120243"/>
                </a:lnTo>
                <a:lnTo>
                  <a:pt x="150695" y="1158388"/>
                </a:lnTo>
                <a:lnTo>
                  <a:pt x="127746" y="1211683"/>
                </a:lnTo>
                <a:lnTo>
                  <a:pt x="102506" y="1230473"/>
                </a:lnTo>
                <a:lnTo>
                  <a:pt x="89648" y="1225680"/>
                </a:lnTo>
                <a:lnTo>
                  <a:pt x="65458" y="1189061"/>
                </a:lnTo>
                <a:lnTo>
                  <a:pt x="43942" y="1120243"/>
                </a:lnTo>
                <a:lnTo>
                  <a:pt x="34428" y="1075201"/>
                </a:lnTo>
                <a:lnTo>
                  <a:pt x="25870" y="1023839"/>
                </a:lnTo>
                <a:lnTo>
                  <a:pt x="18365" y="966734"/>
                </a:lnTo>
                <a:lnTo>
                  <a:pt x="12010" y="904462"/>
                </a:lnTo>
                <a:lnTo>
                  <a:pt x="6899" y="837600"/>
                </a:lnTo>
                <a:lnTo>
                  <a:pt x="3130" y="766724"/>
                </a:lnTo>
                <a:lnTo>
                  <a:pt x="798" y="692410"/>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18" name="object 18"/>
          <p:cNvSpPr/>
          <p:nvPr/>
        </p:nvSpPr>
        <p:spPr>
          <a:xfrm>
            <a:off x="5798460" y="2624690"/>
            <a:ext cx="205104" cy="1230630"/>
          </a:xfrm>
          <a:custGeom>
            <a:avLst/>
            <a:gdLst/>
            <a:ahLst/>
            <a:cxnLst/>
            <a:rect l="l" t="t" r="r" b="b"/>
            <a:pathLst>
              <a:path w="205104" h="1230629">
                <a:moveTo>
                  <a:pt x="0" y="615236"/>
                </a:moveTo>
                <a:lnTo>
                  <a:pt x="798" y="538062"/>
                </a:lnTo>
                <a:lnTo>
                  <a:pt x="3130" y="463749"/>
                </a:lnTo>
                <a:lnTo>
                  <a:pt x="6899" y="392873"/>
                </a:lnTo>
                <a:lnTo>
                  <a:pt x="12010" y="326010"/>
                </a:lnTo>
                <a:lnTo>
                  <a:pt x="18365" y="263738"/>
                </a:lnTo>
                <a:lnTo>
                  <a:pt x="25870" y="206633"/>
                </a:lnTo>
                <a:lnTo>
                  <a:pt x="34428" y="155271"/>
                </a:lnTo>
                <a:lnTo>
                  <a:pt x="43942" y="110229"/>
                </a:lnTo>
                <a:lnTo>
                  <a:pt x="54317" y="72084"/>
                </a:lnTo>
                <a:lnTo>
                  <a:pt x="77267" y="18789"/>
                </a:lnTo>
                <a:lnTo>
                  <a:pt x="102506" y="0"/>
                </a:lnTo>
                <a:lnTo>
                  <a:pt x="115365" y="4793"/>
                </a:lnTo>
                <a:lnTo>
                  <a:pt x="139555" y="41412"/>
                </a:lnTo>
                <a:lnTo>
                  <a:pt x="161071" y="110229"/>
                </a:lnTo>
                <a:lnTo>
                  <a:pt x="170585" y="155271"/>
                </a:lnTo>
                <a:lnTo>
                  <a:pt x="179143" y="206633"/>
                </a:lnTo>
                <a:lnTo>
                  <a:pt x="186648" y="263738"/>
                </a:lnTo>
                <a:lnTo>
                  <a:pt x="193003" y="326010"/>
                </a:lnTo>
                <a:lnTo>
                  <a:pt x="198113" y="392873"/>
                </a:lnTo>
                <a:lnTo>
                  <a:pt x="201883" y="463749"/>
                </a:lnTo>
                <a:lnTo>
                  <a:pt x="204215" y="538062"/>
                </a:lnTo>
                <a:lnTo>
                  <a:pt x="205013" y="615236"/>
                </a:lnTo>
                <a:lnTo>
                  <a:pt x="204215" y="692410"/>
                </a:lnTo>
                <a:lnTo>
                  <a:pt x="201883" y="766724"/>
                </a:lnTo>
                <a:lnTo>
                  <a:pt x="198113" y="837600"/>
                </a:lnTo>
                <a:lnTo>
                  <a:pt x="193003" y="904462"/>
                </a:lnTo>
                <a:lnTo>
                  <a:pt x="186648" y="966734"/>
                </a:lnTo>
                <a:lnTo>
                  <a:pt x="179143" y="1023839"/>
                </a:lnTo>
                <a:lnTo>
                  <a:pt x="170585" y="1075201"/>
                </a:lnTo>
                <a:lnTo>
                  <a:pt x="161071" y="1120243"/>
                </a:lnTo>
                <a:lnTo>
                  <a:pt x="150696" y="1158388"/>
                </a:lnTo>
                <a:lnTo>
                  <a:pt x="127746" y="1211683"/>
                </a:lnTo>
                <a:lnTo>
                  <a:pt x="102506" y="1230473"/>
                </a:lnTo>
                <a:lnTo>
                  <a:pt x="89648" y="1225679"/>
                </a:lnTo>
                <a:lnTo>
                  <a:pt x="65458" y="1189060"/>
                </a:lnTo>
                <a:lnTo>
                  <a:pt x="43942" y="1120243"/>
                </a:lnTo>
                <a:lnTo>
                  <a:pt x="34428" y="1075201"/>
                </a:lnTo>
                <a:lnTo>
                  <a:pt x="25870" y="1023839"/>
                </a:lnTo>
                <a:lnTo>
                  <a:pt x="18365" y="966734"/>
                </a:lnTo>
                <a:lnTo>
                  <a:pt x="12010" y="904462"/>
                </a:lnTo>
                <a:lnTo>
                  <a:pt x="6899" y="837600"/>
                </a:lnTo>
                <a:lnTo>
                  <a:pt x="3130" y="766724"/>
                </a:lnTo>
                <a:lnTo>
                  <a:pt x="798" y="692410"/>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19" name="object 19"/>
          <p:cNvSpPr/>
          <p:nvPr/>
        </p:nvSpPr>
        <p:spPr>
          <a:xfrm>
            <a:off x="6037945" y="2617433"/>
            <a:ext cx="205104" cy="1230630"/>
          </a:xfrm>
          <a:custGeom>
            <a:avLst/>
            <a:gdLst/>
            <a:ahLst/>
            <a:cxnLst/>
            <a:rect l="l" t="t" r="r" b="b"/>
            <a:pathLst>
              <a:path w="205104" h="1230629">
                <a:moveTo>
                  <a:pt x="0" y="615236"/>
                </a:moveTo>
                <a:lnTo>
                  <a:pt x="798" y="538062"/>
                </a:lnTo>
                <a:lnTo>
                  <a:pt x="3130" y="463749"/>
                </a:lnTo>
                <a:lnTo>
                  <a:pt x="6899" y="392873"/>
                </a:lnTo>
                <a:lnTo>
                  <a:pt x="12010" y="326010"/>
                </a:lnTo>
                <a:lnTo>
                  <a:pt x="18365" y="263738"/>
                </a:lnTo>
                <a:lnTo>
                  <a:pt x="25870" y="206633"/>
                </a:lnTo>
                <a:lnTo>
                  <a:pt x="34428" y="155271"/>
                </a:lnTo>
                <a:lnTo>
                  <a:pt x="43942" y="110229"/>
                </a:lnTo>
                <a:lnTo>
                  <a:pt x="54317" y="72084"/>
                </a:lnTo>
                <a:lnTo>
                  <a:pt x="77267" y="18789"/>
                </a:lnTo>
                <a:lnTo>
                  <a:pt x="102506" y="0"/>
                </a:lnTo>
                <a:lnTo>
                  <a:pt x="115365" y="4793"/>
                </a:lnTo>
                <a:lnTo>
                  <a:pt x="139555" y="41412"/>
                </a:lnTo>
                <a:lnTo>
                  <a:pt x="161071" y="110229"/>
                </a:lnTo>
                <a:lnTo>
                  <a:pt x="170585" y="155271"/>
                </a:lnTo>
                <a:lnTo>
                  <a:pt x="179143" y="206633"/>
                </a:lnTo>
                <a:lnTo>
                  <a:pt x="186648" y="263738"/>
                </a:lnTo>
                <a:lnTo>
                  <a:pt x="193003" y="326010"/>
                </a:lnTo>
                <a:lnTo>
                  <a:pt x="198113" y="392873"/>
                </a:lnTo>
                <a:lnTo>
                  <a:pt x="201883" y="463749"/>
                </a:lnTo>
                <a:lnTo>
                  <a:pt x="204215" y="538062"/>
                </a:lnTo>
                <a:lnTo>
                  <a:pt x="205013" y="615236"/>
                </a:lnTo>
                <a:lnTo>
                  <a:pt x="204215" y="692410"/>
                </a:lnTo>
                <a:lnTo>
                  <a:pt x="201883" y="766724"/>
                </a:lnTo>
                <a:lnTo>
                  <a:pt x="198113" y="837600"/>
                </a:lnTo>
                <a:lnTo>
                  <a:pt x="193003" y="904462"/>
                </a:lnTo>
                <a:lnTo>
                  <a:pt x="186648" y="966734"/>
                </a:lnTo>
                <a:lnTo>
                  <a:pt x="179143" y="1023839"/>
                </a:lnTo>
                <a:lnTo>
                  <a:pt x="170585" y="1075201"/>
                </a:lnTo>
                <a:lnTo>
                  <a:pt x="161071" y="1120243"/>
                </a:lnTo>
                <a:lnTo>
                  <a:pt x="150696" y="1158388"/>
                </a:lnTo>
                <a:lnTo>
                  <a:pt x="127746" y="1211683"/>
                </a:lnTo>
                <a:lnTo>
                  <a:pt x="102506" y="1230473"/>
                </a:lnTo>
                <a:lnTo>
                  <a:pt x="89648" y="1225680"/>
                </a:lnTo>
                <a:lnTo>
                  <a:pt x="65458" y="1189061"/>
                </a:lnTo>
                <a:lnTo>
                  <a:pt x="43942" y="1120243"/>
                </a:lnTo>
                <a:lnTo>
                  <a:pt x="34428" y="1075201"/>
                </a:lnTo>
                <a:lnTo>
                  <a:pt x="25870" y="1023839"/>
                </a:lnTo>
                <a:lnTo>
                  <a:pt x="18365" y="966734"/>
                </a:lnTo>
                <a:lnTo>
                  <a:pt x="12010" y="904462"/>
                </a:lnTo>
                <a:lnTo>
                  <a:pt x="6899" y="837600"/>
                </a:lnTo>
                <a:lnTo>
                  <a:pt x="3130" y="766724"/>
                </a:lnTo>
                <a:lnTo>
                  <a:pt x="798" y="692410"/>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20" name="object 20"/>
          <p:cNvSpPr/>
          <p:nvPr/>
        </p:nvSpPr>
        <p:spPr>
          <a:xfrm>
            <a:off x="6814456" y="2624690"/>
            <a:ext cx="205104" cy="1230630"/>
          </a:xfrm>
          <a:custGeom>
            <a:avLst/>
            <a:gdLst/>
            <a:ahLst/>
            <a:cxnLst/>
            <a:rect l="l" t="t" r="r" b="b"/>
            <a:pathLst>
              <a:path w="205104" h="1230629">
                <a:moveTo>
                  <a:pt x="0" y="615236"/>
                </a:moveTo>
                <a:lnTo>
                  <a:pt x="798" y="538062"/>
                </a:lnTo>
                <a:lnTo>
                  <a:pt x="3130" y="463749"/>
                </a:lnTo>
                <a:lnTo>
                  <a:pt x="6899" y="392873"/>
                </a:lnTo>
                <a:lnTo>
                  <a:pt x="12010" y="326010"/>
                </a:lnTo>
                <a:lnTo>
                  <a:pt x="18365" y="263738"/>
                </a:lnTo>
                <a:lnTo>
                  <a:pt x="25870" y="206633"/>
                </a:lnTo>
                <a:lnTo>
                  <a:pt x="34428" y="155271"/>
                </a:lnTo>
                <a:lnTo>
                  <a:pt x="43942" y="110229"/>
                </a:lnTo>
                <a:lnTo>
                  <a:pt x="54317" y="72084"/>
                </a:lnTo>
                <a:lnTo>
                  <a:pt x="77267" y="18789"/>
                </a:lnTo>
                <a:lnTo>
                  <a:pt x="102506" y="0"/>
                </a:lnTo>
                <a:lnTo>
                  <a:pt x="115365" y="4793"/>
                </a:lnTo>
                <a:lnTo>
                  <a:pt x="139555" y="41412"/>
                </a:lnTo>
                <a:lnTo>
                  <a:pt x="161071" y="110229"/>
                </a:lnTo>
                <a:lnTo>
                  <a:pt x="170585" y="155271"/>
                </a:lnTo>
                <a:lnTo>
                  <a:pt x="179143" y="206633"/>
                </a:lnTo>
                <a:lnTo>
                  <a:pt x="186647" y="263738"/>
                </a:lnTo>
                <a:lnTo>
                  <a:pt x="193003" y="326010"/>
                </a:lnTo>
                <a:lnTo>
                  <a:pt x="198113" y="392873"/>
                </a:lnTo>
                <a:lnTo>
                  <a:pt x="201883" y="463749"/>
                </a:lnTo>
                <a:lnTo>
                  <a:pt x="204215" y="538062"/>
                </a:lnTo>
                <a:lnTo>
                  <a:pt x="205013" y="615236"/>
                </a:lnTo>
                <a:lnTo>
                  <a:pt x="204215" y="692410"/>
                </a:lnTo>
                <a:lnTo>
                  <a:pt x="201883" y="766724"/>
                </a:lnTo>
                <a:lnTo>
                  <a:pt x="198113" y="837600"/>
                </a:lnTo>
                <a:lnTo>
                  <a:pt x="193003" y="904462"/>
                </a:lnTo>
                <a:lnTo>
                  <a:pt x="186647" y="966734"/>
                </a:lnTo>
                <a:lnTo>
                  <a:pt x="179143" y="1023839"/>
                </a:lnTo>
                <a:lnTo>
                  <a:pt x="170585" y="1075201"/>
                </a:lnTo>
                <a:lnTo>
                  <a:pt x="161071" y="1120243"/>
                </a:lnTo>
                <a:lnTo>
                  <a:pt x="150695" y="1158388"/>
                </a:lnTo>
                <a:lnTo>
                  <a:pt x="127746" y="1211683"/>
                </a:lnTo>
                <a:lnTo>
                  <a:pt x="102506" y="1230473"/>
                </a:lnTo>
                <a:lnTo>
                  <a:pt x="89648" y="1225679"/>
                </a:lnTo>
                <a:lnTo>
                  <a:pt x="65458" y="1189060"/>
                </a:lnTo>
                <a:lnTo>
                  <a:pt x="43942" y="1120243"/>
                </a:lnTo>
                <a:lnTo>
                  <a:pt x="34428" y="1075201"/>
                </a:lnTo>
                <a:lnTo>
                  <a:pt x="25870" y="1023839"/>
                </a:lnTo>
                <a:lnTo>
                  <a:pt x="18365" y="966734"/>
                </a:lnTo>
                <a:lnTo>
                  <a:pt x="12010" y="904462"/>
                </a:lnTo>
                <a:lnTo>
                  <a:pt x="6899" y="837600"/>
                </a:lnTo>
                <a:lnTo>
                  <a:pt x="3130" y="766724"/>
                </a:lnTo>
                <a:lnTo>
                  <a:pt x="798" y="692410"/>
                </a:lnTo>
                <a:lnTo>
                  <a:pt x="0" y="615236"/>
                </a:lnTo>
                <a:close/>
              </a:path>
            </a:pathLst>
          </a:custGeom>
          <a:ln w="76199">
            <a:solidFill>
              <a:srgbClr val="FDD843"/>
            </a:solidFill>
          </a:ln>
        </p:spPr>
        <p:txBody>
          <a:bodyPr wrap="square" lIns="0" tIns="0" rIns="0" bIns="0" rtlCol="0"/>
          <a:lstStyle/>
          <a:p>
            <a:endParaRPr>
              <a:latin typeface="+mj-lt"/>
            </a:endParaRPr>
          </a:p>
        </p:txBody>
      </p:sp>
      <p:sp>
        <p:nvSpPr>
          <p:cNvPr id="21" name="object 21"/>
          <p:cNvSpPr/>
          <p:nvPr/>
        </p:nvSpPr>
        <p:spPr>
          <a:xfrm>
            <a:off x="3429000" y="3059083"/>
            <a:ext cx="1870363" cy="10099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22" name="object 22"/>
          <p:cNvSpPr/>
          <p:nvPr/>
        </p:nvSpPr>
        <p:spPr>
          <a:xfrm>
            <a:off x="3659843" y="3247285"/>
            <a:ext cx="1407795" cy="586105"/>
          </a:xfrm>
          <a:custGeom>
            <a:avLst/>
            <a:gdLst/>
            <a:ahLst/>
            <a:cxnLst/>
            <a:rect l="l" t="t" r="r" b="b"/>
            <a:pathLst>
              <a:path w="1407795" h="586104">
                <a:moveTo>
                  <a:pt x="0" y="586087"/>
                </a:moveTo>
                <a:lnTo>
                  <a:pt x="1407365" y="0"/>
                </a:lnTo>
              </a:path>
            </a:pathLst>
          </a:custGeom>
          <a:ln w="38099">
            <a:solidFill>
              <a:srgbClr val="FDD843"/>
            </a:solidFill>
          </a:ln>
        </p:spPr>
        <p:txBody>
          <a:bodyPr wrap="square" lIns="0" tIns="0" rIns="0" bIns="0" rtlCol="0"/>
          <a:lstStyle/>
          <a:p>
            <a:endParaRPr>
              <a:latin typeface="+mj-lt"/>
            </a:endParaRPr>
          </a:p>
        </p:txBody>
      </p:sp>
      <p:sp>
        <p:nvSpPr>
          <p:cNvPr id="23" name="object 23"/>
          <p:cNvSpPr/>
          <p:nvPr/>
        </p:nvSpPr>
        <p:spPr>
          <a:xfrm>
            <a:off x="3624941" y="3709008"/>
            <a:ext cx="184931" cy="160852"/>
          </a:xfrm>
          <a:prstGeom prst="rect">
            <a:avLst/>
          </a:prstGeom>
          <a:blipFill>
            <a:blip r:embed="rId5" cstate="print"/>
            <a:stretch>
              <a:fillRect/>
            </a:stretch>
          </a:blipFill>
        </p:spPr>
        <p:txBody>
          <a:bodyPr wrap="square" lIns="0" tIns="0" rIns="0" bIns="0" rtlCol="0"/>
          <a:lstStyle/>
          <a:p>
            <a:endParaRPr>
              <a:latin typeface="+mj-lt"/>
            </a:endParaRPr>
          </a:p>
        </p:txBody>
      </p:sp>
      <p:sp>
        <p:nvSpPr>
          <p:cNvPr id="24" name="object 24"/>
          <p:cNvSpPr/>
          <p:nvPr/>
        </p:nvSpPr>
        <p:spPr>
          <a:xfrm>
            <a:off x="4917179" y="3210794"/>
            <a:ext cx="184931" cy="160853"/>
          </a:xfrm>
          <a:prstGeom prst="rect">
            <a:avLst/>
          </a:prstGeom>
          <a:blipFill>
            <a:blip r:embed="rId6" cstate="print"/>
            <a:stretch>
              <a:fillRect/>
            </a:stretch>
          </a:blipFill>
        </p:spPr>
        <p:txBody>
          <a:bodyPr wrap="square" lIns="0" tIns="0" rIns="0" bIns="0" rtlCol="0"/>
          <a:lstStyle/>
          <a:p>
            <a:endParaRPr>
              <a:latin typeface="+mj-lt"/>
            </a:endParaRPr>
          </a:p>
        </p:txBody>
      </p:sp>
      <p:sp>
        <p:nvSpPr>
          <p:cNvPr id="25" name="object 25"/>
          <p:cNvSpPr txBox="1"/>
          <p:nvPr/>
        </p:nvSpPr>
        <p:spPr>
          <a:xfrm>
            <a:off x="7562528" y="3794156"/>
            <a:ext cx="1518285" cy="1115060"/>
          </a:xfrm>
          <a:prstGeom prst="rect">
            <a:avLst/>
          </a:prstGeom>
        </p:spPr>
        <p:txBody>
          <a:bodyPr vert="horz" wrap="square" lIns="0" tIns="12700" rIns="0" bIns="0" rtlCol="0">
            <a:spAutoFit/>
          </a:bodyPr>
          <a:lstStyle/>
          <a:p>
            <a:pPr marL="12700">
              <a:lnSpc>
                <a:spcPts val="2840"/>
              </a:lnSpc>
              <a:spcBef>
                <a:spcPts val="100"/>
              </a:spcBef>
            </a:pPr>
            <a:r>
              <a:rPr sz="2400" dirty="0">
                <a:latin typeface="+mj-lt"/>
                <a:cs typeface="Calibri" panose="020F0502020204030204"/>
              </a:rPr>
              <a:t>16 cores</a:t>
            </a:r>
            <a:endParaRPr sz="2400">
              <a:latin typeface="+mj-lt"/>
              <a:cs typeface="Calibri" panose="020F0502020204030204"/>
            </a:endParaRPr>
          </a:p>
          <a:p>
            <a:pPr marL="12700" marR="5080">
              <a:lnSpc>
                <a:spcPts val="2900"/>
              </a:lnSpc>
              <a:spcBef>
                <a:spcPts val="40"/>
              </a:spcBef>
            </a:pPr>
            <a:r>
              <a:rPr sz="2400" dirty="0">
                <a:latin typeface="+mj-lt"/>
                <a:cs typeface="Calibri" panose="020F0502020204030204"/>
              </a:rPr>
              <a:t>x 2 sockets,  128GB RAM</a:t>
            </a:r>
            <a:endParaRPr sz="2400">
              <a:latin typeface="+mj-lt"/>
              <a:cs typeface="Calibri" panose="020F0502020204030204"/>
            </a:endParaRPr>
          </a:p>
        </p:txBody>
      </p:sp>
      <p:sp>
        <p:nvSpPr>
          <p:cNvPr id="26" name="object 26"/>
          <p:cNvSpPr txBox="1"/>
          <p:nvPr/>
        </p:nvSpPr>
        <p:spPr>
          <a:xfrm>
            <a:off x="2614641" y="6028838"/>
            <a:ext cx="2587625" cy="358140"/>
          </a:xfrm>
          <a:prstGeom prst="rect">
            <a:avLst/>
          </a:prstGeom>
        </p:spPr>
        <p:txBody>
          <a:bodyPr vert="horz" wrap="square" lIns="0" tIns="20320" rIns="0" bIns="0" rtlCol="0">
            <a:spAutoFit/>
          </a:bodyPr>
          <a:lstStyle/>
          <a:p>
            <a:pPr marL="12700" marR="5080">
              <a:lnSpc>
                <a:spcPts val="1300"/>
              </a:lnSpc>
              <a:spcBef>
                <a:spcPts val="160"/>
              </a:spcBef>
            </a:pPr>
            <a:r>
              <a:rPr sz="1100" dirty="0">
                <a:latin typeface="+mj-lt"/>
                <a:cs typeface="Calibri" panose="020F0502020204030204"/>
              </a:rPr>
              <a:t>Images courtesy of Google Image Search,  Intel, EnterpriseTech.com, NextPlaQorm.com</a:t>
            </a:r>
            <a:endParaRPr sz="1100">
              <a:latin typeface="+mj-lt"/>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p:nvPr/>
        </p:nvSpPr>
        <p:spPr>
          <a:xfrm>
            <a:off x="1589289" y="2237760"/>
            <a:ext cx="6380419" cy="3954176"/>
          </a:xfrm>
          <a:prstGeom prst="rect">
            <a:avLst/>
          </a:prstGeom>
          <a:blipFill>
            <a:blip r:embed="rId2" cstate="print"/>
            <a:stretch>
              <a:fillRect/>
            </a:stretch>
          </a:blipFill>
        </p:spPr>
        <p:txBody>
          <a:bodyPr wrap="square" lIns="0" tIns="0" rIns="0" bIns="0" rtlCol="0"/>
          <a:lstStyle/>
          <a:p>
            <a:endParaRPr>
              <a:latin typeface="+mj-lt"/>
            </a:endParaRPr>
          </a:p>
        </p:txBody>
      </p:sp>
      <p:sp>
        <p:nvSpPr>
          <p:cNvPr id="8" name="object 8"/>
          <p:cNvSpPr txBox="1"/>
          <p:nvPr/>
        </p:nvSpPr>
        <p:spPr>
          <a:xfrm>
            <a:off x="535939" y="1293500"/>
            <a:ext cx="5377180" cy="879728"/>
          </a:xfrm>
          <a:prstGeom prst="rect">
            <a:avLst/>
          </a:prstGeom>
        </p:spPr>
        <p:txBody>
          <a:bodyPr vert="horz" wrap="square" lIns="0" tIns="33020" rIns="0" bIns="0" rtlCol="0">
            <a:spAutoFit/>
          </a:bodyPr>
          <a:lstStyle/>
          <a:p>
            <a:pPr marL="355600" marR="508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And then there are the KNL nodes  (68 cores, MCDRAM, …)</a:t>
            </a:r>
            <a:endParaRPr sz="2800">
              <a:latin typeface="+mj-lt"/>
              <a:cs typeface="Calibri" panose="020F0502020204030204"/>
            </a:endParaRPr>
          </a:p>
        </p:txBody>
      </p:sp>
      <p:sp>
        <p:nvSpPr>
          <p:cNvPr id="9" name="object 9"/>
          <p:cNvSpPr/>
          <p:nvPr/>
        </p:nvSpPr>
        <p:spPr>
          <a:xfrm>
            <a:off x="3595254" y="1554480"/>
            <a:ext cx="3283526" cy="1334192"/>
          </a:xfrm>
          <a:prstGeom prst="rect">
            <a:avLst/>
          </a:prstGeom>
          <a:blipFill>
            <a:blip r:embed="rId3" cstate="print"/>
            <a:stretch>
              <a:fillRect/>
            </a:stretch>
          </a:blipFill>
        </p:spPr>
        <p:txBody>
          <a:bodyPr wrap="square" lIns="0" tIns="0" rIns="0" bIns="0" rtlCol="0"/>
          <a:lstStyle/>
          <a:p>
            <a:endParaRPr>
              <a:latin typeface="+mj-lt"/>
            </a:endParaRPr>
          </a:p>
        </p:txBody>
      </p:sp>
      <p:sp>
        <p:nvSpPr>
          <p:cNvPr id="10" name="object 10"/>
          <p:cNvSpPr/>
          <p:nvPr/>
        </p:nvSpPr>
        <p:spPr>
          <a:xfrm>
            <a:off x="3829878" y="1738655"/>
            <a:ext cx="2814320" cy="920115"/>
          </a:xfrm>
          <a:custGeom>
            <a:avLst/>
            <a:gdLst/>
            <a:ahLst/>
            <a:cxnLst/>
            <a:rect l="l" t="t" r="r" b="b"/>
            <a:pathLst>
              <a:path w="2814320" h="920114">
                <a:moveTo>
                  <a:pt x="0" y="919491"/>
                </a:moveTo>
                <a:lnTo>
                  <a:pt x="2814198" y="0"/>
                </a:lnTo>
              </a:path>
            </a:pathLst>
          </a:custGeom>
          <a:ln w="38099">
            <a:solidFill>
              <a:srgbClr val="FDD843"/>
            </a:solidFill>
          </a:ln>
        </p:spPr>
        <p:txBody>
          <a:bodyPr wrap="square" lIns="0" tIns="0" rIns="0" bIns="0" rtlCol="0"/>
          <a:lstStyle/>
          <a:p>
            <a:endParaRPr>
              <a:latin typeface="+mj-lt"/>
            </a:endParaRPr>
          </a:p>
        </p:txBody>
      </p:sp>
      <p:sp>
        <p:nvSpPr>
          <p:cNvPr id="11" name="object 11"/>
          <p:cNvSpPr/>
          <p:nvPr/>
        </p:nvSpPr>
        <p:spPr>
          <a:xfrm>
            <a:off x="3793940" y="2540252"/>
            <a:ext cx="184013" cy="164493"/>
          </a:xfrm>
          <a:prstGeom prst="rect">
            <a:avLst/>
          </a:prstGeom>
          <a:blipFill>
            <a:blip r:embed="rId4" cstate="print"/>
            <a:stretch>
              <a:fillRect/>
            </a:stretch>
          </a:blipFill>
        </p:spPr>
        <p:txBody>
          <a:bodyPr wrap="square" lIns="0" tIns="0" rIns="0" bIns="0" rtlCol="0"/>
          <a:lstStyle/>
          <a:p>
            <a:endParaRPr>
              <a:latin typeface="+mj-lt"/>
            </a:endParaRPr>
          </a:p>
        </p:txBody>
      </p:sp>
      <p:sp>
        <p:nvSpPr>
          <p:cNvPr id="12" name="object 12"/>
          <p:cNvSpPr/>
          <p:nvPr/>
        </p:nvSpPr>
        <p:spPr>
          <a:xfrm>
            <a:off x="6496000" y="1692055"/>
            <a:ext cx="184013" cy="164493"/>
          </a:xfrm>
          <a:prstGeom prst="rect">
            <a:avLst/>
          </a:prstGeom>
          <a:blipFill>
            <a:blip r:embed="rId5" cstate="print"/>
            <a:stretch>
              <a:fillRect/>
            </a:stretch>
          </a:blipFill>
        </p:spPr>
        <p:txBody>
          <a:bodyPr wrap="square" lIns="0" tIns="0" rIns="0" bIns="0" rtlCol="0"/>
          <a:lstStyle/>
          <a:p>
            <a:endParaRPr>
              <a:latin typeface="+mj-lt"/>
            </a:endParaRPr>
          </a:p>
        </p:txBody>
      </p:sp>
      <p:sp>
        <p:nvSpPr>
          <p:cNvPr id="13" name="object 13"/>
          <p:cNvSpPr/>
          <p:nvPr/>
        </p:nvSpPr>
        <p:spPr>
          <a:xfrm>
            <a:off x="6680198" y="1118863"/>
            <a:ext cx="2373085" cy="1859984"/>
          </a:xfrm>
          <a:prstGeom prst="rect">
            <a:avLst/>
          </a:prstGeom>
          <a:blipFill>
            <a:blip r:embed="rId6" cstate="print"/>
            <a:stretch>
              <a:fillRect/>
            </a:stretch>
          </a:blipFill>
        </p:spPr>
        <p:txBody>
          <a:bodyPr wrap="square" lIns="0" tIns="0" rIns="0" bIns="0" rtlCol="0"/>
          <a:lstStyle/>
          <a:p>
            <a:endParaRPr>
              <a:latin typeface="+mj-lt"/>
            </a:endParaRPr>
          </a:p>
        </p:txBody>
      </p:sp>
      <p:sp>
        <p:nvSpPr>
          <p:cNvPr id="14" name="object 14"/>
          <p:cNvSpPr/>
          <p:nvPr/>
        </p:nvSpPr>
        <p:spPr>
          <a:xfrm>
            <a:off x="6680196" y="1419648"/>
            <a:ext cx="300990" cy="615315"/>
          </a:xfrm>
          <a:custGeom>
            <a:avLst/>
            <a:gdLst/>
            <a:ahLst/>
            <a:cxnLst/>
            <a:rect l="l" t="t" r="r" b="b"/>
            <a:pathLst>
              <a:path w="300990" h="615314">
                <a:moveTo>
                  <a:pt x="0" y="307618"/>
                </a:moveTo>
                <a:lnTo>
                  <a:pt x="3055" y="245622"/>
                </a:lnTo>
                <a:lnTo>
                  <a:pt x="11817" y="187879"/>
                </a:lnTo>
                <a:lnTo>
                  <a:pt x="25681" y="135626"/>
                </a:lnTo>
                <a:lnTo>
                  <a:pt x="44043" y="90099"/>
                </a:lnTo>
                <a:lnTo>
                  <a:pt x="66298" y="52536"/>
                </a:lnTo>
                <a:lnTo>
                  <a:pt x="91841" y="24174"/>
                </a:lnTo>
                <a:lnTo>
                  <a:pt x="150373" y="0"/>
                </a:lnTo>
                <a:lnTo>
                  <a:pt x="180679" y="6249"/>
                </a:lnTo>
                <a:lnTo>
                  <a:pt x="234449" y="52536"/>
                </a:lnTo>
                <a:lnTo>
                  <a:pt x="256704" y="90099"/>
                </a:lnTo>
                <a:lnTo>
                  <a:pt x="275066" y="135626"/>
                </a:lnTo>
                <a:lnTo>
                  <a:pt x="288931" y="187879"/>
                </a:lnTo>
                <a:lnTo>
                  <a:pt x="297693" y="245622"/>
                </a:lnTo>
                <a:lnTo>
                  <a:pt x="300748" y="307618"/>
                </a:lnTo>
                <a:lnTo>
                  <a:pt x="297693" y="369614"/>
                </a:lnTo>
                <a:lnTo>
                  <a:pt x="288931" y="427358"/>
                </a:lnTo>
                <a:lnTo>
                  <a:pt x="275066" y="479611"/>
                </a:lnTo>
                <a:lnTo>
                  <a:pt x="256704" y="525138"/>
                </a:lnTo>
                <a:lnTo>
                  <a:pt x="234449" y="562701"/>
                </a:lnTo>
                <a:lnTo>
                  <a:pt x="208906" y="591063"/>
                </a:lnTo>
                <a:lnTo>
                  <a:pt x="150373" y="615237"/>
                </a:lnTo>
                <a:lnTo>
                  <a:pt x="120068" y="608988"/>
                </a:lnTo>
                <a:lnTo>
                  <a:pt x="66298" y="562701"/>
                </a:lnTo>
                <a:lnTo>
                  <a:pt x="44043" y="525138"/>
                </a:lnTo>
                <a:lnTo>
                  <a:pt x="25681" y="479611"/>
                </a:lnTo>
                <a:lnTo>
                  <a:pt x="11817" y="427358"/>
                </a:lnTo>
                <a:lnTo>
                  <a:pt x="3055" y="369614"/>
                </a:lnTo>
                <a:lnTo>
                  <a:pt x="0" y="307618"/>
                </a:lnTo>
                <a:close/>
              </a:path>
            </a:pathLst>
          </a:custGeom>
          <a:ln w="76199">
            <a:solidFill>
              <a:srgbClr val="FDD843"/>
            </a:solidFill>
          </a:ln>
        </p:spPr>
        <p:txBody>
          <a:bodyPr wrap="square" lIns="0" tIns="0" rIns="0" bIns="0" rtlCol="0"/>
          <a:lstStyle/>
          <a:p>
            <a:endParaRPr>
              <a:latin typeface="+mj-lt"/>
            </a:endParaRPr>
          </a:p>
        </p:txBody>
      </p:sp>
      <p:sp>
        <p:nvSpPr>
          <p:cNvPr id="15" name="object 15"/>
          <p:cNvSpPr/>
          <p:nvPr/>
        </p:nvSpPr>
        <p:spPr>
          <a:xfrm>
            <a:off x="2888680" y="2581999"/>
            <a:ext cx="1061085" cy="600710"/>
          </a:xfrm>
          <a:custGeom>
            <a:avLst/>
            <a:gdLst/>
            <a:ahLst/>
            <a:cxnLst/>
            <a:rect l="l" t="t" r="r" b="b"/>
            <a:pathLst>
              <a:path w="1061085" h="600710">
                <a:moveTo>
                  <a:pt x="0" y="300070"/>
                </a:moveTo>
                <a:lnTo>
                  <a:pt x="14005" y="231267"/>
                </a:lnTo>
                <a:lnTo>
                  <a:pt x="53899" y="168107"/>
                </a:lnTo>
                <a:lnTo>
                  <a:pt x="82559" y="139206"/>
                </a:lnTo>
                <a:lnTo>
                  <a:pt x="116498" y="112391"/>
                </a:lnTo>
                <a:lnTo>
                  <a:pt x="155318" y="87888"/>
                </a:lnTo>
                <a:lnTo>
                  <a:pt x="198620" y="65922"/>
                </a:lnTo>
                <a:lnTo>
                  <a:pt x="246007" y="46717"/>
                </a:lnTo>
                <a:lnTo>
                  <a:pt x="297081" y="30499"/>
                </a:lnTo>
                <a:lnTo>
                  <a:pt x="351444" y="17493"/>
                </a:lnTo>
                <a:lnTo>
                  <a:pt x="408698" y="7925"/>
                </a:lnTo>
                <a:lnTo>
                  <a:pt x="468446" y="2018"/>
                </a:lnTo>
                <a:lnTo>
                  <a:pt x="530288" y="0"/>
                </a:lnTo>
                <a:lnTo>
                  <a:pt x="592131" y="2018"/>
                </a:lnTo>
                <a:lnTo>
                  <a:pt x="651879" y="7925"/>
                </a:lnTo>
                <a:lnTo>
                  <a:pt x="709133" y="17493"/>
                </a:lnTo>
                <a:lnTo>
                  <a:pt x="763496" y="30499"/>
                </a:lnTo>
                <a:lnTo>
                  <a:pt x="814570" y="46717"/>
                </a:lnTo>
                <a:lnTo>
                  <a:pt x="861957" y="65922"/>
                </a:lnTo>
                <a:lnTo>
                  <a:pt x="905259" y="87888"/>
                </a:lnTo>
                <a:lnTo>
                  <a:pt x="944079" y="112391"/>
                </a:lnTo>
                <a:lnTo>
                  <a:pt x="978018" y="139206"/>
                </a:lnTo>
                <a:lnTo>
                  <a:pt x="1006678" y="168107"/>
                </a:lnTo>
                <a:lnTo>
                  <a:pt x="1029662" y="198869"/>
                </a:lnTo>
                <a:lnTo>
                  <a:pt x="1057010" y="265076"/>
                </a:lnTo>
                <a:lnTo>
                  <a:pt x="1060577" y="300070"/>
                </a:lnTo>
                <a:lnTo>
                  <a:pt x="1057010" y="335065"/>
                </a:lnTo>
                <a:lnTo>
                  <a:pt x="1029662" y="401272"/>
                </a:lnTo>
                <a:lnTo>
                  <a:pt x="1006678" y="432034"/>
                </a:lnTo>
                <a:lnTo>
                  <a:pt x="978018" y="460935"/>
                </a:lnTo>
                <a:lnTo>
                  <a:pt x="944079" y="487750"/>
                </a:lnTo>
                <a:lnTo>
                  <a:pt x="905259" y="512253"/>
                </a:lnTo>
                <a:lnTo>
                  <a:pt x="861957" y="534219"/>
                </a:lnTo>
                <a:lnTo>
                  <a:pt x="814570" y="553424"/>
                </a:lnTo>
                <a:lnTo>
                  <a:pt x="763496" y="569642"/>
                </a:lnTo>
                <a:lnTo>
                  <a:pt x="709133" y="582648"/>
                </a:lnTo>
                <a:lnTo>
                  <a:pt x="651879" y="592216"/>
                </a:lnTo>
                <a:lnTo>
                  <a:pt x="592131" y="598123"/>
                </a:lnTo>
                <a:lnTo>
                  <a:pt x="530288" y="600142"/>
                </a:lnTo>
                <a:lnTo>
                  <a:pt x="468446" y="598123"/>
                </a:lnTo>
                <a:lnTo>
                  <a:pt x="408698" y="592216"/>
                </a:lnTo>
                <a:lnTo>
                  <a:pt x="351444" y="582648"/>
                </a:lnTo>
                <a:lnTo>
                  <a:pt x="297081" y="569642"/>
                </a:lnTo>
                <a:lnTo>
                  <a:pt x="246007" y="553424"/>
                </a:lnTo>
                <a:lnTo>
                  <a:pt x="198620" y="534219"/>
                </a:lnTo>
                <a:lnTo>
                  <a:pt x="155318" y="512253"/>
                </a:lnTo>
                <a:lnTo>
                  <a:pt x="116498" y="487750"/>
                </a:lnTo>
                <a:lnTo>
                  <a:pt x="82559" y="460935"/>
                </a:lnTo>
                <a:lnTo>
                  <a:pt x="53899" y="432034"/>
                </a:lnTo>
                <a:lnTo>
                  <a:pt x="30915" y="401272"/>
                </a:lnTo>
                <a:lnTo>
                  <a:pt x="3567" y="335065"/>
                </a:lnTo>
                <a:lnTo>
                  <a:pt x="0" y="300070"/>
                </a:lnTo>
                <a:close/>
              </a:path>
            </a:pathLst>
          </a:custGeom>
          <a:ln w="76199">
            <a:solidFill>
              <a:srgbClr val="FDD843"/>
            </a:solidFill>
          </a:ln>
        </p:spPr>
        <p:txBody>
          <a:bodyPr wrap="square" lIns="0" tIns="0" rIns="0" bIns="0" rtlCol="0"/>
          <a:lstStyle/>
          <a:p>
            <a:endParaRPr>
              <a:latin typeface="+mj-lt"/>
            </a:endParaRPr>
          </a:p>
        </p:txBody>
      </p:sp>
      <p:sp>
        <p:nvSpPr>
          <p:cNvPr id="3"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dirty="0">
                <a:latin typeface="+mj-lt"/>
              </a:rPr>
              <a:t>'</a:t>
            </a:r>
            <a:r>
              <a:rPr dirty="0">
                <a:latin typeface="+mj-lt"/>
              </a:rPr>
              <a:t>s so special about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39" y="1251966"/>
            <a:ext cx="7710170" cy="3583610"/>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But high-end</a:t>
            </a:r>
            <a:r>
              <a:rPr lang="zh-CN" altLang="en-US" sz="2800" b="1" dirty="0">
                <a:latin typeface="Microsoft YaHei UI" panose="020B0503020204020204" pitchFamily="34" charset="-122"/>
                <a:ea typeface="Microsoft YaHei UI" panose="020B0503020204020204" pitchFamily="34" charset="-122"/>
                <a:cs typeface="Calibri" panose="020F0502020204030204"/>
              </a:rPr>
              <a:t>（高端）</a:t>
            </a:r>
            <a:r>
              <a:rPr sz="2800" b="1" dirty="0">
                <a:latin typeface="Microsoft YaHei UI" panose="020B0503020204020204" pitchFamily="34" charset="-122"/>
                <a:ea typeface="Microsoft YaHei UI" panose="020B0503020204020204" pitchFamily="34" charset="-122"/>
                <a:cs typeface="Calibri" panose="020F0502020204030204"/>
              </a:rPr>
              <a:t> </a:t>
            </a:r>
            <a:r>
              <a:rPr sz="2800" b="1" dirty="0">
                <a:latin typeface="+mj-lt"/>
                <a:cs typeface="Calibri" panose="020F0502020204030204"/>
              </a:rPr>
              <a:t>CPUs don’t make a supercomputer</a:t>
            </a:r>
            <a:endParaRPr sz="2800" dirty="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High speed interconnects between them</a:t>
            </a: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Lightweight compute node OS</a:t>
            </a: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Very large (28,000 TB) fast parallel ﬁlesystem</a:t>
            </a:r>
          </a:p>
          <a:p>
            <a:pPr marL="355600" indent="-342900">
              <a:lnSpc>
                <a:spcPct val="100000"/>
              </a:lnSpc>
              <a:spcBef>
                <a:spcPts val="715"/>
              </a:spcBef>
              <a:buFont typeface="Arial" panose="020B0604020202020204"/>
              <a:buChar char="•"/>
              <a:tabLst>
                <a:tab pos="354965" algn="l"/>
                <a:tab pos="355600" algn="l"/>
              </a:tabLst>
            </a:pPr>
            <a:r>
              <a:rPr sz="2800" b="1" dirty="0">
                <a:latin typeface="+mj-lt"/>
                <a:cs typeface="Calibri" panose="020F0502020204030204"/>
              </a:rPr>
              <a:t>…and a diﬀerent usage model</a:t>
            </a:r>
            <a:endParaRPr sz="2800" dirty="0">
              <a:latin typeface="+mj-lt"/>
              <a:cs typeface="Calibri" panose="020F0502020204030204"/>
            </a:endParaRPr>
          </a:p>
          <a:p>
            <a:pPr marL="749300" marR="5080" lvl="1" indent="-279400">
              <a:lnSpc>
                <a:spcPct val="101000"/>
              </a:lnSpc>
              <a:spcBef>
                <a:spcPts val="505"/>
              </a:spcBef>
              <a:buFont typeface="Arial" panose="020B0604020202020204"/>
              <a:buChar char="–"/>
              <a:tabLst>
                <a:tab pos="755650" algn="l"/>
              </a:tabLst>
            </a:pPr>
            <a:r>
              <a:rPr sz="2400" dirty="0">
                <a:latin typeface="+mj-lt"/>
                <a:cs typeface="Calibri" panose="020F0502020204030204"/>
              </a:rPr>
              <a:t>Subset of nodes dedicated to a single task, run via batch  system (no interactive GUI / desktop)</a:t>
            </a:r>
          </a:p>
        </p:txBody>
      </p:sp>
      <p:sp>
        <p:nvSpPr>
          <p:cNvPr id="6"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dirty="0">
                <a:latin typeface="+mj-lt"/>
              </a:rPr>
              <a:t>'</a:t>
            </a:r>
            <a:r>
              <a:rPr dirty="0">
                <a:latin typeface="+mj-lt"/>
              </a:rPr>
              <a:t>s so special about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138350" y="2282969"/>
            <a:ext cx="3617465" cy="4575029"/>
          </a:xfrm>
          <a:prstGeom prst="rect">
            <a:avLst/>
          </a:prstGeom>
          <a:blipFill>
            <a:blip r:embed="rId2" cstate="print"/>
            <a:stretch>
              <a:fillRect/>
            </a:stretch>
          </a:blipFill>
        </p:spPr>
        <p:txBody>
          <a:bodyPr wrap="square" lIns="0" tIns="0" rIns="0" bIns="0" rtlCol="0"/>
          <a:lstStyle/>
          <a:p>
            <a:endParaRPr>
              <a:latin typeface="+mj-lt"/>
            </a:endParaRPr>
          </a:p>
        </p:txBody>
      </p:sp>
      <p:sp>
        <p:nvSpPr>
          <p:cNvPr id="4" name="object 4"/>
          <p:cNvSpPr/>
          <p:nvPr/>
        </p:nvSpPr>
        <p:spPr>
          <a:xfrm>
            <a:off x="3431954" y="2282969"/>
            <a:ext cx="2594610" cy="2054225"/>
          </a:xfrm>
          <a:custGeom>
            <a:avLst/>
            <a:gdLst/>
            <a:ahLst/>
            <a:cxnLst/>
            <a:rect l="l" t="t" r="r" b="b"/>
            <a:pathLst>
              <a:path w="2594610" h="2054225">
                <a:moveTo>
                  <a:pt x="0" y="1026865"/>
                </a:moveTo>
                <a:lnTo>
                  <a:pt x="1081" y="984538"/>
                </a:lnTo>
                <a:lnTo>
                  <a:pt x="4299" y="942646"/>
                </a:lnTo>
                <a:lnTo>
                  <a:pt x="9612" y="901224"/>
                </a:lnTo>
                <a:lnTo>
                  <a:pt x="16977" y="860302"/>
                </a:lnTo>
                <a:lnTo>
                  <a:pt x="26352" y="819916"/>
                </a:lnTo>
                <a:lnTo>
                  <a:pt x="37697" y="780098"/>
                </a:lnTo>
                <a:lnTo>
                  <a:pt x="50969" y="740880"/>
                </a:lnTo>
                <a:lnTo>
                  <a:pt x="66127" y="702296"/>
                </a:lnTo>
                <a:lnTo>
                  <a:pt x="83129" y="664380"/>
                </a:lnTo>
                <a:lnTo>
                  <a:pt x="101933" y="627163"/>
                </a:lnTo>
                <a:lnTo>
                  <a:pt x="122498" y="590679"/>
                </a:lnTo>
                <a:lnTo>
                  <a:pt x="144781" y="554961"/>
                </a:lnTo>
                <a:lnTo>
                  <a:pt x="168742" y="520043"/>
                </a:lnTo>
                <a:lnTo>
                  <a:pt x="194337" y="485956"/>
                </a:lnTo>
                <a:lnTo>
                  <a:pt x="221527" y="452735"/>
                </a:lnTo>
                <a:lnTo>
                  <a:pt x="250268" y="420412"/>
                </a:lnTo>
                <a:lnTo>
                  <a:pt x="280519" y="389020"/>
                </a:lnTo>
                <a:lnTo>
                  <a:pt x="312239" y="358592"/>
                </a:lnTo>
                <a:lnTo>
                  <a:pt x="345385" y="329162"/>
                </a:lnTo>
                <a:lnTo>
                  <a:pt x="379916" y="300762"/>
                </a:lnTo>
                <a:lnTo>
                  <a:pt x="415791" y="273425"/>
                </a:lnTo>
                <a:lnTo>
                  <a:pt x="452967" y="247184"/>
                </a:lnTo>
                <a:lnTo>
                  <a:pt x="491402" y="222074"/>
                </a:lnTo>
                <a:lnTo>
                  <a:pt x="531056" y="198125"/>
                </a:lnTo>
                <a:lnTo>
                  <a:pt x="571886" y="175372"/>
                </a:lnTo>
                <a:lnTo>
                  <a:pt x="613850" y="153848"/>
                </a:lnTo>
                <a:lnTo>
                  <a:pt x="656908" y="133585"/>
                </a:lnTo>
                <a:lnTo>
                  <a:pt x="701016" y="114616"/>
                </a:lnTo>
                <a:lnTo>
                  <a:pt x="746134" y="96976"/>
                </a:lnTo>
                <a:lnTo>
                  <a:pt x="792220" y="80696"/>
                </a:lnTo>
                <a:lnTo>
                  <a:pt x="839231" y="65809"/>
                </a:lnTo>
                <a:lnTo>
                  <a:pt x="887127" y="52350"/>
                </a:lnTo>
                <a:lnTo>
                  <a:pt x="935865" y="40350"/>
                </a:lnTo>
                <a:lnTo>
                  <a:pt x="985404" y="29843"/>
                </a:lnTo>
                <a:lnTo>
                  <a:pt x="1035702" y="20862"/>
                </a:lnTo>
                <a:lnTo>
                  <a:pt x="1086717" y="13439"/>
                </a:lnTo>
                <a:lnTo>
                  <a:pt x="1138408" y="7609"/>
                </a:lnTo>
                <a:lnTo>
                  <a:pt x="1190732" y="3404"/>
                </a:lnTo>
                <a:lnTo>
                  <a:pt x="1243649" y="856"/>
                </a:lnTo>
                <a:lnTo>
                  <a:pt x="1297116" y="0"/>
                </a:lnTo>
                <a:lnTo>
                  <a:pt x="1350583" y="856"/>
                </a:lnTo>
                <a:lnTo>
                  <a:pt x="1403500" y="3404"/>
                </a:lnTo>
                <a:lnTo>
                  <a:pt x="1455824" y="7609"/>
                </a:lnTo>
                <a:lnTo>
                  <a:pt x="1507515" y="13439"/>
                </a:lnTo>
                <a:lnTo>
                  <a:pt x="1558530" y="20862"/>
                </a:lnTo>
                <a:lnTo>
                  <a:pt x="1608828" y="29843"/>
                </a:lnTo>
                <a:lnTo>
                  <a:pt x="1658367" y="40350"/>
                </a:lnTo>
                <a:lnTo>
                  <a:pt x="1707105" y="52350"/>
                </a:lnTo>
                <a:lnTo>
                  <a:pt x="1755001" y="65809"/>
                </a:lnTo>
                <a:lnTo>
                  <a:pt x="1802013" y="80696"/>
                </a:lnTo>
                <a:lnTo>
                  <a:pt x="1848098" y="96976"/>
                </a:lnTo>
                <a:lnTo>
                  <a:pt x="1893216" y="114616"/>
                </a:lnTo>
                <a:lnTo>
                  <a:pt x="1937324" y="133585"/>
                </a:lnTo>
                <a:lnTo>
                  <a:pt x="1980382" y="153848"/>
                </a:lnTo>
                <a:lnTo>
                  <a:pt x="2022346" y="175372"/>
                </a:lnTo>
                <a:lnTo>
                  <a:pt x="2063176" y="198125"/>
                </a:lnTo>
                <a:lnTo>
                  <a:pt x="2102830" y="222074"/>
                </a:lnTo>
                <a:lnTo>
                  <a:pt x="2141266" y="247184"/>
                </a:lnTo>
                <a:lnTo>
                  <a:pt x="2178442" y="273425"/>
                </a:lnTo>
                <a:lnTo>
                  <a:pt x="2214316" y="300762"/>
                </a:lnTo>
                <a:lnTo>
                  <a:pt x="2248847" y="329162"/>
                </a:lnTo>
                <a:lnTo>
                  <a:pt x="2281994" y="358592"/>
                </a:lnTo>
                <a:lnTo>
                  <a:pt x="2313713" y="389020"/>
                </a:lnTo>
                <a:lnTo>
                  <a:pt x="2343965" y="420412"/>
                </a:lnTo>
                <a:lnTo>
                  <a:pt x="2372706" y="452735"/>
                </a:lnTo>
                <a:lnTo>
                  <a:pt x="2399895" y="485956"/>
                </a:lnTo>
                <a:lnTo>
                  <a:pt x="2425491" y="520043"/>
                </a:lnTo>
                <a:lnTo>
                  <a:pt x="2449451" y="554961"/>
                </a:lnTo>
                <a:lnTo>
                  <a:pt x="2471734" y="590679"/>
                </a:lnTo>
                <a:lnTo>
                  <a:pt x="2492299" y="627163"/>
                </a:lnTo>
                <a:lnTo>
                  <a:pt x="2511103" y="664380"/>
                </a:lnTo>
                <a:lnTo>
                  <a:pt x="2528105" y="702296"/>
                </a:lnTo>
                <a:lnTo>
                  <a:pt x="2543263" y="740880"/>
                </a:lnTo>
                <a:lnTo>
                  <a:pt x="2556535" y="780098"/>
                </a:lnTo>
                <a:lnTo>
                  <a:pt x="2567880" y="819916"/>
                </a:lnTo>
                <a:lnTo>
                  <a:pt x="2577256" y="860302"/>
                </a:lnTo>
                <a:lnTo>
                  <a:pt x="2584621" y="901224"/>
                </a:lnTo>
                <a:lnTo>
                  <a:pt x="2589933" y="942646"/>
                </a:lnTo>
                <a:lnTo>
                  <a:pt x="2593151" y="984538"/>
                </a:lnTo>
                <a:lnTo>
                  <a:pt x="2594233" y="1026865"/>
                </a:lnTo>
                <a:lnTo>
                  <a:pt x="2593151" y="1069193"/>
                </a:lnTo>
                <a:lnTo>
                  <a:pt x="2589933" y="1111084"/>
                </a:lnTo>
                <a:lnTo>
                  <a:pt x="2584621" y="1152507"/>
                </a:lnTo>
                <a:lnTo>
                  <a:pt x="2577256" y="1193428"/>
                </a:lnTo>
                <a:lnTo>
                  <a:pt x="2567880" y="1233815"/>
                </a:lnTo>
                <a:lnTo>
                  <a:pt x="2556535" y="1273633"/>
                </a:lnTo>
                <a:lnTo>
                  <a:pt x="2543263" y="1312851"/>
                </a:lnTo>
                <a:lnTo>
                  <a:pt x="2528105" y="1351434"/>
                </a:lnTo>
                <a:lnTo>
                  <a:pt x="2511103" y="1389351"/>
                </a:lnTo>
                <a:lnTo>
                  <a:pt x="2492299" y="1426568"/>
                </a:lnTo>
                <a:lnTo>
                  <a:pt x="2471734" y="1463051"/>
                </a:lnTo>
                <a:lnTo>
                  <a:pt x="2449451" y="1498769"/>
                </a:lnTo>
                <a:lnTo>
                  <a:pt x="2425491" y="1533688"/>
                </a:lnTo>
                <a:lnTo>
                  <a:pt x="2399895" y="1567774"/>
                </a:lnTo>
                <a:lnTo>
                  <a:pt x="2372706" y="1600996"/>
                </a:lnTo>
                <a:lnTo>
                  <a:pt x="2343965" y="1633319"/>
                </a:lnTo>
                <a:lnTo>
                  <a:pt x="2313713" y="1664711"/>
                </a:lnTo>
                <a:lnTo>
                  <a:pt x="2281994" y="1695138"/>
                </a:lnTo>
                <a:lnTo>
                  <a:pt x="2248847" y="1724569"/>
                </a:lnTo>
                <a:lnTo>
                  <a:pt x="2214316" y="1752969"/>
                </a:lnTo>
                <a:lnTo>
                  <a:pt x="2178442" y="1780306"/>
                </a:lnTo>
                <a:lnTo>
                  <a:pt x="2141266" y="1806546"/>
                </a:lnTo>
                <a:lnTo>
                  <a:pt x="2102830" y="1831657"/>
                </a:lnTo>
                <a:lnTo>
                  <a:pt x="2063176" y="1855605"/>
                </a:lnTo>
                <a:lnTo>
                  <a:pt x="2022346" y="1878358"/>
                </a:lnTo>
                <a:lnTo>
                  <a:pt x="1980382" y="1899883"/>
                </a:lnTo>
                <a:lnTo>
                  <a:pt x="1937324" y="1920146"/>
                </a:lnTo>
                <a:lnTo>
                  <a:pt x="1893216" y="1939114"/>
                </a:lnTo>
                <a:lnTo>
                  <a:pt x="1848098" y="1956755"/>
                </a:lnTo>
                <a:lnTo>
                  <a:pt x="1802013" y="1973035"/>
                </a:lnTo>
                <a:lnTo>
                  <a:pt x="1755001" y="1987921"/>
                </a:lnTo>
                <a:lnTo>
                  <a:pt x="1707105" y="2001381"/>
                </a:lnTo>
                <a:lnTo>
                  <a:pt x="1658367" y="2013381"/>
                </a:lnTo>
                <a:lnTo>
                  <a:pt x="1608828" y="2023888"/>
                </a:lnTo>
                <a:lnTo>
                  <a:pt x="1558530" y="2032869"/>
                </a:lnTo>
                <a:lnTo>
                  <a:pt x="1507515" y="2040291"/>
                </a:lnTo>
                <a:lnTo>
                  <a:pt x="1455824" y="2046122"/>
                </a:lnTo>
                <a:lnTo>
                  <a:pt x="1403500" y="2050327"/>
                </a:lnTo>
                <a:lnTo>
                  <a:pt x="1350583" y="2052875"/>
                </a:lnTo>
                <a:lnTo>
                  <a:pt x="1297116" y="2053731"/>
                </a:lnTo>
                <a:lnTo>
                  <a:pt x="1243649" y="2052875"/>
                </a:lnTo>
                <a:lnTo>
                  <a:pt x="1190732" y="2050327"/>
                </a:lnTo>
                <a:lnTo>
                  <a:pt x="1138408" y="2046122"/>
                </a:lnTo>
                <a:lnTo>
                  <a:pt x="1086717" y="2040291"/>
                </a:lnTo>
                <a:lnTo>
                  <a:pt x="1035702" y="2032869"/>
                </a:lnTo>
                <a:lnTo>
                  <a:pt x="985404" y="2023888"/>
                </a:lnTo>
                <a:lnTo>
                  <a:pt x="935865" y="2013381"/>
                </a:lnTo>
                <a:lnTo>
                  <a:pt x="887127" y="2001381"/>
                </a:lnTo>
                <a:lnTo>
                  <a:pt x="839231" y="1987921"/>
                </a:lnTo>
                <a:lnTo>
                  <a:pt x="792220" y="1973035"/>
                </a:lnTo>
                <a:lnTo>
                  <a:pt x="746134" y="1956755"/>
                </a:lnTo>
                <a:lnTo>
                  <a:pt x="701016" y="1939114"/>
                </a:lnTo>
                <a:lnTo>
                  <a:pt x="656908" y="1920146"/>
                </a:lnTo>
                <a:lnTo>
                  <a:pt x="613850" y="1899883"/>
                </a:lnTo>
                <a:lnTo>
                  <a:pt x="571886" y="1878358"/>
                </a:lnTo>
                <a:lnTo>
                  <a:pt x="531056" y="1855605"/>
                </a:lnTo>
                <a:lnTo>
                  <a:pt x="491402" y="1831657"/>
                </a:lnTo>
                <a:lnTo>
                  <a:pt x="452967" y="1806546"/>
                </a:lnTo>
                <a:lnTo>
                  <a:pt x="415791" y="1780306"/>
                </a:lnTo>
                <a:lnTo>
                  <a:pt x="379916" y="1752969"/>
                </a:lnTo>
                <a:lnTo>
                  <a:pt x="345385" y="1724569"/>
                </a:lnTo>
                <a:lnTo>
                  <a:pt x="312239" y="1695138"/>
                </a:lnTo>
                <a:lnTo>
                  <a:pt x="280519" y="1664711"/>
                </a:lnTo>
                <a:lnTo>
                  <a:pt x="250268" y="1633319"/>
                </a:lnTo>
                <a:lnTo>
                  <a:pt x="221527" y="1600996"/>
                </a:lnTo>
                <a:lnTo>
                  <a:pt x="194337" y="1567774"/>
                </a:lnTo>
                <a:lnTo>
                  <a:pt x="168742" y="1533688"/>
                </a:lnTo>
                <a:lnTo>
                  <a:pt x="144781" y="1498769"/>
                </a:lnTo>
                <a:lnTo>
                  <a:pt x="122498" y="1463051"/>
                </a:lnTo>
                <a:lnTo>
                  <a:pt x="101933" y="1426568"/>
                </a:lnTo>
                <a:lnTo>
                  <a:pt x="83129" y="1389351"/>
                </a:lnTo>
                <a:lnTo>
                  <a:pt x="66127" y="1351434"/>
                </a:lnTo>
                <a:lnTo>
                  <a:pt x="50969" y="1312851"/>
                </a:lnTo>
                <a:lnTo>
                  <a:pt x="37697" y="1273633"/>
                </a:lnTo>
                <a:lnTo>
                  <a:pt x="26352" y="1233815"/>
                </a:lnTo>
                <a:lnTo>
                  <a:pt x="16977" y="1193428"/>
                </a:lnTo>
                <a:lnTo>
                  <a:pt x="9612" y="1152507"/>
                </a:lnTo>
                <a:lnTo>
                  <a:pt x="4299" y="1111084"/>
                </a:lnTo>
                <a:lnTo>
                  <a:pt x="1081" y="1069193"/>
                </a:lnTo>
                <a:lnTo>
                  <a:pt x="0" y="1026865"/>
                </a:lnTo>
                <a:close/>
              </a:path>
            </a:pathLst>
          </a:custGeom>
          <a:ln w="76199">
            <a:solidFill>
              <a:srgbClr val="FA9D55"/>
            </a:solidFill>
          </a:ln>
        </p:spPr>
        <p:txBody>
          <a:bodyPr wrap="square" lIns="0" tIns="0" rIns="0" bIns="0" rtlCol="0"/>
          <a:lstStyle/>
          <a:p>
            <a:endParaRPr>
              <a:latin typeface="+mj-lt"/>
            </a:endParaRPr>
          </a:p>
        </p:txBody>
      </p:sp>
      <p:sp>
        <p:nvSpPr>
          <p:cNvPr id="5" name="object 5"/>
          <p:cNvSpPr txBox="1"/>
          <p:nvPr/>
        </p:nvSpPr>
        <p:spPr>
          <a:xfrm>
            <a:off x="535939" y="1328420"/>
            <a:ext cx="7854950" cy="3029034"/>
          </a:xfrm>
          <a:prstGeom prst="rect">
            <a:avLst/>
          </a:prstGeom>
        </p:spPr>
        <p:txBody>
          <a:bodyPr vert="horz" wrap="square" lIns="0" tIns="33020" rIns="0" bIns="0" rtlCol="0">
            <a:spAutoFit/>
          </a:bodyPr>
          <a:lstStyle/>
          <a:p>
            <a:pPr marL="355600" marR="508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Diﬀerent choice of compromise between die space  allocated to diﬀerent parts of the CPU</a:t>
            </a:r>
            <a:endParaRPr sz="2800" dirty="0">
              <a:latin typeface="+mj-lt"/>
              <a:cs typeface="Calibri" panose="020F0502020204030204"/>
            </a:endParaRPr>
          </a:p>
          <a:p>
            <a:pPr marL="12700" marR="5526405">
              <a:lnSpc>
                <a:spcPct val="100000"/>
              </a:lnSpc>
              <a:spcBef>
                <a:spcPts val="1880"/>
              </a:spcBef>
            </a:pPr>
            <a:r>
              <a:rPr sz="1800" dirty="0">
                <a:latin typeface="+mj-lt"/>
                <a:cs typeface="Calibri" panose="020F0502020204030204"/>
              </a:rPr>
              <a:t>Instruction fetch-and-  decode, hyperthreading,  branching (important for  eg compiling, GUI  applications)</a:t>
            </a:r>
            <a:endParaRPr lang="en-US" sz="1800" dirty="0">
              <a:latin typeface="+mj-lt"/>
              <a:cs typeface="Calibri" panose="020F0502020204030204"/>
            </a:endParaRPr>
          </a:p>
          <a:p>
            <a:pPr marL="12700" marR="5526405">
              <a:lnSpc>
                <a:spcPct val="100000"/>
              </a:lnSpc>
              <a:spcBef>
                <a:spcPts val="1880"/>
              </a:spcBef>
            </a:pPr>
            <a:r>
              <a:rPr lang="en-US" altLang="zh-CN" b="1" dirty="0">
                <a:solidFill>
                  <a:srgbClr val="C00000"/>
                </a:solidFill>
                <a:latin typeface="+mj-lt"/>
                <a:cs typeface="Calibri" panose="020F0502020204030204"/>
              </a:rPr>
              <a:t>ILP</a:t>
            </a:r>
            <a:r>
              <a:rPr lang="zh-CN" altLang="en-US" b="1" dirty="0">
                <a:solidFill>
                  <a:srgbClr val="C00000"/>
                </a:solidFill>
                <a:latin typeface="+mj-lt"/>
                <a:cs typeface="Calibri" panose="020F0502020204030204"/>
              </a:rPr>
              <a:t> </a:t>
            </a:r>
            <a:r>
              <a:rPr lang="en-US" altLang="zh-CN" b="1" dirty="0">
                <a:solidFill>
                  <a:srgbClr val="C00000"/>
                </a:solidFill>
                <a:latin typeface="+mj-lt"/>
                <a:cs typeface="Calibri" panose="020F0502020204030204"/>
              </a:rPr>
              <a:t>and</a:t>
            </a:r>
            <a:r>
              <a:rPr lang="zh-CN" altLang="en-US" b="1" dirty="0">
                <a:solidFill>
                  <a:srgbClr val="C00000"/>
                </a:solidFill>
                <a:latin typeface="+mj-lt"/>
                <a:cs typeface="Calibri" panose="020F0502020204030204"/>
              </a:rPr>
              <a:t> </a:t>
            </a:r>
            <a:r>
              <a:rPr lang="en-US" altLang="zh-CN" b="1" dirty="0">
                <a:solidFill>
                  <a:srgbClr val="C00000"/>
                </a:solidFill>
                <a:latin typeface="+mj-lt"/>
                <a:cs typeface="Calibri" panose="020F0502020204030204"/>
              </a:rPr>
              <a:t>CPI</a:t>
            </a:r>
            <a:endParaRPr sz="1800" b="1" dirty="0">
              <a:solidFill>
                <a:srgbClr val="C00000"/>
              </a:solidFill>
              <a:latin typeface="+mj-lt"/>
              <a:cs typeface="Calibri" panose="020F0502020204030204"/>
            </a:endParaRPr>
          </a:p>
        </p:txBody>
      </p:sp>
      <p:sp>
        <p:nvSpPr>
          <p:cNvPr id="6" name="object 6"/>
          <p:cNvSpPr txBox="1"/>
          <p:nvPr/>
        </p:nvSpPr>
        <p:spPr>
          <a:xfrm>
            <a:off x="535939" y="4841347"/>
            <a:ext cx="1706880" cy="1112520"/>
          </a:xfrm>
          <a:prstGeom prst="rect">
            <a:avLst/>
          </a:prstGeom>
        </p:spPr>
        <p:txBody>
          <a:bodyPr vert="horz" wrap="square" lIns="0" tIns="15875" rIns="0" bIns="0" rtlCol="0">
            <a:spAutoFit/>
          </a:bodyPr>
          <a:lstStyle/>
          <a:p>
            <a:pPr marL="12700" marR="5080">
              <a:lnSpc>
                <a:spcPct val="99000"/>
              </a:lnSpc>
              <a:spcBef>
                <a:spcPts val="125"/>
              </a:spcBef>
            </a:pPr>
            <a:r>
              <a:rPr sz="1800" dirty="0">
                <a:latin typeface="+mj-lt"/>
                <a:cs typeface="Calibri" panose="020F0502020204030204"/>
              </a:rPr>
              <a:t>Arithmetic, vector  and ﬂoating point  units – the actual  </a:t>
            </a:r>
            <a:r>
              <a:rPr sz="1800" b="1" dirty="0">
                <a:solidFill>
                  <a:srgbClr val="C00000"/>
                </a:solidFill>
                <a:latin typeface="+mj-lt"/>
                <a:cs typeface="Calibri" panose="020F0502020204030204"/>
              </a:rPr>
              <a:t>FLOPS</a:t>
            </a:r>
          </a:p>
        </p:txBody>
      </p:sp>
      <p:sp>
        <p:nvSpPr>
          <p:cNvPr id="7" name="object 7"/>
          <p:cNvSpPr/>
          <p:nvPr/>
        </p:nvSpPr>
        <p:spPr>
          <a:xfrm>
            <a:off x="3138350" y="4637493"/>
            <a:ext cx="1402080" cy="1955800"/>
          </a:xfrm>
          <a:custGeom>
            <a:avLst/>
            <a:gdLst/>
            <a:ahLst/>
            <a:cxnLst/>
            <a:rect l="l" t="t" r="r" b="b"/>
            <a:pathLst>
              <a:path w="1402079" h="1955800">
                <a:moveTo>
                  <a:pt x="0" y="977686"/>
                </a:moveTo>
                <a:lnTo>
                  <a:pt x="1109" y="922207"/>
                </a:lnTo>
                <a:lnTo>
                  <a:pt x="4397" y="867539"/>
                </a:lnTo>
                <a:lnTo>
                  <a:pt x="9806" y="813766"/>
                </a:lnTo>
                <a:lnTo>
                  <a:pt x="17276" y="760969"/>
                </a:lnTo>
                <a:lnTo>
                  <a:pt x="26747" y="709233"/>
                </a:lnTo>
                <a:lnTo>
                  <a:pt x="38161" y="658638"/>
                </a:lnTo>
                <a:lnTo>
                  <a:pt x="51459" y="609268"/>
                </a:lnTo>
                <a:lnTo>
                  <a:pt x="66580" y="561205"/>
                </a:lnTo>
                <a:lnTo>
                  <a:pt x="83467" y="514532"/>
                </a:lnTo>
                <a:lnTo>
                  <a:pt x="102060" y="469331"/>
                </a:lnTo>
                <a:lnTo>
                  <a:pt x="122300" y="425684"/>
                </a:lnTo>
                <a:lnTo>
                  <a:pt x="144127" y="383675"/>
                </a:lnTo>
                <a:lnTo>
                  <a:pt x="167483" y="343386"/>
                </a:lnTo>
                <a:lnTo>
                  <a:pt x="192308" y="304899"/>
                </a:lnTo>
                <a:lnTo>
                  <a:pt x="218543" y="268297"/>
                </a:lnTo>
                <a:lnTo>
                  <a:pt x="246130" y="233662"/>
                </a:lnTo>
                <a:lnTo>
                  <a:pt x="275008" y="201078"/>
                </a:lnTo>
                <a:lnTo>
                  <a:pt x="305119" y="170625"/>
                </a:lnTo>
                <a:lnTo>
                  <a:pt x="336404" y="142388"/>
                </a:lnTo>
                <a:lnTo>
                  <a:pt x="368802" y="116449"/>
                </a:lnTo>
                <a:lnTo>
                  <a:pt x="402257" y="92889"/>
                </a:lnTo>
                <a:lnTo>
                  <a:pt x="436707" y="71792"/>
                </a:lnTo>
                <a:lnTo>
                  <a:pt x="472094" y="53240"/>
                </a:lnTo>
                <a:lnTo>
                  <a:pt x="508359" y="37316"/>
                </a:lnTo>
                <a:lnTo>
                  <a:pt x="545442" y="24102"/>
                </a:lnTo>
                <a:lnTo>
                  <a:pt x="583285" y="13681"/>
                </a:lnTo>
                <a:lnTo>
                  <a:pt x="621829" y="6135"/>
                </a:lnTo>
                <a:lnTo>
                  <a:pt x="661013" y="1547"/>
                </a:lnTo>
                <a:lnTo>
                  <a:pt x="700779" y="0"/>
                </a:lnTo>
                <a:lnTo>
                  <a:pt x="740546" y="1547"/>
                </a:lnTo>
                <a:lnTo>
                  <a:pt x="779730" y="6135"/>
                </a:lnTo>
                <a:lnTo>
                  <a:pt x="818273" y="13681"/>
                </a:lnTo>
                <a:lnTo>
                  <a:pt x="856116" y="24102"/>
                </a:lnTo>
                <a:lnTo>
                  <a:pt x="893200" y="37316"/>
                </a:lnTo>
                <a:lnTo>
                  <a:pt x="929465" y="53240"/>
                </a:lnTo>
                <a:lnTo>
                  <a:pt x="964852" y="71792"/>
                </a:lnTo>
                <a:lnTo>
                  <a:pt x="999302" y="92889"/>
                </a:lnTo>
                <a:lnTo>
                  <a:pt x="1032756" y="116449"/>
                </a:lnTo>
                <a:lnTo>
                  <a:pt x="1065155" y="142388"/>
                </a:lnTo>
                <a:lnTo>
                  <a:pt x="1096440" y="170625"/>
                </a:lnTo>
                <a:lnTo>
                  <a:pt x="1126551" y="201078"/>
                </a:lnTo>
                <a:lnTo>
                  <a:pt x="1155429" y="233662"/>
                </a:lnTo>
                <a:lnTo>
                  <a:pt x="1183015" y="268297"/>
                </a:lnTo>
                <a:lnTo>
                  <a:pt x="1209251" y="304899"/>
                </a:lnTo>
                <a:lnTo>
                  <a:pt x="1234076" y="343386"/>
                </a:lnTo>
                <a:lnTo>
                  <a:pt x="1257432" y="383675"/>
                </a:lnTo>
                <a:lnTo>
                  <a:pt x="1279259" y="425684"/>
                </a:lnTo>
                <a:lnTo>
                  <a:pt x="1299499" y="469331"/>
                </a:lnTo>
                <a:lnTo>
                  <a:pt x="1318092" y="514532"/>
                </a:lnTo>
                <a:lnTo>
                  <a:pt x="1334978" y="561205"/>
                </a:lnTo>
                <a:lnTo>
                  <a:pt x="1350100" y="609268"/>
                </a:lnTo>
                <a:lnTo>
                  <a:pt x="1363398" y="658638"/>
                </a:lnTo>
                <a:lnTo>
                  <a:pt x="1374812" y="709233"/>
                </a:lnTo>
                <a:lnTo>
                  <a:pt x="1384283" y="760969"/>
                </a:lnTo>
                <a:lnTo>
                  <a:pt x="1391753" y="813766"/>
                </a:lnTo>
                <a:lnTo>
                  <a:pt x="1397161" y="867539"/>
                </a:lnTo>
                <a:lnTo>
                  <a:pt x="1400450" y="922207"/>
                </a:lnTo>
                <a:lnTo>
                  <a:pt x="1401559" y="977686"/>
                </a:lnTo>
                <a:lnTo>
                  <a:pt x="1400450" y="1033166"/>
                </a:lnTo>
                <a:lnTo>
                  <a:pt x="1397161" y="1087833"/>
                </a:lnTo>
                <a:lnTo>
                  <a:pt x="1391753" y="1141607"/>
                </a:lnTo>
                <a:lnTo>
                  <a:pt x="1384283" y="1194403"/>
                </a:lnTo>
                <a:lnTo>
                  <a:pt x="1374812" y="1246140"/>
                </a:lnTo>
                <a:lnTo>
                  <a:pt x="1363398" y="1296734"/>
                </a:lnTo>
                <a:lnTo>
                  <a:pt x="1350100" y="1346104"/>
                </a:lnTo>
                <a:lnTo>
                  <a:pt x="1334978" y="1394167"/>
                </a:lnTo>
                <a:lnTo>
                  <a:pt x="1318092" y="1440841"/>
                </a:lnTo>
                <a:lnTo>
                  <a:pt x="1299499" y="1486042"/>
                </a:lnTo>
                <a:lnTo>
                  <a:pt x="1279259" y="1529688"/>
                </a:lnTo>
                <a:lnTo>
                  <a:pt x="1257432" y="1571697"/>
                </a:lnTo>
                <a:lnTo>
                  <a:pt x="1234076" y="1611986"/>
                </a:lnTo>
                <a:lnTo>
                  <a:pt x="1209251" y="1650473"/>
                </a:lnTo>
                <a:lnTo>
                  <a:pt x="1183015" y="1687075"/>
                </a:lnTo>
                <a:lnTo>
                  <a:pt x="1155429" y="1721710"/>
                </a:lnTo>
                <a:lnTo>
                  <a:pt x="1126551" y="1754295"/>
                </a:lnTo>
                <a:lnTo>
                  <a:pt x="1096440" y="1784747"/>
                </a:lnTo>
                <a:lnTo>
                  <a:pt x="1065155" y="1812984"/>
                </a:lnTo>
                <a:lnTo>
                  <a:pt x="1032756" y="1838924"/>
                </a:lnTo>
                <a:lnTo>
                  <a:pt x="999302" y="1862483"/>
                </a:lnTo>
                <a:lnTo>
                  <a:pt x="964852" y="1883580"/>
                </a:lnTo>
                <a:lnTo>
                  <a:pt x="929465" y="1902132"/>
                </a:lnTo>
                <a:lnTo>
                  <a:pt x="893200" y="1918056"/>
                </a:lnTo>
                <a:lnTo>
                  <a:pt x="856116" y="1931270"/>
                </a:lnTo>
                <a:lnTo>
                  <a:pt x="818273" y="1941691"/>
                </a:lnTo>
                <a:lnTo>
                  <a:pt x="779730" y="1949237"/>
                </a:lnTo>
                <a:lnTo>
                  <a:pt x="740546" y="1953825"/>
                </a:lnTo>
                <a:lnTo>
                  <a:pt x="700779" y="1955373"/>
                </a:lnTo>
                <a:lnTo>
                  <a:pt x="661013" y="1953825"/>
                </a:lnTo>
                <a:lnTo>
                  <a:pt x="621829" y="1949237"/>
                </a:lnTo>
                <a:lnTo>
                  <a:pt x="583285" y="1941691"/>
                </a:lnTo>
                <a:lnTo>
                  <a:pt x="545442" y="1931270"/>
                </a:lnTo>
                <a:lnTo>
                  <a:pt x="508359" y="1918056"/>
                </a:lnTo>
                <a:lnTo>
                  <a:pt x="472094" y="1902132"/>
                </a:lnTo>
                <a:lnTo>
                  <a:pt x="436707" y="1883580"/>
                </a:lnTo>
                <a:lnTo>
                  <a:pt x="402257" y="1862483"/>
                </a:lnTo>
                <a:lnTo>
                  <a:pt x="368802" y="1838924"/>
                </a:lnTo>
                <a:lnTo>
                  <a:pt x="336404" y="1812984"/>
                </a:lnTo>
                <a:lnTo>
                  <a:pt x="305119" y="1784747"/>
                </a:lnTo>
                <a:lnTo>
                  <a:pt x="275008" y="1754295"/>
                </a:lnTo>
                <a:lnTo>
                  <a:pt x="246130" y="1721710"/>
                </a:lnTo>
                <a:lnTo>
                  <a:pt x="218543" y="1687075"/>
                </a:lnTo>
                <a:lnTo>
                  <a:pt x="192308" y="1650473"/>
                </a:lnTo>
                <a:lnTo>
                  <a:pt x="167483" y="1611986"/>
                </a:lnTo>
                <a:lnTo>
                  <a:pt x="144127" y="1571697"/>
                </a:lnTo>
                <a:lnTo>
                  <a:pt x="122300" y="1529688"/>
                </a:lnTo>
                <a:lnTo>
                  <a:pt x="102060" y="1486042"/>
                </a:lnTo>
                <a:lnTo>
                  <a:pt x="83467" y="1440841"/>
                </a:lnTo>
                <a:lnTo>
                  <a:pt x="66580" y="1394167"/>
                </a:lnTo>
                <a:lnTo>
                  <a:pt x="51459" y="1346104"/>
                </a:lnTo>
                <a:lnTo>
                  <a:pt x="38161" y="1296734"/>
                </a:lnTo>
                <a:lnTo>
                  <a:pt x="26747" y="1246140"/>
                </a:lnTo>
                <a:lnTo>
                  <a:pt x="17276" y="1194403"/>
                </a:lnTo>
                <a:lnTo>
                  <a:pt x="9806" y="1141607"/>
                </a:lnTo>
                <a:lnTo>
                  <a:pt x="4397" y="1087833"/>
                </a:lnTo>
                <a:lnTo>
                  <a:pt x="1109" y="1033166"/>
                </a:lnTo>
                <a:lnTo>
                  <a:pt x="0" y="977686"/>
                </a:lnTo>
                <a:close/>
              </a:path>
            </a:pathLst>
          </a:custGeom>
          <a:ln w="76199">
            <a:solidFill>
              <a:srgbClr val="FF2600"/>
            </a:solidFill>
          </a:ln>
        </p:spPr>
        <p:txBody>
          <a:bodyPr wrap="square" lIns="0" tIns="0" rIns="0" bIns="0" rtlCol="0"/>
          <a:lstStyle/>
          <a:p>
            <a:endParaRPr>
              <a:latin typeface="+mj-lt"/>
            </a:endParaRPr>
          </a:p>
        </p:txBody>
      </p:sp>
      <p:sp>
        <p:nvSpPr>
          <p:cNvPr id="8" name="object 8"/>
          <p:cNvSpPr/>
          <p:nvPr/>
        </p:nvSpPr>
        <p:spPr>
          <a:xfrm>
            <a:off x="4692309" y="4637493"/>
            <a:ext cx="2063750" cy="2063750"/>
          </a:xfrm>
          <a:custGeom>
            <a:avLst/>
            <a:gdLst/>
            <a:ahLst/>
            <a:cxnLst/>
            <a:rect l="l" t="t" r="r" b="b"/>
            <a:pathLst>
              <a:path w="2063750" h="2063750">
                <a:moveTo>
                  <a:pt x="0" y="1031726"/>
                </a:moveTo>
                <a:lnTo>
                  <a:pt x="1123" y="983158"/>
                </a:lnTo>
                <a:lnTo>
                  <a:pt x="4458" y="935168"/>
                </a:lnTo>
                <a:lnTo>
                  <a:pt x="9958" y="887805"/>
                </a:lnTo>
                <a:lnTo>
                  <a:pt x="17571" y="841120"/>
                </a:lnTo>
                <a:lnTo>
                  <a:pt x="27249" y="795161"/>
                </a:lnTo>
                <a:lnTo>
                  <a:pt x="38941" y="749978"/>
                </a:lnTo>
                <a:lnTo>
                  <a:pt x="52599" y="705621"/>
                </a:lnTo>
                <a:lnTo>
                  <a:pt x="68172" y="662139"/>
                </a:lnTo>
                <a:lnTo>
                  <a:pt x="85612" y="619582"/>
                </a:lnTo>
                <a:lnTo>
                  <a:pt x="104868" y="577999"/>
                </a:lnTo>
                <a:lnTo>
                  <a:pt x="125891" y="537440"/>
                </a:lnTo>
                <a:lnTo>
                  <a:pt x="148632" y="497954"/>
                </a:lnTo>
                <a:lnTo>
                  <a:pt x="173041" y="459592"/>
                </a:lnTo>
                <a:lnTo>
                  <a:pt x="199068" y="422402"/>
                </a:lnTo>
                <a:lnTo>
                  <a:pt x="226664" y="386434"/>
                </a:lnTo>
                <a:lnTo>
                  <a:pt x="255780" y="351737"/>
                </a:lnTo>
                <a:lnTo>
                  <a:pt x="286365" y="318362"/>
                </a:lnTo>
                <a:lnTo>
                  <a:pt x="318370" y="286357"/>
                </a:lnTo>
                <a:lnTo>
                  <a:pt x="351747" y="255773"/>
                </a:lnTo>
                <a:lnTo>
                  <a:pt x="386444" y="226658"/>
                </a:lnTo>
                <a:lnTo>
                  <a:pt x="422413" y="199063"/>
                </a:lnTo>
                <a:lnTo>
                  <a:pt x="459604" y="173036"/>
                </a:lnTo>
                <a:lnTo>
                  <a:pt x="497967" y="148628"/>
                </a:lnTo>
                <a:lnTo>
                  <a:pt x="537454" y="125888"/>
                </a:lnTo>
                <a:lnTo>
                  <a:pt x="578014" y="104865"/>
                </a:lnTo>
                <a:lnTo>
                  <a:pt x="619598" y="85610"/>
                </a:lnTo>
                <a:lnTo>
                  <a:pt x="662156" y="68171"/>
                </a:lnTo>
                <a:lnTo>
                  <a:pt x="705639" y="52598"/>
                </a:lnTo>
                <a:lnTo>
                  <a:pt x="749998" y="38940"/>
                </a:lnTo>
                <a:lnTo>
                  <a:pt x="795182" y="27248"/>
                </a:lnTo>
                <a:lnTo>
                  <a:pt x="841142" y="17571"/>
                </a:lnTo>
                <a:lnTo>
                  <a:pt x="887829" y="9958"/>
                </a:lnTo>
                <a:lnTo>
                  <a:pt x="935192" y="4458"/>
                </a:lnTo>
                <a:lnTo>
                  <a:pt x="983184" y="1122"/>
                </a:lnTo>
                <a:lnTo>
                  <a:pt x="1031753" y="0"/>
                </a:lnTo>
                <a:lnTo>
                  <a:pt x="1080323" y="1122"/>
                </a:lnTo>
                <a:lnTo>
                  <a:pt x="1128314" y="4458"/>
                </a:lnTo>
                <a:lnTo>
                  <a:pt x="1175678" y="9958"/>
                </a:lnTo>
                <a:lnTo>
                  <a:pt x="1222365" y="17571"/>
                </a:lnTo>
                <a:lnTo>
                  <a:pt x="1268325" y="27248"/>
                </a:lnTo>
                <a:lnTo>
                  <a:pt x="1313509" y="38940"/>
                </a:lnTo>
                <a:lnTo>
                  <a:pt x="1357867" y="52598"/>
                </a:lnTo>
                <a:lnTo>
                  <a:pt x="1401350" y="68171"/>
                </a:lnTo>
                <a:lnTo>
                  <a:pt x="1443908" y="85610"/>
                </a:lnTo>
                <a:lnTo>
                  <a:pt x="1485492" y="104865"/>
                </a:lnTo>
                <a:lnTo>
                  <a:pt x="1526052" y="125888"/>
                </a:lnTo>
                <a:lnTo>
                  <a:pt x="1565539" y="148628"/>
                </a:lnTo>
                <a:lnTo>
                  <a:pt x="1603902" y="173036"/>
                </a:lnTo>
                <a:lnTo>
                  <a:pt x="1641094" y="199063"/>
                </a:lnTo>
                <a:lnTo>
                  <a:pt x="1677063" y="226658"/>
                </a:lnTo>
                <a:lnTo>
                  <a:pt x="1711760" y="255773"/>
                </a:lnTo>
                <a:lnTo>
                  <a:pt x="1745136" y="286357"/>
                </a:lnTo>
                <a:lnTo>
                  <a:pt x="1777142" y="318362"/>
                </a:lnTo>
                <a:lnTo>
                  <a:pt x="1807727" y="351737"/>
                </a:lnTo>
                <a:lnTo>
                  <a:pt x="1836842" y="386434"/>
                </a:lnTo>
                <a:lnTo>
                  <a:pt x="1864438" y="422402"/>
                </a:lnTo>
                <a:lnTo>
                  <a:pt x="1890465" y="459592"/>
                </a:lnTo>
                <a:lnTo>
                  <a:pt x="1914874" y="497954"/>
                </a:lnTo>
                <a:lnTo>
                  <a:pt x="1937615" y="537440"/>
                </a:lnTo>
                <a:lnTo>
                  <a:pt x="1958638" y="577999"/>
                </a:lnTo>
                <a:lnTo>
                  <a:pt x="1977894" y="619582"/>
                </a:lnTo>
                <a:lnTo>
                  <a:pt x="1995334" y="662139"/>
                </a:lnTo>
                <a:lnTo>
                  <a:pt x="2010907" y="705621"/>
                </a:lnTo>
                <a:lnTo>
                  <a:pt x="2024565" y="749978"/>
                </a:lnTo>
                <a:lnTo>
                  <a:pt x="2036258" y="795161"/>
                </a:lnTo>
                <a:lnTo>
                  <a:pt x="2045935" y="841120"/>
                </a:lnTo>
                <a:lnTo>
                  <a:pt x="2053549" y="887805"/>
                </a:lnTo>
                <a:lnTo>
                  <a:pt x="2059048" y="935168"/>
                </a:lnTo>
                <a:lnTo>
                  <a:pt x="2062384" y="983158"/>
                </a:lnTo>
                <a:lnTo>
                  <a:pt x="2063507" y="1031726"/>
                </a:lnTo>
                <a:lnTo>
                  <a:pt x="2062384" y="1080294"/>
                </a:lnTo>
                <a:lnTo>
                  <a:pt x="2059048" y="1128285"/>
                </a:lnTo>
                <a:lnTo>
                  <a:pt x="2053549" y="1175647"/>
                </a:lnTo>
                <a:lnTo>
                  <a:pt x="2045935" y="1222333"/>
                </a:lnTo>
                <a:lnTo>
                  <a:pt x="2036258" y="1268292"/>
                </a:lnTo>
                <a:lnTo>
                  <a:pt x="2024565" y="1313475"/>
                </a:lnTo>
                <a:lnTo>
                  <a:pt x="2010907" y="1357832"/>
                </a:lnTo>
                <a:lnTo>
                  <a:pt x="1995334" y="1401314"/>
                </a:lnTo>
                <a:lnTo>
                  <a:pt x="1977894" y="1443871"/>
                </a:lnTo>
                <a:lnTo>
                  <a:pt x="1958638" y="1485454"/>
                </a:lnTo>
                <a:lnTo>
                  <a:pt x="1937615" y="1526012"/>
                </a:lnTo>
                <a:lnTo>
                  <a:pt x="1914874" y="1565498"/>
                </a:lnTo>
                <a:lnTo>
                  <a:pt x="1890465" y="1603861"/>
                </a:lnTo>
                <a:lnTo>
                  <a:pt x="1864438" y="1641051"/>
                </a:lnTo>
                <a:lnTo>
                  <a:pt x="1836842" y="1677019"/>
                </a:lnTo>
                <a:lnTo>
                  <a:pt x="1807727" y="1711715"/>
                </a:lnTo>
                <a:lnTo>
                  <a:pt x="1777142" y="1745090"/>
                </a:lnTo>
                <a:lnTo>
                  <a:pt x="1745136" y="1777095"/>
                </a:lnTo>
                <a:lnTo>
                  <a:pt x="1711760" y="1807680"/>
                </a:lnTo>
                <a:lnTo>
                  <a:pt x="1677063" y="1836794"/>
                </a:lnTo>
                <a:lnTo>
                  <a:pt x="1641094" y="1864390"/>
                </a:lnTo>
                <a:lnTo>
                  <a:pt x="1603902" y="1890416"/>
                </a:lnTo>
                <a:lnTo>
                  <a:pt x="1565539" y="1914824"/>
                </a:lnTo>
                <a:lnTo>
                  <a:pt x="1526052" y="1937564"/>
                </a:lnTo>
                <a:lnTo>
                  <a:pt x="1485492" y="1958587"/>
                </a:lnTo>
                <a:lnTo>
                  <a:pt x="1443908" y="1977843"/>
                </a:lnTo>
                <a:lnTo>
                  <a:pt x="1401350" y="1995282"/>
                </a:lnTo>
                <a:lnTo>
                  <a:pt x="1357867" y="2010855"/>
                </a:lnTo>
                <a:lnTo>
                  <a:pt x="1313509" y="2024512"/>
                </a:lnTo>
                <a:lnTo>
                  <a:pt x="1268325" y="2036204"/>
                </a:lnTo>
                <a:lnTo>
                  <a:pt x="1222365" y="2045882"/>
                </a:lnTo>
                <a:lnTo>
                  <a:pt x="1175678" y="2053495"/>
                </a:lnTo>
                <a:lnTo>
                  <a:pt x="1128314" y="2058994"/>
                </a:lnTo>
                <a:lnTo>
                  <a:pt x="1080323" y="2062330"/>
                </a:lnTo>
                <a:lnTo>
                  <a:pt x="1031753" y="2063453"/>
                </a:lnTo>
                <a:lnTo>
                  <a:pt x="983184" y="2062330"/>
                </a:lnTo>
                <a:lnTo>
                  <a:pt x="935192" y="2058994"/>
                </a:lnTo>
                <a:lnTo>
                  <a:pt x="887829" y="2053495"/>
                </a:lnTo>
                <a:lnTo>
                  <a:pt x="841142" y="2045882"/>
                </a:lnTo>
                <a:lnTo>
                  <a:pt x="795182" y="2036204"/>
                </a:lnTo>
                <a:lnTo>
                  <a:pt x="749998" y="2024512"/>
                </a:lnTo>
                <a:lnTo>
                  <a:pt x="705639" y="2010855"/>
                </a:lnTo>
                <a:lnTo>
                  <a:pt x="662156" y="1995282"/>
                </a:lnTo>
                <a:lnTo>
                  <a:pt x="619598" y="1977843"/>
                </a:lnTo>
                <a:lnTo>
                  <a:pt x="578014" y="1958587"/>
                </a:lnTo>
                <a:lnTo>
                  <a:pt x="537454" y="1937564"/>
                </a:lnTo>
                <a:lnTo>
                  <a:pt x="497967" y="1914824"/>
                </a:lnTo>
                <a:lnTo>
                  <a:pt x="459604" y="1890416"/>
                </a:lnTo>
                <a:lnTo>
                  <a:pt x="422413" y="1864390"/>
                </a:lnTo>
                <a:lnTo>
                  <a:pt x="386444" y="1836794"/>
                </a:lnTo>
                <a:lnTo>
                  <a:pt x="351747" y="1807680"/>
                </a:lnTo>
                <a:lnTo>
                  <a:pt x="318370" y="1777095"/>
                </a:lnTo>
                <a:lnTo>
                  <a:pt x="286365" y="1745090"/>
                </a:lnTo>
                <a:lnTo>
                  <a:pt x="255780" y="1711715"/>
                </a:lnTo>
                <a:lnTo>
                  <a:pt x="226664" y="1677019"/>
                </a:lnTo>
                <a:lnTo>
                  <a:pt x="199068" y="1641051"/>
                </a:lnTo>
                <a:lnTo>
                  <a:pt x="173041" y="1603861"/>
                </a:lnTo>
                <a:lnTo>
                  <a:pt x="148632" y="1565498"/>
                </a:lnTo>
                <a:lnTo>
                  <a:pt x="125891" y="1526012"/>
                </a:lnTo>
                <a:lnTo>
                  <a:pt x="104868" y="1485454"/>
                </a:lnTo>
                <a:lnTo>
                  <a:pt x="85612" y="1443871"/>
                </a:lnTo>
                <a:lnTo>
                  <a:pt x="68172" y="1401314"/>
                </a:lnTo>
                <a:lnTo>
                  <a:pt x="52599" y="1357832"/>
                </a:lnTo>
                <a:lnTo>
                  <a:pt x="38941" y="1313475"/>
                </a:lnTo>
                <a:lnTo>
                  <a:pt x="27249" y="1268292"/>
                </a:lnTo>
                <a:lnTo>
                  <a:pt x="17571" y="1222333"/>
                </a:lnTo>
                <a:lnTo>
                  <a:pt x="9958" y="1175647"/>
                </a:lnTo>
                <a:lnTo>
                  <a:pt x="4458" y="1128285"/>
                </a:lnTo>
                <a:lnTo>
                  <a:pt x="1123" y="1080294"/>
                </a:lnTo>
                <a:lnTo>
                  <a:pt x="0" y="1031726"/>
                </a:lnTo>
                <a:close/>
              </a:path>
            </a:pathLst>
          </a:custGeom>
          <a:ln w="76199">
            <a:solidFill>
              <a:srgbClr val="0433FF"/>
            </a:solidFill>
          </a:ln>
        </p:spPr>
        <p:txBody>
          <a:bodyPr wrap="square" lIns="0" tIns="0" rIns="0" bIns="0" rtlCol="0"/>
          <a:lstStyle/>
          <a:p>
            <a:endParaRPr>
              <a:latin typeface="+mj-lt"/>
            </a:endParaRPr>
          </a:p>
        </p:txBody>
      </p:sp>
      <p:sp>
        <p:nvSpPr>
          <p:cNvPr id="9" name="object 9"/>
          <p:cNvSpPr/>
          <p:nvPr/>
        </p:nvSpPr>
        <p:spPr>
          <a:xfrm>
            <a:off x="2207028" y="3133897"/>
            <a:ext cx="1421476" cy="532014"/>
          </a:xfrm>
          <a:prstGeom prst="rect">
            <a:avLst/>
          </a:prstGeom>
          <a:blipFill>
            <a:blip r:embed="rId3" cstate="print"/>
            <a:stretch>
              <a:fillRect/>
            </a:stretch>
          </a:blipFill>
        </p:spPr>
        <p:txBody>
          <a:bodyPr wrap="square" lIns="0" tIns="0" rIns="0" bIns="0" rtlCol="0"/>
          <a:lstStyle/>
          <a:p>
            <a:endParaRPr>
              <a:latin typeface="+mj-lt"/>
            </a:endParaRPr>
          </a:p>
        </p:txBody>
      </p:sp>
      <p:sp>
        <p:nvSpPr>
          <p:cNvPr id="10" name="object 10"/>
          <p:cNvSpPr/>
          <p:nvPr/>
        </p:nvSpPr>
        <p:spPr>
          <a:xfrm>
            <a:off x="2440359" y="3314760"/>
            <a:ext cx="954405" cy="125730"/>
          </a:xfrm>
          <a:custGeom>
            <a:avLst/>
            <a:gdLst/>
            <a:ahLst/>
            <a:cxnLst/>
            <a:rect l="l" t="t" r="r" b="b"/>
            <a:pathLst>
              <a:path w="954404" h="125729">
                <a:moveTo>
                  <a:pt x="954109" y="0"/>
                </a:moveTo>
                <a:lnTo>
                  <a:pt x="0" y="125357"/>
                </a:lnTo>
              </a:path>
            </a:pathLst>
          </a:custGeom>
          <a:ln w="38099">
            <a:solidFill>
              <a:srgbClr val="FA9D55"/>
            </a:solidFill>
          </a:ln>
        </p:spPr>
        <p:txBody>
          <a:bodyPr wrap="square" lIns="0" tIns="0" rIns="0" bIns="0" rtlCol="0"/>
          <a:lstStyle/>
          <a:p>
            <a:endParaRPr>
              <a:latin typeface="+mj-lt"/>
            </a:endParaRPr>
          </a:p>
        </p:txBody>
      </p:sp>
      <p:sp>
        <p:nvSpPr>
          <p:cNvPr id="11" name="object 11"/>
          <p:cNvSpPr/>
          <p:nvPr/>
        </p:nvSpPr>
        <p:spPr>
          <a:xfrm>
            <a:off x="3253402" y="3244488"/>
            <a:ext cx="178551" cy="170165"/>
          </a:xfrm>
          <a:prstGeom prst="rect">
            <a:avLst/>
          </a:prstGeom>
          <a:blipFill>
            <a:blip r:embed="rId4" cstate="print"/>
            <a:stretch>
              <a:fillRect/>
            </a:stretch>
          </a:blipFill>
        </p:spPr>
        <p:txBody>
          <a:bodyPr wrap="square" lIns="0" tIns="0" rIns="0" bIns="0" rtlCol="0"/>
          <a:lstStyle/>
          <a:p>
            <a:endParaRPr>
              <a:latin typeface="+mj-lt"/>
            </a:endParaRPr>
          </a:p>
        </p:txBody>
      </p:sp>
      <p:sp>
        <p:nvSpPr>
          <p:cNvPr id="12" name="object 12"/>
          <p:cNvSpPr/>
          <p:nvPr/>
        </p:nvSpPr>
        <p:spPr>
          <a:xfrm>
            <a:off x="2402874" y="3340224"/>
            <a:ext cx="178552" cy="170165"/>
          </a:xfrm>
          <a:prstGeom prst="rect">
            <a:avLst/>
          </a:prstGeom>
          <a:blipFill>
            <a:blip r:embed="rId5" cstate="print"/>
            <a:stretch>
              <a:fillRect/>
            </a:stretch>
          </a:blipFill>
        </p:spPr>
        <p:txBody>
          <a:bodyPr wrap="square" lIns="0" tIns="0" rIns="0" bIns="0" rtlCol="0"/>
          <a:lstStyle/>
          <a:p>
            <a:endParaRPr>
              <a:latin typeface="+mj-lt"/>
            </a:endParaRPr>
          </a:p>
        </p:txBody>
      </p:sp>
      <p:sp>
        <p:nvSpPr>
          <p:cNvPr id="13" name="object 13"/>
          <p:cNvSpPr/>
          <p:nvPr/>
        </p:nvSpPr>
        <p:spPr>
          <a:xfrm>
            <a:off x="2074025" y="5440679"/>
            <a:ext cx="1259378" cy="394854"/>
          </a:xfrm>
          <a:prstGeom prst="rect">
            <a:avLst/>
          </a:prstGeom>
          <a:blipFill>
            <a:blip r:embed="rId6" cstate="print"/>
            <a:stretch>
              <a:fillRect/>
            </a:stretch>
          </a:blipFill>
        </p:spPr>
        <p:txBody>
          <a:bodyPr wrap="square" lIns="0" tIns="0" rIns="0" bIns="0" rtlCol="0"/>
          <a:lstStyle/>
          <a:p>
            <a:endParaRPr>
              <a:latin typeface="+mj-lt"/>
            </a:endParaRPr>
          </a:p>
        </p:txBody>
      </p:sp>
      <p:sp>
        <p:nvSpPr>
          <p:cNvPr id="14" name="object 14"/>
          <p:cNvSpPr/>
          <p:nvPr/>
        </p:nvSpPr>
        <p:spPr>
          <a:xfrm>
            <a:off x="2307761" y="5615180"/>
            <a:ext cx="793115" cy="0"/>
          </a:xfrm>
          <a:custGeom>
            <a:avLst/>
            <a:gdLst/>
            <a:ahLst/>
            <a:cxnLst/>
            <a:rect l="l" t="t" r="r" b="b"/>
            <a:pathLst>
              <a:path w="793114">
                <a:moveTo>
                  <a:pt x="792781" y="0"/>
                </a:moveTo>
                <a:lnTo>
                  <a:pt x="0" y="0"/>
                </a:lnTo>
              </a:path>
            </a:pathLst>
          </a:custGeom>
          <a:ln w="38099">
            <a:solidFill>
              <a:srgbClr val="FF2600"/>
            </a:solidFill>
          </a:ln>
        </p:spPr>
        <p:txBody>
          <a:bodyPr wrap="square" lIns="0" tIns="0" rIns="0" bIns="0" rtlCol="0"/>
          <a:lstStyle/>
          <a:p>
            <a:endParaRPr>
              <a:latin typeface="+mj-lt"/>
            </a:endParaRPr>
          </a:p>
        </p:txBody>
      </p:sp>
      <p:sp>
        <p:nvSpPr>
          <p:cNvPr id="15" name="object 15"/>
          <p:cNvSpPr/>
          <p:nvPr/>
        </p:nvSpPr>
        <p:spPr>
          <a:xfrm>
            <a:off x="2967345" y="5529607"/>
            <a:ext cx="171005" cy="171146"/>
          </a:xfrm>
          <a:prstGeom prst="rect">
            <a:avLst/>
          </a:prstGeom>
          <a:blipFill>
            <a:blip r:embed="rId7" cstate="print"/>
            <a:stretch>
              <a:fillRect/>
            </a:stretch>
          </a:blipFill>
        </p:spPr>
        <p:txBody>
          <a:bodyPr wrap="square" lIns="0" tIns="0" rIns="0" bIns="0" rtlCol="0"/>
          <a:lstStyle/>
          <a:p>
            <a:endParaRPr>
              <a:latin typeface="+mj-lt"/>
            </a:endParaRPr>
          </a:p>
        </p:txBody>
      </p:sp>
      <p:sp>
        <p:nvSpPr>
          <p:cNvPr id="16" name="object 16"/>
          <p:cNvSpPr/>
          <p:nvPr/>
        </p:nvSpPr>
        <p:spPr>
          <a:xfrm>
            <a:off x="2269954" y="5529608"/>
            <a:ext cx="171005" cy="171146"/>
          </a:xfrm>
          <a:prstGeom prst="rect">
            <a:avLst/>
          </a:prstGeom>
          <a:blipFill>
            <a:blip r:embed="rId8" cstate="print"/>
            <a:stretch>
              <a:fillRect/>
            </a:stretch>
          </a:blipFill>
        </p:spPr>
        <p:txBody>
          <a:bodyPr wrap="square" lIns="0" tIns="0" rIns="0" bIns="0" rtlCol="0"/>
          <a:lstStyle/>
          <a:p>
            <a:endParaRPr>
              <a:latin typeface="+mj-lt"/>
            </a:endParaRPr>
          </a:p>
        </p:txBody>
      </p:sp>
      <p:sp>
        <p:nvSpPr>
          <p:cNvPr id="17" name="object 17"/>
          <p:cNvSpPr txBox="1"/>
          <p:nvPr/>
        </p:nvSpPr>
        <p:spPr>
          <a:xfrm>
            <a:off x="7258112" y="4529514"/>
            <a:ext cx="1633855" cy="845819"/>
          </a:xfrm>
          <a:prstGeom prst="rect">
            <a:avLst/>
          </a:prstGeom>
        </p:spPr>
        <p:txBody>
          <a:bodyPr vert="horz" wrap="square" lIns="0" tIns="13970" rIns="0" bIns="0" rtlCol="0">
            <a:spAutoFit/>
          </a:bodyPr>
          <a:lstStyle/>
          <a:p>
            <a:pPr marL="12700" marR="5080">
              <a:lnSpc>
                <a:spcPct val="100000"/>
              </a:lnSpc>
              <a:spcBef>
                <a:spcPts val="110"/>
              </a:spcBef>
            </a:pPr>
            <a:r>
              <a:rPr sz="1800" dirty="0">
                <a:latin typeface="+mj-lt"/>
                <a:cs typeface="Calibri" panose="020F0502020204030204"/>
              </a:rPr>
              <a:t>Memory access –  keeps execution  engine busy</a:t>
            </a:r>
            <a:endParaRPr sz="1800">
              <a:latin typeface="+mj-lt"/>
              <a:cs typeface="Calibri" panose="020F0502020204030204"/>
            </a:endParaRPr>
          </a:p>
        </p:txBody>
      </p:sp>
      <p:sp>
        <p:nvSpPr>
          <p:cNvPr id="18" name="object 18"/>
          <p:cNvSpPr/>
          <p:nvPr/>
        </p:nvSpPr>
        <p:spPr>
          <a:xfrm>
            <a:off x="6438206" y="4783973"/>
            <a:ext cx="939338" cy="677487"/>
          </a:xfrm>
          <a:prstGeom prst="rect">
            <a:avLst/>
          </a:prstGeom>
          <a:blipFill>
            <a:blip r:embed="rId9" cstate="print"/>
            <a:stretch>
              <a:fillRect/>
            </a:stretch>
          </a:blipFill>
        </p:spPr>
        <p:txBody>
          <a:bodyPr wrap="square" lIns="0" tIns="0" rIns="0" bIns="0" rtlCol="0"/>
          <a:lstStyle/>
          <a:p>
            <a:endParaRPr>
              <a:latin typeface="+mj-lt"/>
            </a:endParaRPr>
          </a:p>
        </p:txBody>
      </p:sp>
      <p:sp>
        <p:nvSpPr>
          <p:cNvPr id="19" name="object 19"/>
          <p:cNvSpPr/>
          <p:nvPr/>
        </p:nvSpPr>
        <p:spPr>
          <a:xfrm>
            <a:off x="6667761" y="4975933"/>
            <a:ext cx="478790" cy="248920"/>
          </a:xfrm>
          <a:custGeom>
            <a:avLst/>
            <a:gdLst/>
            <a:ahLst/>
            <a:cxnLst/>
            <a:rect l="l" t="t" r="r" b="b"/>
            <a:pathLst>
              <a:path w="478790" h="248920">
                <a:moveTo>
                  <a:pt x="0" y="248502"/>
                </a:moveTo>
                <a:lnTo>
                  <a:pt x="478209" y="0"/>
                </a:lnTo>
              </a:path>
            </a:pathLst>
          </a:custGeom>
          <a:ln w="38099">
            <a:solidFill>
              <a:srgbClr val="0433FF"/>
            </a:solidFill>
          </a:ln>
        </p:spPr>
        <p:txBody>
          <a:bodyPr wrap="square" lIns="0" tIns="0" rIns="0" bIns="0" rtlCol="0"/>
          <a:lstStyle/>
          <a:p>
            <a:endParaRPr>
              <a:latin typeface="+mj-lt"/>
            </a:endParaRPr>
          </a:p>
        </p:txBody>
      </p:sp>
      <p:sp>
        <p:nvSpPr>
          <p:cNvPr id="20" name="object 20"/>
          <p:cNvSpPr/>
          <p:nvPr/>
        </p:nvSpPr>
        <p:spPr>
          <a:xfrm>
            <a:off x="6634213" y="5093767"/>
            <a:ext cx="184743" cy="156154"/>
          </a:xfrm>
          <a:prstGeom prst="rect">
            <a:avLst/>
          </a:prstGeom>
          <a:blipFill>
            <a:blip r:embed="rId10" cstate="print"/>
            <a:stretch>
              <a:fillRect/>
            </a:stretch>
          </a:blipFill>
        </p:spPr>
        <p:txBody>
          <a:bodyPr wrap="square" lIns="0" tIns="0" rIns="0" bIns="0" rtlCol="0"/>
          <a:lstStyle/>
          <a:p>
            <a:endParaRPr>
              <a:latin typeface="+mj-lt"/>
            </a:endParaRPr>
          </a:p>
        </p:txBody>
      </p:sp>
      <p:sp>
        <p:nvSpPr>
          <p:cNvPr id="21" name="object 21"/>
          <p:cNvSpPr/>
          <p:nvPr/>
        </p:nvSpPr>
        <p:spPr>
          <a:xfrm>
            <a:off x="6994775" y="4950447"/>
            <a:ext cx="184744" cy="156154"/>
          </a:xfrm>
          <a:prstGeom prst="rect">
            <a:avLst/>
          </a:prstGeom>
          <a:blipFill>
            <a:blip r:embed="rId11" cstate="print"/>
            <a:stretch>
              <a:fillRect/>
            </a:stretch>
          </a:blipFill>
        </p:spPr>
        <p:txBody>
          <a:bodyPr wrap="square" lIns="0" tIns="0" rIns="0" bIns="0" rtlCol="0"/>
          <a:lstStyle/>
          <a:p>
            <a:endParaRPr>
              <a:latin typeface="+mj-lt"/>
            </a:endParaRPr>
          </a:p>
        </p:txBody>
      </p:sp>
      <p:sp>
        <p:nvSpPr>
          <p:cNvPr id="23"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dirty="0">
                <a:latin typeface="+mj-lt"/>
              </a:rPr>
              <a:t>'</a:t>
            </a:r>
            <a:r>
              <a:rPr dirty="0">
                <a:latin typeface="+mj-lt"/>
              </a:rPr>
              <a:t>s so special about </a:t>
            </a:r>
            <a:r>
              <a:rPr lang="en-US" altLang="zh-CN" dirty="0">
                <a:latin typeface="+mj-lt"/>
              </a:rPr>
              <a:t>KNL</a:t>
            </a:r>
            <a:r>
              <a:rPr dirty="0">
                <a:latin typeface="+mj-lt"/>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39" y="997941"/>
            <a:ext cx="4525588" cy="874598"/>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800" b="1" dirty="0">
                <a:latin typeface="+mj-lt"/>
                <a:cs typeface="Calibri" panose="020F0502020204030204"/>
              </a:rPr>
              <a:t>Xeon (eg Haswell)</a:t>
            </a:r>
            <a:r>
              <a:rPr lang="en-US" sz="2800" b="1" dirty="0">
                <a:latin typeface="+mj-lt"/>
                <a:cs typeface="Calibri" panose="020F0502020204030204"/>
              </a:rPr>
              <a:t>, multicore</a:t>
            </a:r>
            <a:endParaRPr sz="2800" dirty="0">
              <a:latin typeface="+mj-lt"/>
              <a:cs typeface="Calibri" panose="020F0502020204030204"/>
            </a:endParaRPr>
          </a:p>
        </p:txBody>
      </p:sp>
      <p:sp>
        <p:nvSpPr>
          <p:cNvPr id="4" name="object 4"/>
          <p:cNvSpPr txBox="1"/>
          <p:nvPr/>
        </p:nvSpPr>
        <p:spPr>
          <a:xfrm>
            <a:off x="4726940" y="997941"/>
            <a:ext cx="4066078" cy="874598"/>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800" b="1" dirty="0">
                <a:latin typeface="+mj-lt"/>
                <a:cs typeface="Calibri" panose="020F0502020204030204"/>
              </a:rPr>
              <a:t>Xeon Phi (KNL)</a:t>
            </a:r>
            <a:r>
              <a:rPr lang="en-US" sz="2800" b="1" dirty="0">
                <a:latin typeface="+mj-lt"/>
                <a:cs typeface="Calibri" panose="020F0502020204030204"/>
              </a:rPr>
              <a:t>, manycore</a:t>
            </a:r>
            <a:endParaRPr sz="2800" dirty="0">
              <a:latin typeface="+mj-lt"/>
              <a:cs typeface="Calibri" panose="020F0502020204030204"/>
            </a:endParaRPr>
          </a:p>
        </p:txBody>
      </p:sp>
      <p:sp>
        <p:nvSpPr>
          <p:cNvPr id="5" name="object 5"/>
          <p:cNvSpPr/>
          <p:nvPr/>
        </p:nvSpPr>
        <p:spPr>
          <a:xfrm>
            <a:off x="2839467" y="1963797"/>
            <a:ext cx="3617465" cy="4575030"/>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3138350" y="2024631"/>
            <a:ext cx="2594610" cy="2054225"/>
          </a:xfrm>
          <a:custGeom>
            <a:avLst/>
            <a:gdLst/>
            <a:ahLst/>
            <a:cxnLst/>
            <a:rect l="l" t="t" r="r" b="b"/>
            <a:pathLst>
              <a:path w="2594610" h="2054225">
                <a:moveTo>
                  <a:pt x="0" y="1026865"/>
                </a:moveTo>
                <a:lnTo>
                  <a:pt x="1081" y="984538"/>
                </a:lnTo>
                <a:lnTo>
                  <a:pt x="4299" y="942646"/>
                </a:lnTo>
                <a:lnTo>
                  <a:pt x="9612" y="901223"/>
                </a:lnTo>
                <a:lnTo>
                  <a:pt x="16977" y="860302"/>
                </a:lnTo>
                <a:lnTo>
                  <a:pt x="26352" y="819916"/>
                </a:lnTo>
                <a:lnTo>
                  <a:pt x="37697" y="780097"/>
                </a:lnTo>
                <a:lnTo>
                  <a:pt x="50969" y="740880"/>
                </a:lnTo>
                <a:lnTo>
                  <a:pt x="66127" y="702296"/>
                </a:lnTo>
                <a:lnTo>
                  <a:pt x="83129" y="664379"/>
                </a:lnTo>
                <a:lnTo>
                  <a:pt x="101933" y="627163"/>
                </a:lnTo>
                <a:lnTo>
                  <a:pt x="122498" y="590679"/>
                </a:lnTo>
                <a:lnTo>
                  <a:pt x="144781" y="554961"/>
                </a:lnTo>
                <a:lnTo>
                  <a:pt x="168742" y="520043"/>
                </a:lnTo>
                <a:lnTo>
                  <a:pt x="194337" y="485956"/>
                </a:lnTo>
                <a:lnTo>
                  <a:pt x="221527" y="452735"/>
                </a:lnTo>
                <a:lnTo>
                  <a:pt x="250268" y="420412"/>
                </a:lnTo>
                <a:lnTo>
                  <a:pt x="280519" y="389020"/>
                </a:lnTo>
                <a:lnTo>
                  <a:pt x="312239" y="358592"/>
                </a:lnTo>
                <a:lnTo>
                  <a:pt x="345385" y="329162"/>
                </a:lnTo>
                <a:lnTo>
                  <a:pt x="379916" y="300762"/>
                </a:lnTo>
                <a:lnTo>
                  <a:pt x="415791" y="273425"/>
                </a:lnTo>
                <a:lnTo>
                  <a:pt x="452967" y="247184"/>
                </a:lnTo>
                <a:lnTo>
                  <a:pt x="491402" y="222074"/>
                </a:lnTo>
                <a:lnTo>
                  <a:pt x="531056" y="198125"/>
                </a:lnTo>
                <a:lnTo>
                  <a:pt x="571886" y="175372"/>
                </a:lnTo>
                <a:lnTo>
                  <a:pt x="613850" y="153848"/>
                </a:lnTo>
                <a:lnTo>
                  <a:pt x="656908" y="133585"/>
                </a:lnTo>
                <a:lnTo>
                  <a:pt x="701016" y="114616"/>
                </a:lnTo>
                <a:lnTo>
                  <a:pt x="746134" y="96976"/>
                </a:lnTo>
                <a:lnTo>
                  <a:pt x="792220" y="80696"/>
                </a:lnTo>
                <a:lnTo>
                  <a:pt x="839231" y="65809"/>
                </a:lnTo>
                <a:lnTo>
                  <a:pt x="887127" y="52350"/>
                </a:lnTo>
                <a:lnTo>
                  <a:pt x="935865" y="40350"/>
                </a:lnTo>
                <a:lnTo>
                  <a:pt x="985404" y="29843"/>
                </a:lnTo>
                <a:lnTo>
                  <a:pt x="1035702" y="20862"/>
                </a:lnTo>
                <a:lnTo>
                  <a:pt x="1086717" y="13439"/>
                </a:lnTo>
                <a:lnTo>
                  <a:pt x="1138408" y="7609"/>
                </a:lnTo>
                <a:lnTo>
                  <a:pt x="1190732" y="3404"/>
                </a:lnTo>
                <a:lnTo>
                  <a:pt x="1243649" y="856"/>
                </a:lnTo>
                <a:lnTo>
                  <a:pt x="1297116" y="0"/>
                </a:lnTo>
                <a:lnTo>
                  <a:pt x="1350583" y="856"/>
                </a:lnTo>
                <a:lnTo>
                  <a:pt x="1403500" y="3404"/>
                </a:lnTo>
                <a:lnTo>
                  <a:pt x="1455825" y="7609"/>
                </a:lnTo>
                <a:lnTo>
                  <a:pt x="1507515" y="13439"/>
                </a:lnTo>
                <a:lnTo>
                  <a:pt x="1558531" y="20862"/>
                </a:lnTo>
                <a:lnTo>
                  <a:pt x="1608828" y="29843"/>
                </a:lnTo>
                <a:lnTo>
                  <a:pt x="1658367" y="40350"/>
                </a:lnTo>
                <a:lnTo>
                  <a:pt x="1707105" y="52350"/>
                </a:lnTo>
                <a:lnTo>
                  <a:pt x="1755001" y="65809"/>
                </a:lnTo>
                <a:lnTo>
                  <a:pt x="1802013" y="80696"/>
                </a:lnTo>
                <a:lnTo>
                  <a:pt x="1848098" y="96976"/>
                </a:lnTo>
                <a:lnTo>
                  <a:pt x="1893216" y="114616"/>
                </a:lnTo>
                <a:lnTo>
                  <a:pt x="1937325" y="133585"/>
                </a:lnTo>
                <a:lnTo>
                  <a:pt x="1980382" y="153848"/>
                </a:lnTo>
                <a:lnTo>
                  <a:pt x="2022347" y="175372"/>
                </a:lnTo>
                <a:lnTo>
                  <a:pt x="2063177" y="198125"/>
                </a:lnTo>
                <a:lnTo>
                  <a:pt x="2102830" y="222074"/>
                </a:lnTo>
                <a:lnTo>
                  <a:pt x="2141266" y="247184"/>
                </a:lnTo>
                <a:lnTo>
                  <a:pt x="2178442" y="273425"/>
                </a:lnTo>
                <a:lnTo>
                  <a:pt x="2214316" y="300762"/>
                </a:lnTo>
                <a:lnTo>
                  <a:pt x="2248847" y="329162"/>
                </a:lnTo>
                <a:lnTo>
                  <a:pt x="2281994" y="358592"/>
                </a:lnTo>
                <a:lnTo>
                  <a:pt x="2313713" y="389020"/>
                </a:lnTo>
                <a:lnTo>
                  <a:pt x="2343965" y="420412"/>
                </a:lnTo>
                <a:lnTo>
                  <a:pt x="2372706" y="452735"/>
                </a:lnTo>
                <a:lnTo>
                  <a:pt x="2399895" y="485956"/>
                </a:lnTo>
                <a:lnTo>
                  <a:pt x="2425491" y="520043"/>
                </a:lnTo>
                <a:lnTo>
                  <a:pt x="2449451" y="554961"/>
                </a:lnTo>
                <a:lnTo>
                  <a:pt x="2471734" y="590679"/>
                </a:lnTo>
                <a:lnTo>
                  <a:pt x="2492299" y="627163"/>
                </a:lnTo>
                <a:lnTo>
                  <a:pt x="2511103" y="664379"/>
                </a:lnTo>
                <a:lnTo>
                  <a:pt x="2528105" y="702296"/>
                </a:lnTo>
                <a:lnTo>
                  <a:pt x="2543263" y="740880"/>
                </a:lnTo>
                <a:lnTo>
                  <a:pt x="2556535" y="780097"/>
                </a:lnTo>
                <a:lnTo>
                  <a:pt x="2567880" y="819916"/>
                </a:lnTo>
                <a:lnTo>
                  <a:pt x="2577256" y="860302"/>
                </a:lnTo>
                <a:lnTo>
                  <a:pt x="2584621" y="901223"/>
                </a:lnTo>
                <a:lnTo>
                  <a:pt x="2589933" y="942646"/>
                </a:lnTo>
                <a:lnTo>
                  <a:pt x="2593151" y="984538"/>
                </a:lnTo>
                <a:lnTo>
                  <a:pt x="2594233" y="1026865"/>
                </a:lnTo>
                <a:lnTo>
                  <a:pt x="2593151" y="1069192"/>
                </a:lnTo>
                <a:lnTo>
                  <a:pt x="2589933" y="1111084"/>
                </a:lnTo>
                <a:lnTo>
                  <a:pt x="2584621" y="1152507"/>
                </a:lnTo>
                <a:lnTo>
                  <a:pt x="2577256" y="1193428"/>
                </a:lnTo>
                <a:lnTo>
                  <a:pt x="2567880" y="1233814"/>
                </a:lnTo>
                <a:lnTo>
                  <a:pt x="2556535" y="1273633"/>
                </a:lnTo>
                <a:lnTo>
                  <a:pt x="2543263" y="1312851"/>
                </a:lnTo>
                <a:lnTo>
                  <a:pt x="2528105" y="1351434"/>
                </a:lnTo>
                <a:lnTo>
                  <a:pt x="2511103" y="1389351"/>
                </a:lnTo>
                <a:lnTo>
                  <a:pt x="2492299" y="1426568"/>
                </a:lnTo>
                <a:lnTo>
                  <a:pt x="2471734" y="1463051"/>
                </a:lnTo>
                <a:lnTo>
                  <a:pt x="2449451" y="1498769"/>
                </a:lnTo>
                <a:lnTo>
                  <a:pt x="2425491" y="1533688"/>
                </a:lnTo>
                <a:lnTo>
                  <a:pt x="2399895" y="1567774"/>
                </a:lnTo>
                <a:lnTo>
                  <a:pt x="2372706" y="1600996"/>
                </a:lnTo>
                <a:lnTo>
                  <a:pt x="2343965" y="1633319"/>
                </a:lnTo>
                <a:lnTo>
                  <a:pt x="2313713" y="1664711"/>
                </a:lnTo>
                <a:lnTo>
                  <a:pt x="2281994" y="1695138"/>
                </a:lnTo>
                <a:lnTo>
                  <a:pt x="2248847" y="1724569"/>
                </a:lnTo>
                <a:lnTo>
                  <a:pt x="2214316" y="1752969"/>
                </a:lnTo>
                <a:lnTo>
                  <a:pt x="2178442" y="1780306"/>
                </a:lnTo>
                <a:lnTo>
                  <a:pt x="2141266" y="1806546"/>
                </a:lnTo>
                <a:lnTo>
                  <a:pt x="2102830" y="1831657"/>
                </a:lnTo>
                <a:lnTo>
                  <a:pt x="2063177" y="1855605"/>
                </a:lnTo>
                <a:lnTo>
                  <a:pt x="2022347" y="1878358"/>
                </a:lnTo>
                <a:lnTo>
                  <a:pt x="1980382" y="1899883"/>
                </a:lnTo>
                <a:lnTo>
                  <a:pt x="1937325" y="1920146"/>
                </a:lnTo>
                <a:lnTo>
                  <a:pt x="1893216" y="1939114"/>
                </a:lnTo>
                <a:lnTo>
                  <a:pt x="1848098" y="1956755"/>
                </a:lnTo>
                <a:lnTo>
                  <a:pt x="1802013" y="1973035"/>
                </a:lnTo>
                <a:lnTo>
                  <a:pt x="1755001" y="1987921"/>
                </a:lnTo>
                <a:lnTo>
                  <a:pt x="1707105" y="2001381"/>
                </a:lnTo>
                <a:lnTo>
                  <a:pt x="1658367" y="2013380"/>
                </a:lnTo>
                <a:lnTo>
                  <a:pt x="1608828" y="2023887"/>
                </a:lnTo>
                <a:lnTo>
                  <a:pt x="1558531" y="2032869"/>
                </a:lnTo>
                <a:lnTo>
                  <a:pt x="1507515" y="2040291"/>
                </a:lnTo>
                <a:lnTo>
                  <a:pt x="1455825" y="2046121"/>
                </a:lnTo>
                <a:lnTo>
                  <a:pt x="1403500" y="2050327"/>
                </a:lnTo>
                <a:lnTo>
                  <a:pt x="1350583" y="2052874"/>
                </a:lnTo>
                <a:lnTo>
                  <a:pt x="1297116" y="2053731"/>
                </a:lnTo>
                <a:lnTo>
                  <a:pt x="1243649" y="2052874"/>
                </a:lnTo>
                <a:lnTo>
                  <a:pt x="1190732" y="2050327"/>
                </a:lnTo>
                <a:lnTo>
                  <a:pt x="1138408" y="2046121"/>
                </a:lnTo>
                <a:lnTo>
                  <a:pt x="1086717" y="2040291"/>
                </a:lnTo>
                <a:lnTo>
                  <a:pt x="1035702" y="2032869"/>
                </a:lnTo>
                <a:lnTo>
                  <a:pt x="985404" y="2023887"/>
                </a:lnTo>
                <a:lnTo>
                  <a:pt x="935865" y="2013380"/>
                </a:lnTo>
                <a:lnTo>
                  <a:pt x="887127" y="2001381"/>
                </a:lnTo>
                <a:lnTo>
                  <a:pt x="839231" y="1987921"/>
                </a:lnTo>
                <a:lnTo>
                  <a:pt x="792220" y="1973035"/>
                </a:lnTo>
                <a:lnTo>
                  <a:pt x="746134" y="1956755"/>
                </a:lnTo>
                <a:lnTo>
                  <a:pt x="701016" y="1939114"/>
                </a:lnTo>
                <a:lnTo>
                  <a:pt x="656908" y="1920146"/>
                </a:lnTo>
                <a:lnTo>
                  <a:pt x="613850" y="1899883"/>
                </a:lnTo>
                <a:lnTo>
                  <a:pt x="571886" y="1878358"/>
                </a:lnTo>
                <a:lnTo>
                  <a:pt x="531056" y="1855605"/>
                </a:lnTo>
                <a:lnTo>
                  <a:pt x="491402" y="1831657"/>
                </a:lnTo>
                <a:lnTo>
                  <a:pt x="452967" y="1806546"/>
                </a:lnTo>
                <a:lnTo>
                  <a:pt x="415791" y="1780306"/>
                </a:lnTo>
                <a:lnTo>
                  <a:pt x="379916" y="1752969"/>
                </a:lnTo>
                <a:lnTo>
                  <a:pt x="345385" y="1724569"/>
                </a:lnTo>
                <a:lnTo>
                  <a:pt x="312239" y="1695138"/>
                </a:lnTo>
                <a:lnTo>
                  <a:pt x="280519" y="1664711"/>
                </a:lnTo>
                <a:lnTo>
                  <a:pt x="250268" y="1633319"/>
                </a:lnTo>
                <a:lnTo>
                  <a:pt x="221527" y="1600996"/>
                </a:lnTo>
                <a:lnTo>
                  <a:pt x="194337" y="1567774"/>
                </a:lnTo>
                <a:lnTo>
                  <a:pt x="168742" y="1533688"/>
                </a:lnTo>
                <a:lnTo>
                  <a:pt x="144781" y="1498769"/>
                </a:lnTo>
                <a:lnTo>
                  <a:pt x="122498" y="1463051"/>
                </a:lnTo>
                <a:lnTo>
                  <a:pt x="101933" y="1426568"/>
                </a:lnTo>
                <a:lnTo>
                  <a:pt x="83129" y="1389351"/>
                </a:lnTo>
                <a:lnTo>
                  <a:pt x="66127" y="1351434"/>
                </a:lnTo>
                <a:lnTo>
                  <a:pt x="50969" y="1312851"/>
                </a:lnTo>
                <a:lnTo>
                  <a:pt x="37697" y="1273633"/>
                </a:lnTo>
                <a:lnTo>
                  <a:pt x="26352" y="1233814"/>
                </a:lnTo>
                <a:lnTo>
                  <a:pt x="16977" y="1193428"/>
                </a:lnTo>
                <a:lnTo>
                  <a:pt x="9612" y="1152507"/>
                </a:lnTo>
                <a:lnTo>
                  <a:pt x="4299" y="1111084"/>
                </a:lnTo>
                <a:lnTo>
                  <a:pt x="1081" y="1069192"/>
                </a:lnTo>
                <a:lnTo>
                  <a:pt x="0" y="1026865"/>
                </a:lnTo>
                <a:close/>
              </a:path>
            </a:pathLst>
          </a:custGeom>
          <a:ln w="76199">
            <a:solidFill>
              <a:srgbClr val="FA9D55"/>
            </a:solidFill>
          </a:ln>
        </p:spPr>
        <p:txBody>
          <a:bodyPr wrap="square" lIns="0" tIns="0" rIns="0" bIns="0" rtlCol="0"/>
          <a:lstStyle/>
          <a:p>
            <a:endParaRPr>
              <a:latin typeface="+mj-lt"/>
            </a:endParaRPr>
          </a:p>
        </p:txBody>
      </p:sp>
      <p:sp>
        <p:nvSpPr>
          <p:cNvPr id="7" name="object 7"/>
          <p:cNvSpPr txBox="1"/>
          <p:nvPr/>
        </p:nvSpPr>
        <p:spPr>
          <a:xfrm>
            <a:off x="475778" y="2451545"/>
            <a:ext cx="2965251" cy="554639"/>
          </a:xfrm>
          <a:prstGeom prst="rect">
            <a:avLst/>
          </a:prstGeom>
        </p:spPr>
        <p:txBody>
          <a:bodyPr vert="horz" wrap="square" lIns="0" tIns="12700" rIns="0" bIns="0" rtlCol="0">
            <a:spAutoFit/>
          </a:bodyPr>
          <a:lstStyle/>
          <a:p>
            <a:pPr marL="12700">
              <a:lnSpc>
                <a:spcPts val="2130"/>
              </a:lnSpc>
              <a:spcBef>
                <a:spcPts val="100"/>
              </a:spcBef>
            </a:pPr>
            <a:r>
              <a:rPr sz="1800" dirty="0">
                <a:latin typeface="+mj-lt"/>
                <a:cs typeface="Calibri" panose="020F0502020204030204"/>
              </a:rPr>
              <a:t>Large and fast</a:t>
            </a:r>
          </a:p>
          <a:p>
            <a:pPr marL="12700" marR="233045" indent="51435">
              <a:lnSpc>
                <a:spcPts val="2200"/>
              </a:lnSpc>
              <a:spcBef>
                <a:spcPts val="10"/>
              </a:spcBef>
            </a:pPr>
            <a:r>
              <a:rPr sz="1800" dirty="0">
                <a:latin typeface="+mj-lt"/>
                <a:cs typeface="Calibri" panose="020F0502020204030204"/>
              </a:rPr>
              <a:t>- </a:t>
            </a:r>
            <a:r>
              <a:rPr lang="en-US" sz="1800" dirty="0">
                <a:latin typeface="+mj-lt"/>
                <a:cs typeface="Calibri" panose="020F0502020204030204"/>
              </a:rPr>
              <a:t>P</a:t>
            </a:r>
            <a:r>
              <a:rPr sz="1800" dirty="0">
                <a:latin typeface="+mj-lt"/>
                <a:cs typeface="Calibri" panose="020F0502020204030204"/>
              </a:rPr>
              <a:t>ower</a:t>
            </a:r>
            <a:r>
              <a:rPr lang="en-US" altLang="zh-CN" dirty="0">
                <a:latin typeface="+mj-lt"/>
                <a:cs typeface="Calibri" panose="020F0502020204030204"/>
              </a:rPr>
              <a:t>,</a:t>
            </a:r>
            <a:r>
              <a:rPr lang="zh-CN" altLang="en-US" dirty="0">
                <a:latin typeface="+mj-lt"/>
                <a:cs typeface="Calibri" panose="020F0502020204030204"/>
              </a:rPr>
              <a:t> </a:t>
            </a:r>
            <a:r>
              <a:rPr sz="1800" dirty="0">
                <a:latin typeface="+mj-lt"/>
                <a:cs typeface="Calibri" panose="020F0502020204030204"/>
              </a:rPr>
              <a:t>hungry, hot</a:t>
            </a:r>
          </a:p>
        </p:txBody>
      </p:sp>
      <p:sp>
        <p:nvSpPr>
          <p:cNvPr id="8" name="object 8"/>
          <p:cNvSpPr/>
          <p:nvPr/>
        </p:nvSpPr>
        <p:spPr>
          <a:xfrm>
            <a:off x="2839467" y="4309202"/>
            <a:ext cx="1402080" cy="1371600"/>
          </a:xfrm>
          <a:custGeom>
            <a:avLst/>
            <a:gdLst/>
            <a:ahLst/>
            <a:cxnLst/>
            <a:rect l="l" t="t" r="r" b="b"/>
            <a:pathLst>
              <a:path w="1402079" h="1371600">
                <a:moveTo>
                  <a:pt x="0" y="685580"/>
                </a:moveTo>
                <a:lnTo>
                  <a:pt x="1616" y="638641"/>
                </a:lnTo>
                <a:lnTo>
                  <a:pt x="6397" y="592551"/>
                </a:lnTo>
                <a:lnTo>
                  <a:pt x="14237" y="547412"/>
                </a:lnTo>
                <a:lnTo>
                  <a:pt x="25032" y="503326"/>
                </a:lnTo>
                <a:lnTo>
                  <a:pt x="38678" y="460395"/>
                </a:lnTo>
                <a:lnTo>
                  <a:pt x="55070" y="418721"/>
                </a:lnTo>
                <a:lnTo>
                  <a:pt x="74105" y="378407"/>
                </a:lnTo>
                <a:lnTo>
                  <a:pt x="95676" y="339555"/>
                </a:lnTo>
                <a:lnTo>
                  <a:pt x="119682" y="302266"/>
                </a:lnTo>
                <a:lnTo>
                  <a:pt x="146016" y="266642"/>
                </a:lnTo>
                <a:lnTo>
                  <a:pt x="174574" y="232787"/>
                </a:lnTo>
                <a:lnTo>
                  <a:pt x="205253" y="200801"/>
                </a:lnTo>
                <a:lnTo>
                  <a:pt x="237948" y="170788"/>
                </a:lnTo>
                <a:lnTo>
                  <a:pt x="272554" y="142849"/>
                </a:lnTo>
                <a:lnTo>
                  <a:pt x="308967" y="117086"/>
                </a:lnTo>
                <a:lnTo>
                  <a:pt x="347082" y="93601"/>
                </a:lnTo>
                <a:lnTo>
                  <a:pt x="386796" y="72497"/>
                </a:lnTo>
                <a:lnTo>
                  <a:pt x="428004" y="53876"/>
                </a:lnTo>
                <a:lnTo>
                  <a:pt x="470602" y="37839"/>
                </a:lnTo>
                <a:lnTo>
                  <a:pt x="514484" y="24489"/>
                </a:lnTo>
                <a:lnTo>
                  <a:pt x="559548" y="13928"/>
                </a:lnTo>
                <a:lnTo>
                  <a:pt x="605688" y="6258"/>
                </a:lnTo>
                <a:lnTo>
                  <a:pt x="652800" y="1581"/>
                </a:lnTo>
                <a:lnTo>
                  <a:pt x="700779" y="0"/>
                </a:lnTo>
                <a:lnTo>
                  <a:pt x="748759" y="1581"/>
                </a:lnTo>
                <a:lnTo>
                  <a:pt x="795871" y="6258"/>
                </a:lnTo>
                <a:lnTo>
                  <a:pt x="842011" y="13928"/>
                </a:lnTo>
                <a:lnTo>
                  <a:pt x="887074" y="24489"/>
                </a:lnTo>
                <a:lnTo>
                  <a:pt x="930957" y="37839"/>
                </a:lnTo>
                <a:lnTo>
                  <a:pt x="973554" y="53876"/>
                </a:lnTo>
                <a:lnTo>
                  <a:pt x="1014762" y="72497"/>
                </a:lnTo>
                <a:lnTo>
                  <a:pt x="1054476" y="93601"/>
                </a:lnTo>
                <a:lnTo>
                  <a:pt x="1092592" y="117086"/>
                </a:lnTo>
                <a:lnTo>
                  <a:pt x="1129005" y="142849"/>
                </a:lnTo>
                <a:lnTo>
                  <a:pt x="1163611" y="170788"/>
                </a:lnTo>
                <a:lnTo>
                  <a:pt x="1196305" y="200801"/>
                </a:lnTo>
                <a:lnTo>
                  <a:pt x="1226984" y="232787"/>
                </a:lnTo>
                <a:lnTo>
                  <a:pt x="1255543" y="266642"/>
                </a:lnTo>
                <a:lnTo>
                  <a:pt x="1281877" y="302266"/>
                </a:lnTo>
                <a:lnTo>
                  <a:pt x="1305882" y="339555"/>
                </a:lnTo>
                <a:lnTo>
                  <a:pt x="1327454" y="378407"/>
                </a:lnTo>
                <a:lnTo>
                  <a:pt x="1346488" y="418721"/>
                </a:lnTo>
                <a:lnTo>
                  <a:pt x="1362881" y="460395"/>
                </a:lnTo>
                <a:lnTo>
                  <a:pt x="1376527" y="503326"/>
                </a:lnTo>
                <a:lnTo>
                  <a:pt x="1387322" y="547412"/>
                </a:lnTo>
                <a:lnTo>
                  <a:pt x="1395162" y="592551"/>
                </a:lnTo>
                <a:lnTo>
                  <a:pt x="1399942" y="638641"/>
                </a:lnTo>
                <a:lnTo>
                  <a:pt x="1401559" y="685580"/>
                </a:lnTo>
                <a:lnTo>
                  <a:pt x="1399942" y="732519"/>
                </a:lnTo>
                <a:lnTo>
                  <a:pt x="1395162" y="778610"/>
                </a:lnTo>
                <a:lnTo>
                  <a:pt x="1387322" y="823749"/>
                </a:lnTo>
                <a:lnTo>
                  <a:pt x="1376527" y="867835"/>
                </a:lnTo>
                <a:lnTo>
                  <a:pt x="1362881" y="910766"/>
                </a:lnTo>
                <a:lnTo>
                  <a:pt x="1346488" y="952439"/>
                </a:lnTo>
                <a:lnTo>
                  <a:pt x="1327454" y="992754"/>
                </a:lnTo>
                <a:lnTo>
                  <a:pt x="1305882" y="1031606"/>
                </a:lnTo>
                <a:lnTo>
                  <a:pt x="1281877" y="1068895"/>
                </a:lnTo>
                <a:lnTo>
                  <a:pt x="1255543" y="1104518"/>
                </a:lnTo>
                <a:lnTo>
                  <a:pt x="1226984" y="1138374"/>
                </a:lnTo>
                <a:lnTo>
                  <a:pt x="1196305" y="1170359"/>
                </a:lnTo>
                <a:lnTo>
                  <a:pt x="1163611" y="1200373"/>
                </a:lnTo>
                <a:lnTo>
                  <a:pt x="1129005" y="1228312"/>
                </a:lnTo>
                <a:lnTo>
                  <a:pt x="1092592" y="1254075"/>
                </a:lnTo>
                <a:lnTo>
                  <a:pt x="1054476" y="1277559"/>
                </a:lnTo>
                <a:lnTo>
                  <a:pt x="1014762" y="1298663"/>
                </a:lnTo>
                <a:lnTo>
                  <a:pt x="973554" y="1317285"/>
                </a:lnTo>
                <a:lnTo>
                  <a:pt x="930957" y="1333322"/>
                </a:lnTo>
                <a:lnTo>
                  <a:pt x="887074" y="1346672"/>
                </a:lnTo>
                <a:lnTo>
                  <a:pt x="842011" y="1357233"/>
                </a:lnTo>
                <a:lnTo>
                  <a:pt x="795871" y="1364903"/>
                </a:lnTo>
                <a:lnTo>
                  <a:pt x="748759" y="1369580"/>
                </a:lnTo>
                <a:lnTo>
                  <a:pt x="700779" y="1371161"/>
                </a:lnTo>
                <a:lnTo>
                  <a:pt x="652800" y="1369580"/>
                </a:lnTo>
                <a:lnTo>
                  <a:pt x="605688" y="1364903"/>
                </a:lnTo>
                <a:lnTo>
                  <a:pt x="559548" y="1357233"/>
                </a:lnTo>
                <a:lnTo>
                  <a:pt x="514484" y="1346672"/>
                </a:lnTo>
                <a:lnTo>
                  <a:pt x="470602" y="1333322"/>
                </a:lnTo>
                <a:lnTo>
                  <a:pt x="428004" y="1317285"/>
                </a:lnTo>
                <a:lnTo>
                  <a:pt x="386796" y="1298663"/>
                </a:lnTo>
                <a:lnTo>
                  <a:pt x="347082" y="1277559"/>
                </a:lnTo>
                <a:lnTo>
                  <a:pt x="308967" y="1254075"/>
                </a:lnTo>
                <a:lnTo>
                  <a:pt x="272554" y="1228312"/>
                </a:lnTo>
                <a:lnTo>
                  <a:pt x="237948" y="1200373"/>
                </a:lnTo>
                <a:lnTo>
                  <a:pt x="205253" y="1170359"/>
                </a:lnTo>
                <a:lnTo>
                  <a:pt x="174574" y="1138374"/>
                </a:lnTo>
                <a:lnTo>
                  <a:pt x="146016" y="1104518"/>
                </a:lnTo>
                <a:lnTo>
                  <a:pt x="119682" y="1068895"/>
                </a:lnTo>
                <a:lnTo>
                  <a:pt x="95676" y="1031606"/>
                </a:lnTo>
                <a:lnTo>
                  <a:pt x="74105" y="992754"/>
                </a:lnTo>
                <a:lnTo>
                  <a:pt x="55070" y="952439"/>
                </a:lnTo>
                <a:lnTo>
                  <a:pt x="38678" y="910766"/>
                </a:lnTo>
                <a:lnTo>
                  <a:pt x="25032" y="867835"/>
                </a:lnTo>
                <a:lnTo>
                  <a:pt x="14237" y="823749"/>
                </a:lnTo>
                <a:lnTo>
                  <a:pt x="6397" y="778610"/>
                </a:lnTo>
                <a:lnTo>
                  <a:pt x="1616" y="732519"/>
                </a:lnTo>
                <a:lnTo>
                  <a:pt x="0" y="685580"/>
                </a:lnTo>
                <a:close/>
              </a:path>
            </a:pathLst>
          </a:custGeom>
          <a:ln w="76199">
            <a:solidFill>
              <a:srgbClr val="FF2600"/>
            </a:solidFill>
          </a:ln>
        </p:spPr>
        <p:txBody>
          <a:bodyPr wrap="square" lIns="0" tIns="0" rIns="0" bIns="0" rtlCol="0"/>
          <a:lstStyle/>
          <a:p>
            <a:endParaRPr>
              <a:latin typeface="+mj-lt"/>
            </a:endParaRPr>
          </a:p>
        </p:txBody>
      </p:sp>
      <p:sp>
        <p:nvSpPr>
          <p:cNvPr id="9" name="object 9"/>
          <p:cNvSpPr/>
          <p:nvPr/>
        </p:nvSpPr>
        <p:spPr>
          <a:xfrm>
            <a:off x="3962749" y="4722719"/>
            <a:ext cx="2063750" cy="1607820"/>
          </a:xfrm>
          <a:custGeom>
            <a:avLst/>
            <a:gdLst/>
            <a:ahLst/>
            <a:cxnLst/>
            <a:rect l="l" t="t" r="r" b="b"/>
            <a:pathLst>
              <a:path w="2063750" h="1607820">
                <a:moveTo>
                  <a:pt x="0" y="803843"/>
                </a:moveTo>
                <a:lnTo>
                  <a:pt x="1430" y="761152"/>
                </a:lnTo>
                <a:lnTo>
                  <a:pt x="5673" y="719041"/>
                </a:lnTo>
                <a:lnTo>
                  <a:pt x="12657" y="677566"/>
                </a:lnTo>
                <a:lnTo>
                  <a:pt x="22311" y="636783"/>
                </a:lnTo>
                <a:lnTo>
                  <a:pt x="34565" y="596746"/>
                </a:lnTo>
                <a:lnTo>
                  <a:pt x="49346" y="557512"/>
                </a:lnTo>
                <a:lnTo>
                  <a:pt x="66583" y="519136"/>
                </a:lnTo>
                <a:lnTo>
                  <a:pt x="86205" y="481674"/>
                </a:lnTo>
                <a:lnTo>
                  <a:pt x="108141" y="445181"/>
                </a:lnTo>
                <a:lnTo>
                  <a:pt x="132319" y="409713"/>
                </a:lnTo>
                <a:lnTo>
                  <a:pt x="158668" y="375326"/>
                </a:lnTo>
                <a:lnTo>
                  <a:pt x="187117" y="342074"/>
                </a:lnTo>
                <a:lnTo>
                  <a:pt x="217594" y="310013"/>
                </a:lnTo>
                <a:lnTo>
                  <a:pt x="250028" y="279200"/>
                </a:lnTo>
                <a:lnTo>
                  <a:pt x="284348" y="249689"/>
                </a:lnTo>
                <a:lnTo>
                  <a:pt x="320483" y="221537"/>
                </a:lnTo>
                <a:lnTo>
                  <a:pt x="358361" y="194798"/>
                </a:lnTo>
                <a:lnTo>
                  <a:pt x="397910" y="169528"/>
                </a:lnTo>
                <a:lnTo>
                  <a:pt x="439060" y="145783"/>
                </a:lnTo>
                <a:lnTo>
                  <a:pt x="481740" y="123619"/>
                </a:lnTo>
                <a:lnTo>
                  <a:pt x="525877" y="103090"/>
                </a:lnTo>
                <a:lnTo>
                  <a:pt x="571402" y="84253"/>
                </a:lnTo>
                <a:lnTo>
                  <a:pt x="618241" y="67163"/>
                </a:lnTo>
                <a:lnTo>
                  <a:pt x="666325" y="51875"/>
                </a:lnTo>
                <a:lnTo>
                  <a:pt x="715581" y="38445"/>
                </a:lnTo>
                <a:lnTo>
                  <a:pt x="765939" y="26930"/>
                </a:lnTo>
                <a:lnTo>
                  <a:pt x="817327" y="17383"/>
                </a:lnTo>
                <a:lnTo>
                  <a:pt x="869673" y="9861"/>
                </a:lnTo>
                <a:lnTo>
                  <a:pt x="922907" y="4419"/>
                </a:lnTo>
                <a:lnTo>
                  <a:pt x="976958" y="1114"/>
                </a:lnTo>
                <a:lnTo>
                  <a:pt x="1031753" y="0"/>
                </a:lnTo>
                <a:lnTo>
                  <a:pt x="1086549" y="1114"/>
                </a:lnTo>
                <a:lnTo>
                  <a:pt x="1140599" y="4419"/>
                </a:lnTo>
                <a:lnTo>
                  <a:pt x="1193833" y="9861"/>
                </a:lnTo>
                <a:lnTo>
                  <a:pt x="1246180" y="17383"/>
                </a:lnTo>
                <a:lnTo>
                  <a:pt x="1297568" y="26930"/>
                </a:lnTo>
                <a:lnTo>
                  <a:pt x="1347926" y="38445"/>
                </a:lnTo>
                <a:lnTo>
                  <a:pt x="1397182" y="51875"/>
                </a:lnTo>
                <a:lnTo>
                  <a:pt x="1445265" y="67163"/>
                </a:lnTo>
                <a:lnTo>
                  <a:pt x="1492105" y="84253"/>
                </a:lnTo>
                <a:lnTo>
                  <a:pt x="1537629" y="103090"/>
                </a:lnTo>
                <a:lnTo>
                  <a:pt x="1581767" y="123619"/>
                </a:lnTo>
                <a:lnTo>
                  <a:pt x="1624446" y="145783"/>
                </a:lnTo>
                <a:lnTo>
                  <a:pt x="1665596" y="169528"/>
                </a:lnTo>
                <a:lnTo>
                  <a:pt x="1705146" y="194798"/>
                </a:lnTo>
                <a:lnTo>
                  <a:pt x="1743024" y="221537"/>
                </a:lnTo>
                <a:lnTo>
                  <a:pt x="1779158" y="249689"/>
                </a:lnTo>
                <a:lnTo>
                  <a:pt x="1813478" y="279200"/>
                </a:lnTo>
                <a:lnTo>
                  <a:pt x="1845913" y="310013"/>
                </a:lnTo>
                <a:lnTo>
                  <a:pt x="1876390" y="342074"/>
                </a:lnTo>
                <a:lnTo>
                  <a:pt x="1904839" y="375326"/>
                </a:lnTo>
                <a:lnTo>
                  <a:pt x="1931188" y="409713"/>
                </a:lnTo>
                <a:lnTo>
                  <a:pt x="1955366" y="445181"/>
                </a:lnTo>
                <a:lnTo>
                  <a:pt x="1977301" y="481674"/>
                </a:lnTo>
                <a:lnTo>
                  <a:pt x="1996924" y="519136"/>
                </a:lnTo>
                <a:lnTo>
                  <a:pt x="2014161" y="557512"/>
                </a:lnTo>
                <a:lnTo>
                  <a:pt x="2028942" y="596746"/>
                </a:lnTo>
                <a:lnTo>
                  <a:pt x="2041195" y="636783"/>
                </a:lnTo>
                <a:lnTo>
                  <a:pt x="2050850" y="677566"/>
                </a:lnTo>
                <a:lnTo>
                  <a:pt x="2057834" y="719041"/>
                </a:lnTo>
                <a:lnTo>
                  <a:pt x="2062077" y="761152"/>
                </a:lnTo>
                <a:lnTo>
                  <a:pt x="2063507" y="803843"/>
                </a:lnTo>
                <a:lnTo>
                  <a:pt x="2062077" y="846535"/>
                </a:lnTo>
                <a:lnTo>
                  <a:pt x="2057834" y="888646"/>
                </a:lnTo>
                <a:lnTo>
                  <a:pt x="2050850" y="930121"/>
                </a:lnTo>
                <a:lnTo>
                  <a:pt x="2041195" y="970904"/>
                </a:lnTo>
                <a:lnTo>
                  <a:pt x="2028942" y="1010941"/>
                </a:lnTo>
                <a:lnTo>
                  <a:pt x="2014161" y="1050175"/>
                </a:lnTo>
                <a:lnTo>
                  <a:pt x="1996924" y="1088550"/>
                </a:lnTo>
                <a:lnTo>
                  <a:pt x="1977301" y="1126013"/>
                </a:lnTo>
                <a:lnTo>
                  <a:pt x="1955366" y="1162505"/>
                </a:lnTo>
                <a:lnTo>
                  <a:pt x="1931188" y="1197973"/>
                </a:lnTo>
                <a:lnTo>
                  <a:pt x="1904839" y="1232361"/>
                </a:lnTo>
                <a:lnTo>
                  <a:pt x="1876390" y="1265613"/>
                </a:lnTo>
                <a:lnTo>
                  <a:pt x="1845913" y="1297673"/>
                </a:lnTo>
                <a:lnTo>
                  <a:pt x="1813478" y="1328487"/>
                </a:lnTo>
                <a:lnTo>
                  <a:pt x="1779158" y="1357997"/>
                </a:lnTo>
                <a:lnTo>
                  <a:pt x="1743024" y="1386150"/>
                </a:lnTo>
                <a:lnTo>
                  <a:pt x="1705146" y="1412889"/>
                </a:lnTo>
                <a:lnTo>
                  <a:pt x="1665596" y="1438158"/>
                </a:lnTo>
                <a:lnTo>
                  <a:pt x="1624446" y="1461903"/>
                </a:lnTo>
                <a:lnTo>
                  <a:pt x="1581767" y="1484068"/>
                </a:lnTo>
                <a:lnTo>
                  <a:pt x="1537629" y="1504597"/>
                </a:lnTo>
                <a:lnTo>
                  <a:pt x="1492105" y="1523434"/>
                </a:lnTo>
                <a:lnTo>
                  <a:pt x="1445265" y="1540524"/>
                </a:lnTo>
                <a:lnTo>
                  <a:pt x="1397182" y="1555812"/>
                </a:lnTo>
                <a:lnTo>
                  <a:pt x="1347926" y="1569241"/>
                </a:lnTo>
                <a:lnTo>
                  <a:pt x="1297568" y="1580757"/>
                </a:lnTo>
                <a:lnTo>
                  <a:pt x="1246180" y="1590304"/>
                </a:lnTo>
                <a:lnTo>
                  <a:pt x="1193833" y="1597826"/>
                </a:lnTo>
                <a:lnTo>
                  <a:pt x="1140599" y="1603267"/>
                </a:lnTo>
                <a:lnTo>
                  <a:pt x="1086549" y="1606573"/>
                </a:lnTo>
                <a:lnTo>
                  <a:pt x="1031753" y="1607687"/>
                </a:lnTo>
                <a:lnTo>
                  <a:pt x="976958" y="1606573"/>
                </a:lnTo>
                <a:lnTo>
                  <a:pt x="922907" y="1603267"/>
                </a:lnTo>
                <a:lnTo>
                  <a:pt x="869673" y="1597826"/>
                </a:lnTo>
                <a:lnTo>
                  <a:pt x="817327" y="1590304"/>
                </a:lnTo>
                <a:lnTo>
                  <a:pt x="765939" y="1580757"/>
                </a:lnTo>
                <a:lnTo>
                  <a:pt x="715581" y="1569241"/>
                </a:lnTo>
                <a:lnTo>
                  <a:pt x="666325" y="1555812"/>
                </a:lnTo>
                <a:lnTo>
                  <a:pt x="618241" y="1540524"/>
                </a:lnTo>
                <a:lnTo>
                  <a:pt x="571402" y="1523434"/>
                </a:lnTo>
                <a:lnTo>
                  <a:pt x="525877" y="1504597"/>
                </a:lnTo>
                <a:lnTo>
                  <a:pt x="481740" y="1484068"/>
                </a:lnTo>
                <a:lnTo>
                  <a:pt x="439060" y="1461903"/>
                </a:lnTo>
                <a:lnTo>
                  <a:pt x="397910" y="1438158"/>
                </a:lnTo>
                <a:lnTo>
                  <a:pt x="358361" y="1412889"/>
                </a:lnTo>
                <a:lnTo>
                  <a:pt x="320483" y="1386150"/>
                </a:lnTo>
                <a:lnTo>
                  <a:pt x="284348" y="1357997"/>
                </a:lnTo>
                <a:lnTo>
                  <a:pt x="250028" y="1328487"/>
                </a:lnTo>
                <a:lnTo>
                  <a:pt x="217594" y="1297673"/>
                </a:lnTo>
                <a:lnTo>
                  <a:pt x="187117" y="1265613"/>
                </a:lnTo>
                <a:lnTo>
                  <a:pt x="158668" y="1232361"/>
                </a:lnTo>
                <a:lnTo>
                  <a:pt x="132319" y="1197973"/>
                </a:lnTo>
                <a:lnTo>
                  <a:pt x="108141" y="1162505"/>
                </a:lnTo>
                <a:lnTo>
                  <a:pt x="86205" y="1126013"/>
                </a:lnTo>
                <a:lnTo>
                  <a:pt x="66583" y="1088550"/>
                </a:lnTo>
                <a:lnTo>
                  <a:pt x="49346" y="1050175"/>
                </a:lnTo>
                <a:lnTo>
                  <a:pt x="34565" y="1010941"/>
                </a:lnTo>
                <a:lnTo>
                  <a:pt x="22311" y="970904"/>
                </a:lnTo>
                <a:lnTo>
                  <a:pt x="12657" y="930121"/>
                </a:lnTo>
                <a:lnTo>
                  <a:pt x="5673" y="888646"/>
                </a:lnTo>
                <a:lnTo>
                  <a:pt x="1430" y="846535"/>
                </a:lnTo>
                <a:lnTo>
                  <a:pt x="0" y="803843"/>
                </a:lnTo>
                <a:close/>
              </a:path>
            </a:pathLst>
          </a:custGeom>
          <a:ln w="76199">
            <a:solidFill>
              <a:srgbClr val="0433FF"/>
            </a:solidFill>
          </a:ln>
        </p:spPr>
        <p:txBody>
          <a:bodyPr wrap="square" lIns="0" tIns="0" rIns="0" bIns="0" rtlCol="0"/>
          <a:lstStyle/>
          <a:p>
            <a:endParaRPr>
              <a:latin typeface="+mj-lt"/>
            </a:endParaRPr>
          </a:p>
        </p:txBody>
      </p:sp>
      <p:sp>
        <p:nvSpPr>
          <p:cNvPr id="10" name="object 10"/>
          <p:cNvSpPr/>
          <p:nvPr/>
        </p:nvSpPr>
        <p:spPr>
          <a:xfrm>
            <a:off x="1683327" y="2406534"/>
            <a:ext cx="1650076" cy="864523"/>
          </a:xfrm>
          <a:prstGeom prst="rect">
            <a:avLst/>
          </a:prstGeom>
          <a:blipFill>
            <a:blip r:embed="rId3" cstate="print"/>
            <a:stretch>
              <a:fillRect/>
            </a:stretch>
          </a:blipFill>
        </p:spPr>
        <p:txBody>
          <a:bodyPr wrap="square" lIns="0" tIns="0" rIns="0" bIns="0" rtlCol="0"/>
          <a:lstStyle/>
          <a:p>
            <a:endParaRPr>
              <a:latin typeface="+mj-lt"/>
            </a:endParaRPr>
          </a:p>
        </p:txBody>
      </p:sp>
      <p:sp>
        <p:nvSpPr>
          <p:cNvPr id="11" name="object 11"/>
          <p:cNvSpPr/>
          <p:nvPr/>
        </p:nvSpPr>
        <p:spPr>
          <a:xfrm>
            <a:off x="1917154" y="2592069"/>
            <a:ext cx="1186180" cy="446405"/>
          </a:xfrm>
          <a:custGeom>
            <a:avLst/>
            <a:gdLst/>
            <a:ahLst/>
            <a:cxnLst/>
            <a:rect l="l" t="t" r="r" b="b"/>
            <a:pathLst>
              <a:path w="1186180" h="446405">
                <a:moveTo>
                  <a:pt x="1185809" y="446115"/>
                </a:moveTo>
                <a:lnTo>
                  <a:pt x="0" y="0"/>
                </a:lnTo>
              </a:path>
            </a:pathLst>
          </a:custGeom>
          <a:ln w="38099">
            <a:solidFill>
              <a:srgbClr val="FA9D55"/>
            </a:solidFill>
          </a:ln>
        </p:spPr>
        <p:txBody>
          <a:bodyPr wrap="square" lIns="0" tIns="0" rIns="0" bIns="0" rtlCol="0"/>
          <a:lstStyle/>
          <a:p>
            <a:endParaRPr>
              <a:latin typeface="+mj-lt"/>
            </a:endParaRPr>
          </a:p>
        </p:txBody>
      </p:sp>
      <p:sp>
        <p:nvSpPr>
          <p:cNvPr id="12" name="object 12"/>
          <p:cNvSpPr/>
          <p:nvPr/>
        </p:nvSpPr>
        <p:spPr>
          <a:xfrm>
            <a:off x="2953726" y="2916582"/>
            <a:ext cx="184623" cy="162541"/>
          </a:xfrm>
          <a:prstGeom prst="rect">
            <a:avLst/>
          </a:prstGeom>
          <a:blipFill>
            <a:blip r:embed="rId4" cstate="print"/>
            <a:stretch>
              <a:fillRect/>
            </a:stretch>
          </a:blipFill>
        </p:spPr>
        <p:txBody>
          <a:bodyPr wrap="square" lIns="0" tIns="0" rIns="0" bIns="0" rtlCol="0"/>
          <a:lstStyle/>
          <a:p>
            <a:endParaRPr>
              <a:latin typeface="+mj-lt"/>
            </a:endParaRPr>
          </a:p>
        </p:txBody>
      </p:sp>
      <p:sp>
        <p:nvSpPr>
          <p:cNvPr id="13" name="object 13"/>
          <p:cNvSpPr/>
          <p:nvPr/>
        </p:nvSpPr>
        <p:spPr>
          <a:xfrm>
            <a:off x="1881769" y="2551130"/>
            <a:ext cx="184623" cy="162541"/>
          </a:xfrm>
          <a:prstGeom prst="rect">
            <a:avLst/>
          </a:prstGeom>
          <a:blipFill>
            <a:blip r:embed="rId5" cstate="print"/>
            <a:stretch>
              <a:fillRect/>
            </a:stretch>
          </a:blipFill>
        </p:spPr>
        <p:txBody>
          <a:bodyPr wrap="square" lIns="0" tIns="0" rIns="0" bIns="0" rtlCol="0"/>
          <a:lstStyle/>
          <a:p>
            <a:endParaRPr>
              <a:latin typeface="+mj-lt"/>
            </a:endParaRPr>
          </a:p>
        </p:txBody>
      </p:sp>
      <p:sp>
        <p:nvSpPr>
          <p:cNvPr id="14" name="object 14"/>
          <p:cNvSpPr/>
          <p:nvPr/>
        </p:nvSpPr>
        <p:spPr>
          <a:xfrm>
            <a:off x="1774767" y="4783975"/>
            <a:ext cx="1263534" cy="432261"/>
          </a:xfrm>
          <a:prstGeom prst="rect">
            <a:avLst/>
          </a:prstGeom>
          <a:blipFill>
            <a:blip r:embed="rId6" cstate="print"/>
            <a:stretch>
              <a:fillRect/>
            </a:stretch>
          </a:blipFill>
        </p:spPr>
        <p:txBody>
          <a:bodyPr wrap="square" lIns="0" tIns="0" rIns="0" bIns="0" rtlCol="0"/>
          <a:lstStyle/>
          <a:p>
            <a:endParaRPr>
              <a:latin typeface="+mj-lt"/>
            </a:endParaRPr>
          </a:p>
        </p:txBody>
      </p:sp>
      <p:sp>
        <p:nvSpPr>
          <p:cNvPr id="15" name="object 15"/>
          <p:cNvSpPr/>
          <p:nvPr/>
        </p:nvSpPr>
        <p:spPr>
          <a:xfrm>
            <a:off x="2010473" y="4959756"/>
            <a:ext cx="791845" cy="33655"/>
          </a:xfrm>
          <a:custGeom>
            <a:avLst/>
            <a:gdLst/>
            <a:ahLst/>
            <a:cxnLst/>
            <a:rect l="l" t="t" r="r" b="b"/>
            <a:pathLst>
              <a:path w="791844" h="33654">
                <a:moveTo>
                  <a:pt x="791220" y="33430"/>
                </a:moveTo>
                <a:lnTo>
                  <a:pt x="0" y="0"/>
                </a:lnTo>
              </a:path>
            </a:pathLst>
          </a:custGeom>
          <a:ln w="38099">
            <a:solidFill>
              <a:srgbClr val="FF2600"/>
            </a:solidFill>
          </a:ln>
        </p:spPr>
        <p:txBody>
          <a:bodyPr wrap="square" lIns="0" tIns="0" rIns="0" bIns="0" rtlCol="0"/>
          <a:lstStyle/>
          <a:p>
            <a:endParaRPr>
              <a:latin typeface="+mj-lt"/>
            </a:endParaRPr>
          </a:p>
        </p:txBody>
      </p:sp>
      <p:sp>
        <p:nvSpPr>
          <p:cNvPr id="16" name="object 16"/>
          <p:cNvSpPr/>
          <p:nvPr/>
        </p:nvSpPr>
        <p:spPr>
          <a:xfrm>
            <a:off x="2665696" y="4902968"/>
            <a:ext cx="173771" cy="170993"/>
          </a:xfrm>
          <a:prstGeom prst="rect">
            <a:avLst/>
          </a:prstGeom>
          <a:blipFill>
            <a:blip r:embed="rId7" cstate="print"/>
            <a:stretch>
              <a:fillRect/>
            </a:stretch>
          </a:blipFill>
        </p:spPr>
        <p:txBody>
          <a:bodyPr wrap="square" lIns="0" tIns="0" rIns="0" bIns="0" rtlCol="0"/>
          <a:lstStyle/>
          <a:p>
            <a:endParaRPr>
              <a:latin typeface="+mj-lt"/>
            </a:endParaRPr>
          </a:p>
        </p:txBody>
      </p:sp>
      <p:sp>
        <p:nvSpPr>
          <p:cNvPr id="17" name="object 17"/>
          <p:cNvSpPr/>
          <p:nvPr/>
        </p:nvSpPr>
        <p:spPr>
          <a:xfrm>
            <a:off x="1972698" y="4878982"/>
            <a:ext cx="173770" cy="170993"/>
          </a:xfrm>
          <a:prstGeom prst="rect">
            <a:avLst/>
          </a:prstGeom>
          <a:blipFill>
            <a:blip r:embed="rId8" cstate="print"/>
            <a:stretch>
              <a:fillRect/>
            </a:stretch>
          </a:blipFill>
        </p:spPr>
        <p:txBody>
          <a:bodyPr wrap="square" lIns="0" tIns="0" rIns="0" bIns="0" rtlCol="0"/>
          <a:lstStyle/>
          <a:p>
            <a:endParaRPr>
              <a:latin typeface="+mj-lt"/>
            </a:endParaRPr>
          </a:p>
        </p:txBody>
      </p:sp>
      <p:sp>
        <p:nvSpPr>
          <p:cNvPr id="18" name="object 18"/>
          <p:cNvSpPr/>
          <p:nvPr/>
        </p:nvSpPr>
        <p:spPr>
          <a:xfrm>
            <a:off x="5918660" y="5390803"/>
            <a:ext cx="1184563" cy="469669"/>
          </a:xfrm>
          <a:prstGeom prst="rect">
            <a:avLst/>
          </a:prstGeom>
          <a:blipFill>
            <a:blip r:embed="rId9" cstate="print"/>
            <a:stretch>
              <a:fillRect/>
            </a:stretch>
          </a:blipFill>
        </p:spPr>
        <p:txBody>
          <a:bodyPr wrap="square" lIns="0" tIns="0" rIns="0" bIns="0" rtlCol="0"/>
          <a:lstStyle/>
          <a:p>
            <a:endParaRPr>
              <a:latin typeface="+mj-lt"/>
            </a:endParaRPr>
          </a:p>
        </p:txBody>
      </p:sp>
      <p:sp>
        <p:nvSpPr>
          <p:cNvPr id="19" name="object 19"/>
          <p:cNvSpPr/>
          <p:nvPr/>
        </p:nvSpPr>
        <p:spPr>
          <a:xfrm>
            <a:off x="6153782" y="5568276"/>
            <a:ext cx="713105" cy="67945"/>
          </a:xfrm>
          <a:custGeom>
            <a:avLst/>
            <a:gdLst/>
            <a:ahLst/>
            <a:cxnLst/>
            <a:rect l="l" t="t" r="r" b="b"/>
            <a:pathLst>
              <a:path w="713104" h="67945">
                <a:moveTo>
                  <a:pt x="0" y="67486"/>
                </a:moveTo>
                <a:lnTo>
                  <a:pt x="712915" y="0"/>
                </a:lnTo>
              </a:path>
            </a:pathLst>
          </a:custGeom>
          <a:ln w="38099">
            <a:solidFill>
              <a:srgbClr val="0433FF"/>
            </a:solidFill>
          </a:ln>
        </p:spPr>
        <p:txBody>
          <a:bodyPr wrap="square" lIns="0" tIns="0" rIns="0" bIns="0" rtlCol="0"/>
          <a:lstStyle/>
          <a:p>
            <a:endParaRPr>
              <a:latin typeface="+mj-lt"/>
            </a:endParaRPr>
          </a:p>
        </p:txBody>
      </p:sp>
      <p:sp>
        <p:nvSpPr>
          <p:cNvPr id="20" name="object 20"/>
          <p:cNvSpPr/>
          <p:nvPr/>
        </p:nvSpPr>
        <p:spPr>
          <a:xfrm>
            <a:off x="6116143" y="5539815"/>
            <a:ext cx="176757" cy="170597"/>
          </a:xfrm>
          <a:prstGeom prst="rect">
            <a:avLst/>
          </a:prstGeom>
          <a:blipFill>
            <a:blip r:embed="rId10" cstate="print"/>
            <a:stretch>
              <a:fillRect/>
            </a:stretch>
          </a:blipFill>
        </p:spPr>
        <p:txBody>
          <a:bodyPr wrap="square" lIns="0" tIns="0" rIns="0" bIns="0" rtlCol="0"/>
          <a:lstStyle/>
          <a:p>
            <a:endParaRPr>
              <a:latin typeface="+mj-lt"/>
            </a:endParaRPr>
          </a:p>
        </p:txBody>
      </p:sp>
      <p:sp>
        <p:nvSpPr>
          <p:cNvPr id="21" name="object 21"/>
          <p:cNvSpPr/>
          <p:nvPr/>
        </p:nvSpPr>
        <p:spPr>
          <a:xfrm>
            <a:off x="6727579" y="5493626"/>
            <a:ext cx="176758" cy="170597"/>
          </a:xfrm>
          <a:prstGeom prst="rect">
            <a:avLst/>
          </a:prstGeom>
          <a:blipFill>
            <a:blip r:embed="rId11" cstate="print"/>
            <a:stretch>
              <a:fillRect/>
            </a:stretch>
          </a:blipFill>
        </p:spPr>
        <p:txBody>
          <a:bodyPr wrap="square" lIns="0" tIns="0" rIns="0" bIns="0" rtlCol="0"/>
          <a:lstStyle/>
          <a:p>
            <a:endParaRPr>
              <a:latin typeface="+mj-lt"/>
            </a:endParaRPr>
          </a:p>
        </p:txBody>
      </p:sp>
      <p:sp>
        <p:nvSpPr>
          <p:cNvPr id="22" name="object 22"/>
          <p:cNvSpPr txBox="1"/>
          <p:nvPr/>
        </p:nvSpPr>
        <p:spPr>
          <a:xfrm>
            <a:off x="6983186" y="2761351"/>
            <a:ext cx="1463675"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mj-lt"/>
                <a:cs typeface="Calibri" panose="020F0502020204030204"/>
              </a:rPr>
              <a:t>Small and slow,  cool, eﬃcient</a:t>
            </a:r>
            <a:endParaRPr sz="1800">
              <a:latin typeface="+mj-lt"/>
              <a:cs typeface="Calibri" panose="020F0502020204030204"/>
            </a:endParaRPr>
          </a:p>
        </p:txBody>
      </p:sp>
      <p:sp>
        <p:nvSpPr>
          <p:cNvPr id="23" name="object 23"/>
          <p:cNvSpPr/>
          <p:nvPr/>
        </p:nvSpPr>
        <p:spPr>
          <a:xfrm>
            <a:off x="5536275" y="2876203"/>
            <a:ext cx="1566948" cy="394854"/>
          </a:xfrm>
          <a:prstGeom prst="rect">
            <a:avLst/>
          </a:prstGeom>
          <a:blipFill>
            <a:blip r:embed="rId12" cstate="print"/>
            <a:stretch>
              <a:fillRect/>
            </a:stretch>
          </a:blipFill>
        </p:spPr>
        <p:txBody>
          <a:bodyPr wrap="square" lIns="0" tIns="0" rIns="0" bIns="0" rtlCol="0"/>
          <a:lstStyle/>
          <a:p>
            <a:endParaRPr>
              <a:latin typeface="+mj-lt"/>
            </a:endParaRPr>
          </a:p>
        </p:txBody>
      </p:sp>
      <p:sp>
        <p:nvSpPr>
          <p:cNvPr id="24" name="object 24"/>
          <p:cNvSpPr/>
          <p:nvPr/>
        </p:nvSpPr>
        <p:spPr>
          <a:xfrm>
            <a:off x="5770390" y="3051497"/>
            <a:ext cx="1096645" cy="0"/>
          </a:xfrm>
          <a:custGeom>
            <a:avLst/>
            <a:gdLst/>
            <a:ahLst/>
            <a:cxnLst/>
            <a:rect l="l" t="t" r="r" b="b"/>
            <a:pathLst>
              <a:path w="1096645">
                <a:moveTo>
                  <a:pt x="1096248" y="0"/>
                </a:moveTo>
                <a:lnTo>
                  <a:pt x="0" y="0"/>
                </a:lnTo>
              </a:path>
            </a:pathLst>
          </a:custGeom>
          <a:ln w="38099">
            <a:solidFill>
              <a:srgbClr val="FA9D55"/>
            </a:solidFill>
          </a:ln>
        </p:spPr>
        <p:txBody>
          <a:bodyPr wrap="square" lIns="0" tIns="0" rIns="0" bIns="0" rtlCol="0"/>
          <a:lstStyle/>
          <a:p>
            <a:endParaRPr>
              <a:latin typeface="+mj-lt"/>
            </a:endParaRPr>
          </a:p>
        </p:txBody>
      </p:sp>
      <p:sp>
        <p:nvSpPr>
          <p:cNvPr id="25" name="object 25"/>
          <p:cNvSpPr/>
          <p:nvPr/>
        </p:nvSpPr>
        <p:spPr>
          <a:xfrm>
            <a:off x="6733441" y="2965924"/>
            <a:ext cx="171005" cy="171146"/>
          </a:xfrm>
          <a:prstGeom prst="rect">
            <a:avLst/>
          </a:prstGeom>
          <a:blipFill>
            <a:blip r:embed="rId13" cstate="print"/>
            <a:stretch>
              <a:fillRect/>
            </a:stretch>
          </a:blipFill>
        </p:spPr>
        <p:txBody>
          <a:bodyPr wrap="square" lIns="0" tIns="0" rIns="0" bIns="0" rtlCol="0"/>
          <a:lstStyle/>
          <a:p>
            <a:endParaRPr>
              <a:latin typeface="+mj-lt"/>
            </a:endParaRPr>
          </a:p>
        </p:txBody>
      </p:sp>
      <p:sp>
        <p:nvSpPr>
          <p:cNvPr id="26" name="object 26"/>
          <p:cNvSpPr/>
          <p:nvPr/>
        </p:nvSpPr>
        <p:spPr>
          <a:xfrm>
            <a:off x="5732583" y="2965924"/>
            <a:ext cx="171005" cy="171146"/>
          </a:xfrm>
          <a:prstGeom prst="rect">
            <a:avLst/>
          </a:prstGeom>
          <a:blipFill>
            <a:blip r:embed="rId14" cstate="print"/>
            <a:stretch>
              <a:fillRect/>
            </a:stretch>
          </a:blipFill>
        </p:spPr>
        <p:txBody>
          <a:bodyPr wrap="square" lIns="0" tIns="0" rIns="0" bIns="0" rtlCol="0"/>
          <a:lstStyle/>
          <a:p>
            <a:endParaRPr>
              <a:latin typeface="+mj-lt"/>
            </a:endParaRPr>
          </a:p>
        </p:txBody>
      </p:sp>
      <p:sp>
        <p:nvSpPr>
          <p:cNvPr id="27" name="object 27"/>
          <p:cNvSpPr txBox="1"/>
          <p:nvPr/>
        </p:nvSpPr>
        <p:spPr>
          <a:xfrm>
            <a:off x="493129" y="4628558"/>
            <a:ext cx="1480185" cy="1064393"/>
          </a:xfrm>
          <a:prstGeom prst="rect">
            <a:avLst/>
          </a:prstGeom>
        </p:spPr>
        <p:txBody>
          <a:bodyPr vert="horz" wrap="square" lIns="0" tIns="27939" rIns="0" bIns="0" rtlCol="0">
            <a:spAutoFit/>
          </a:bodyPr>
          <a:lstStyle/>
          <a:p>
            <a:pPr marL="55245" marR="5080">
              <a:lnSpc>
                <a:spcPts val="2100"/>
              </a:lnSpc>
              <a:spcBef>
                <a:spcPts val="220"/>
              </a:spcBef>
            </a:pPr>
            <a:r>
              <a:rPr sz="1800" dirty="0">
                <a:latin typeface="+mj-lt"/>
                <a:cs typeface="Calibri" panose="020F0502020204030204"/>
              </a:rPr>
              <a:t>Smaller space,  shorter vectors</a:t>
            </a:r>
          </a:p>
          <a:p>
            <a:pPr>
              <a:lnSpc>
                <a:spcPct val="100000"/>
              </a:lnSpc>
              <a:spcBef>
                <a:spcPts val="50"/>
              </a:spcBef>
            </a:pPr>
            <a:endParaRPr sz="3150" dirty="0">
              <a:latin typeface="+mj-lt"/>
              <a:cs typeface="Calibri" panose="020F0502020204030204"/>
            </a:endParaRPr>
          </a:p>
        </p:txBody>
      </p:sp>
      <p:sp>
        <p:nvSpPr>
          <p:cNvPr id="30" name="object 30"/>
          <p:cNvSpPr/>
          <p:nvPr/>
        </p:nvSpPr>
        <p:spPr>
          <a:xfrm>
            <a:off x="4088470" y="5996251"/>
            <a:ext cx="176472" cy="170642"/>
          </a:xfrm>
          <a:prstGeom prst="rect">
            <a:avLst/>
          </a:prstGeom>
          <a:blipFill>
            <a:blip r:embed="rId15" cstate="print"/>
            <a:stretch>
              <a:fillRect/>
            </a:stretch>
          </a:blipFill>
        </p:spPr>
        <p:txBody>
          <a:bodyPr wrap="square" lIns="0" tIns="0" rIns="0" bIns="0" rtlCol="0"/>
          <a:lstStyle/>
          <a:p>
            <a:endParaRPr>
              <a:latin typeface="+mj-lt"/>
            </a:endParaRPr>
          </a:p>
        </p:txBody>
      </p:sp>
      <p:sp>
        <p:nvSpPr>
          <p:cNvPr id="32" name="object 32"/>
          <p:cNvSpPr txBox="1"/>
          <p:nvPr/>
        </p:nvSpPr>
        <p:spPr>
          <a:xfrm>
            <a:off x="6983186" y="5274890"/>
            <a:ext cx="1733550" cy="566420"/>
          </a:xfrm>
          <a:prstGeom prst="rect">
            <a:avLst/>
          </a:prstGeom>
        </p:spPr>
        <p:txBody>
          <a:bodyPr vert="horz" wrap="square" lIns="0" tIns="27940" rIns="0" bIns="0" rtlCol="0">
            <a:spAutoFit/>
          </a:bodyPr>
          <a:lstStyle/>
          <a:p>
            <a:pPr marL="12700" marR="5080">
              <a:lnSpc>
                <a:spcPts val="2100"/>
              </a:lnSpc>
              <a:spcBef>
                <a:spcPts val="220"/>
              </a:spcBef>
            </a:pPr>
            <a:r>
              <a:rPr sz="1800" dirty="0">
                <a:latin typeface="+mj-lt"/>
                <a:cs typeface="Calibri" panose="020F0502020204030204"/>
              </a:rPr>
              <a:t>Large L2 cache, no  L3 (but MCDRAM)</a:t>
            </a:r>
            <a:endParaRPr sz="1800">
              <a:latin typeface="+mj-lt"/>
              <a:cs typeface="Calibri" panose="020F0502020204030204"/>
            </a:endParaRPr>
          </a:p>
        </p:txBody>
      </p:sp>
      <p:sp>
        <p:nvSpPr>
          <p:cNvPr id="33" name="object 33"/>
          <p:cNvSpPr txBox="1"/>
          <p:nvPr/>
        </p:nvSpPr>
        <p:spPr>
          <a:xfrm>
            <a:off x="6983186" y="4259225"/>
            <a:ext cx="15430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Big wide vectors</a:t>
            </a:r>
            <a:endParaRPr sz="1800">
              <a:latin typeface="+mj-lt"/>
              <a:cs typeface="Calibri" panose="020F0502020204030204"/>
            </a:endParaRPr>
          </a:p>
        </p:txBody>
      </p:sp>
      <p:sp>
        <p:nvSpPr>
          <p:cNvPr id="34" name="object 34"/>
          <p:cNvSpPr/>
          <p:nvPr/>
        </p:nvSpPr>
        <p:spPr>
          <a:xfrm>
            <a:off x="3840479" y="4235334"/>
            <a:ext cx="3262745" cy="494607"/>
          </a:xfrm>
          <a:prstGeom prst="rect">
            <a:avLst/>
          </a:prstGeom>
          <a:blipFill>
            <a:blip r:embed="rId16" cstate="print"/>
            <a:stretch>
              <a:fillRect/>
            </a:stretch>
          </a:blipFill>
        </p:spPr>
        <p:txBody>
          <a:bodyPr wrap="square" lIns="0" tIns="0" rIns="0" bIns="0" rtlCol="0"/>
          <a:lstStyle/>
          <a:p>
            <a:endParaRPr>
              <a:latin typeface="+mj-lt"/>
            </a:endParaRPr>
          </a:p>
        </p:txBody>
      </p:sp>
      <p:sp>
        <p:nvSpPr>
          <p:cNvPr id="35" name="object 35"/>
          <p:cNvSpPr/>
          <p:nvPr/>
        </p:nvSpPr>
        <p:spPr>
          <a:xfrm>
            <a:off x="4073557" y="4412178"/>
            <a:ext cx="2793365" cy="96520"/>
          </a:xfrm>
          <a:custGeom>
            <a:avLst/>
            <a:gdLst/>
            <a:ahLst/>
            <a:cxnLst/>
            <a:rect l="l" t="t" r="r" b="b"/>
            <a:pathLst>
              <a:path w="2793365" h="96520">
                <a:moveTo>
                  <a:pt x="2793104" y="0"/>
                </a:moveTo>
                <a:lnTo>
                  <a:pt x="0" y="96520"/>
                </a:lnTo>
              </a:path>
            </a:pathLst>
          </a:custGeom>
          <a:ln w="38099">
            <a:solidFill>
              <a:srgbClr val="FF2600"/>
            </a:solidFill>
          </a:ln>
        </p:spPr>
        <p:txBody>
          <a:bodyPr wrap="square" lIns="0" tIns="0" rIns="0" bIns="0" rtlCol="0"/>
          <a:lstStyle/>
          <a:p>
            <a:endParaRPr>
              <a:latin typeface="+mj-lt"/>
            </a:endParaRPr>
          </a:p>
        </p:txBody>
      </p:sp>
      <p:sp>
        <p:nvSpPr>
          <p:cNvPr id="36" name="object 36"/>
          <p:cNvSpPr/>
          <p:nvPr/>
        </p:nvSpPr>
        <p:spPr>
          <a:xfrm>
            <a:off x="6731155" y="4330519"/>
            <a:ext cx="173290" cy="171044"/>
          </a:xfrm>
          <a:prstGeom prst="rect">
            <a:avLst/>
          </a:prstGeom>
          <a:blipFill>
            <a:blip r:embed="rId17" cstate="print"/>
            <a:stretch>
              <a:fillRect/>
            </a:stretch>
          </a:blipFill>
        </p:spPr>
        <p:txBody>
          <a:bodyPr wrap="square" lIns="0" tIns="0" rIns="0" bIns="0" rtlCol="0"/>
          <a:lstStyle/>
          <a:p>
            <a:endParaRPr>
              <a:latin typeface="+mj-lt"/>
            </a:endParaRPr>
          </a:p>
        </p:txBody>
      </p:sp>
      <p:sp>
        <p:nvSpPr>
          <p:cNvPr id="37" name="object 37"/>
          <p:cNvSpPr/>
          <p:nvPr/>
        </p:nvSpPr>
        <p:spPr>
          <a:xfrm>
            <a:off x="4035771" y="4419312"/>
            <a:ext cx="173290" cy="171044"/>
          </a:xfrm>
          <a:prstGeom prst="rect">
            <a:avLst/>
          </a:prstGeom>
          <a:blipFill>
            <a:blip r:embed="rId18" cstate="print"/>
            <a:stretch>
              <a:fillRect/>
            </a:stretch>
          </a:blipFill>
        </p:spPr>
        <p:txBody>
          <a:bodyPr wrap="square" lIns="0" tIns="0" rIns="0" bIns="0" rtlCol="0"/>
          <a:lstStyle/>
          <a:p>
            <a:endParaRPr>
              <a:latin typeface="+mj-lt"/>
            </a:endParaRPr>
          </a:p>
        </p:txBody>
      </p:sp>
      <p:sp>
        <p:nvSpPr>
          <p:cNvPr id="39" name="object 6"/>
          <p:cNvSpPr txBox="1">
            <a:spLocks noGrp="1"/>
          </p:cNvSpPr>
          <p:nvPr>
            <p:ph type="title"/>
          </p:nvPr>
        </p:nvSpPr>
        <p:spPr>
          <a:xfrm>
            <a:off x="913130" y="193675"/>
            <a:ext cx="7351395" cy="598170"/>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What</a:t>
            </a:r>
            <a:r>
              <a:rPr lang="en-US" altLang="zh-CN" dirty="0">
                <a:latin typeface="+mj-lt"/>
              </a:rPr>
              <a:t>'</a:t>
            </a:r>
            <a:r>
              <a:rPr dirty="0">
                <a:latin typeface="+mj-lt"/>
              </a:rPr>
              <a:t>s so special about </a:t>
            </a:r>
            <a:r>
              <a:rPr lang="en-US" altLang="zh-CN" dirty="0">
                <a:latin typeface="+mj-lt"/>
              </a:rPr>
              <a:t>KNL</a:t>
            </a:r>
            <a:r>
              <a:rPr dirty="0">
                <a:latin typeface="+mj-lt"/>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4701" y="122714"/>
            <a:ext cx="2383250"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Why?</a:t>
            </a:r>
          </a:p>
        </p:txBody>
      </p:sp>
      <p:sp>
        <p:nvSpPr>
          <p:cNvPr id="3" name="object 3"/>
          <p:cNvSpPr txBox="1"/>
          <p:nvPr/>
        </p:nvSpPr>
        <p:spPr>
          <a:xfrm>
            <a:off x="535939" y="1251966"/>
            <a:ext cx="8053070" cy="5274264"/>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400" b="1" dirty="0">
                <a:latin typeface="+mj-lt"/>
                <a:cs typeface="Calibri" panose="020F0502020204030204"/>
              </a:rPr>
              <a:t>Exascale challenges – power and heat</a:t>
            </a:r>
            <a:endParaRPr sz="2400" dirty="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000" dirty="0">
                <a:latin typeface="+mj-lt"/>
                <a:cs typeface="Calibri" panose="020F0502020204030204"/>
              </a:rPr>
              <a:t>CPU frequency plateaued ~15 years ago</a:t>
            </a:r>
          </a:p>
          <a:p>
            <a:pPr marL="749300" marR="697865" lvl="1" indent="-279400">
              <a:lnSpc>
                <a:spcPts val="2820"/>
              </a:lnSpc>
              <a:spcBef>
                <a:spcPts val="765"/>
              </a:spcBef>
              <a:buFont typeface="Arial" panose="020B0604020202020204"/>
              <a:buChar char="–"/>
              <a:tabLst>
                <a:tab pos="755650" algn="l"/>
              </a:tabLst>
            </a:pPr>
            <a:r>
              <a:rPr sz="2000" dirty="0">
                <a:latin typeface="+mj-lt"/>
                <a:cs typeface="Calibri" panose="020F0502020204030204"/>
              </a:rPr>
              <a:t>Transistor density, feature size reaching fundamental  limits</a:t>
            </a:r>
          </a:p>
          <a:p>
            <a:pPr marL="749300" marR="5080" lvl="1" indent="-279400">
              <a:lnSpc>
                <a:spcPct val="101000"/>
              </a:lnSpc>
              <a:spcBef>
                <a:spcPts val="475"/>
              </a:spcBef>
              <a:buFont typeface="Arial" panose="020B0604020202020204"/>
              <a:buChar char="–"/>
              <a:tabLst>
                <a:tab pos="755650" algn="l"/>
              </a:tabLst>
            </a:pPr>
            <a:r>
              <a:rPr sz="2000" b="1" dirty="0">
                <a:latin typeface="+mj-lt"/>
                <a:cs typeface="Calibri" panose="020F0502020204030204"/>
              </a:rPr>
              <a:t>Power consumption and heat dissipation are now the key  constraints for supercomputing</a:t>
            </a:r>
            <a:endParaRPr sz="2000" dirty="0">
              <a:latin typeface="+mj-lt"/>
              <a:cs typeface="Calibri" panose="020F0502020204030204"/>
            </a:endParaRPr>
          </a:p>
          <a:p>
            <a:pPr marL="755650" lvl="1" indent="-285750">
              <a:lnSpc>
                <a:spcPct val="100000"/>
              </a:lnSpc>
              <a:spcBef>
                <a:spcPts val="495"/>
              </a:spcBef>
              <a:buFont typeface="Arial" panose="020B0604020202020204"/>
              <a:buChar char="–"/>
              <a:tabLst>
                <a:tab pos="755650" algn="l"/>
              </a:tabLst>
            </a:pPr>
            <a:r>
              <a:rPr sz="2000" dirty="0">
                <a:latin typeface="+mj-lt"/>
                <a:cs typeface="Calibri" panose="020F0502020204030204"/>
              </a:rPr>
              <a:t>… we can’t get there from here!</a:t>
            </a:r>
          </a:p>
          <a:p>
            <a:pPr marL="355600" marR="568960" indent="-342900">
              <a:lnSpc>
                <a:spcPts val="3330"/>
              </a:lnSpc>
              <a:spcBef>
                <a:spcPts val="850"/>
              </a:spcBef>
              <a:buFont typeface="Arial" panose="020B0604020202020204"/>
              <a:buChar char="•"/>
              <a:tabLst>
                <a:tab pos="354965" algn="l"/>
                <a:tab pos="355600" algn="l"/>
              </a:tabLst>
            </a:pPr>
            <a:r>
              <a:rPr sz="2400" b="1" dirty="0">
                <a:latin typeface="+mj-lt"/>
                <a:cs typeface="Calibri" panose="020F0502020204030204"/>
              </a:rPr>
              <a:t>KNL emphasizes vectorization and parallelism at  lower power</a:t>
            </a:r>
            <a:endParaRPr sz="2400" dirty="0">
              <a:latin typeface="+mj-lt"/>
              <a:cs typeface="Calibri" panose="020F0502020204030204"/>
            </a:endParaRPr>
          </a:p>
          <a:p>
            <a:pPr marL="755650" lvl="1" indent="-285750">
              <a:lnSpc>
                <a:spcPct val="100000"/>
              </a:lnSpc>
              <a:spcBef>
                <a:spcPts val="510"/>
              </a:spcBef>
              <a:buFont typeface="Arial" panose="020B0604020202020204"/>
              <a:buChar char="–"/>
              <a:tabLst>
                <a:tab pos="755650" algn="l"/>
              </a:tabLst>
            </a:pPr>
            <a:r>
              <a:rPr sz="2000" dirty="0">
                <a:latin typeface="+mj-lt"/>
                <a:cs typeface="Calibri" panose="020F0502020204030204"/>
              </a:rPr>
              <a:t>Targets scientiﬁc computing</a:t>
            </a:r>
            <a:endParaRPr lang="en-US" sz="2000" dirty="0">
              <a:latin typeface="+mj-lt"/>
              <a:cs typeface="Calibri" panose="020F0502020204030204"/>
            </a:endParaRPr>
          </a:p>
          <a:p>
            <a:pPr marL="355600" marR="568960" indent="-342900">
              <a:lnSpc>
                <a:spcPts val="3330"/>
              </a:lnSpc>
              <a:spcBef>
                <a:spcPts val="850"/>
              </a:spcBef>
              <a:buFont typeface="Arial" panose="020B0604020202020204"/>
              <a:buChar char="•"/>
              <a:tabLst>
                <a:tab pos="354965" algn="l"/>
                <a:tab pos="355600" algn="l"/>
              </a:tabLst>
            </a:pPr>
            <a:r>
              <a:rPr lang="en-US" sz="2400" b="1" dirty="0">
                <a:latin typeface="+mj-lt"/>
                <a:cs typeface="Calibri" panose="020F0502020204030204"/>
              </a:rPr>
              <a:t>Intel takes on NVIDIA with Knights landing launching.</a:t>
            </a:r>
          </a:p>
          <a:p>
            <a:pPr marL="755650" lvl="1" indent="-285750">
              <a:spcBef>
                <a:spcPts val="510"/>
              </a:spcBef>
              <a:buFont typeface="Arial" panose="020B0604020202020204"/>
              <a:buChar char="–"/>
              <a:tabLst>
                <a:tab pos="755650" algn="l"/>
              </a:tabLst>
            </a:pPr>
            <a:r>
              <a:rPr lang="en-US" sz="2000" dirty="0">
                <a:latin typeface="+mj-lt"/>
                <a:cs typeface="Calibri" panose="020F0502020204030204"/>
                <a:hlinkClick r:id="rId2"/>
              </a:rPr>
              <a:t>https://www.top500.org/news/intel-takes-on-nvidia-with-knights-landing-launch/</a:t>
            </a:r>
            <a:endParaRPr lang="en-US" sz="2000" dirty="0">
              <a:latin typeface="+mj-lt"/>
              <a:cs typeface="Calibri" panose="020F0502020204030204"/>
            </a:endParaRPr>
          </a:p>
          <a:p>
            <a:pPr marL="755650" lvl="1" indent="-285750">
              <a:spcBef>
                <a:spcPts val="510"/>
              </a:spcBef>
              <a:buFont typeface="Arial" panose="020B0604020202020204"/>
              <a:buChar char="–"/>
              <a:tabLst>
                <a:tab pos="755650" algn="l"/>
              </a:tabLst>
            </a:pPr>
            <a:r>
              <a:rPr lang="en-US" sz="2000" dirty="0">
                <a:latin typeface="+mj-lt"/>
                <a:cs typeface="Calibri" panose="020F0502020204030204"/>
              </a:rPr>
              <a:t>https://www.hpcwire.com/2016/06/18/knights-landing-not/</a:t>
            </a:r>
            <a:endParaRPr sz="2000" dirty="0">
              <a:latin typeface="+mj-lt"/>
              <a:cs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2686981" y="99219"/>
            <a:ext cx="4440650"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Cori Overview</a:t>
            </a:r>
          </a:p>
        </p:txBody>
      </p:sp>
      <p:sp>
        <p:nvSpPr>
          <p:cNvPr id="7" name="object 7"/>
          <p:cNvSpPr txBox="1">
            <a:spLocks noGrp="1"/>
          </p:cNvSpPr>
          <p:nvPr>
            <p:ph type="body" idx="1"/>
          </p:nvPr>
        </p:nvSpPr>
        <p:spPr>
          <a:xfrm>
            <a:off x="628650" y="1688757"/>
            <a:ext cx="7886700" cy="3849771"/>
          </a:xfrm>
          <a:prstGeom prst="rect">
            <a:avLst/>
          </a:prstGeom>
        </p:spPr>
        <p:txBody>
          <a:bodyPr vert="horz" wrap="square" lIns="0" tIns="58419" rIns="0" bIns="0" rtlCol="0">
            <a:spAutoFit/>
          </a:bodyPr>
          <a:lstStyle/>
          <a:p>
            <a:pPr marL="4528185" marR="16510" indent="-342900">
              <a:lnSpc>
                <a:spcPts val="2800"/>
              </a:lnSpc>
              <a:spcBef>
                <a:spcPts val="460"/>
              </a:spcBef>
              <a:buFont typeface="Arial" panose="020B0604020202020204"/>
              <a:buChar char="•"/>
              <a:tabLst>
                <a:tab pos="4527550" algn="l"/>
                <a:tab pos="4528185" algn="l"/>
              </a:tabLst>
            </a:pPr>
            <a:r>
              <a:rPr sz="2000" dirty="0">
                <a:latin typeface="+mj-lt"/>
              </a:rPr>
              <a:t>Login and compute nodes  are distinct</a:t>
            </a:r>
          </a:p>
          <a:p>
            <a:pPr marL="4528185" indent="-342900">
              <a:lnSpc>
                <a:spcPts val="2950"/>
              </a:lnSpc>
              <a:spcBef>
                <a:spcPts val="1460"/>
              </a:spcBef>
              <a:buFont typeface="Arial" panose="020B0604020202020204"/>
              <a:buChar char="•"/>
              <a:tabLst>
                <a:tab pos="4527550" algn="l"/>
                <a:tab pos="4528185" algn="l"/>
              </a:tabLst>
            </a:pPr>
            <a:r>
              <a:rPr sz="2000" dirty="0">
                <a:latin typeface="+mj-lt"/>
              </a:rPr>
              <a:t>Large, fast, parallel</a:t>
            </a:r>
            <a:r>
              <a:rPr lang="en-US" sz="2000" dirty="0">
                <a:latin typeface="+mj-lt"/>
              </a:rPr>
              <a:t> </a:t>
            </a:r>
            <a:r>
              <a:rPr sz="2000" dirty="0">
                <a:latin typeface="+mj-lt"/>
              </a:rPr>
              <a:t>$SCRATCH ﬁlesystem for  running jobs</a:t>
            </a:r>
          </a:p>
          <a:p>
            <a:pPr marL="4528185" marR="415290" indent="-342900">
              <a:lnSpc>
                <a:spcPct val="91000"/>
              </a:lnSpc>
              <a:spcBef>
                <a:spcPts val="1745"/>
              </a:spcBef>
              <a:buFont typeface="Arial" panose="020B0604020202020204"/>
              <a:buChar char="•"/>
              <a:tabLst>
                <a:tab pos="4527550" algn="l"/>
                <a:tab pos="4528185" algn="l"/>
              </a:tabLst>
            </a:pPr>
            <a:r>
              <a:rPr sz="2000" dirty="0">
                <a:latin typeface="+mj-lt"/>
              </a:rPr>
              <a:t>Smaller $HOME,  conﬁgured for building  code</a:t>
            </a:r>
          </a:p>
          <a:p>
            <a:pPr marL="4528185" marR="5080" indent="-342900">
              <a:lnSpc>
                <a:spcPct val="89000"/>
              </a:lnSpc>
              <a:spcBef>
                <a:spcPts val="1835"/>
              </a:spcBef>
              <a:buFont typeface="Arial" panose="020B0604020202020204"/>
              <a:buChar char="•"/>
              <a:tabLst>
                <a:tab pos="4527550" algn="l"/>
                <a:tab pos="4528185" algn="l"/>
              </a:tabLst>
            </a:pPr>
            <a:r>
              <a:rPr sz="2000" dirty="0">
                <a:latin typeface="+mj-lt"/>
              </a:rPr>
              <a:t>Burst buﬀer ﬁlesystem  integrated, on high-speed  network</a:t>
            </a:r>
          </a:p>
        </p:txBody>
      </p:sp>
      <p:sp>
        <p:nvSpPr>
          <p:cNvPr id="8" name="object 8"/>
          <p:cNvSpPr/>
          <p:nvPr/>
        </p:nvSpPr>
        <p:spPr>
          <a:xfrm>
            <a:off x="360341" y="1260481"/>
            <a:ext cx="4266299" cy="5299192"/>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0885" y="82709"/>
            <a:ext cx="4985773"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Connecting to Cori</a:t>
            </a:r>
          </a:p>
        </p:txBody>
      </p:sp>
      <p:sp>
        <p:nvSpPr>
          <p:cNvPr id="3" name="object 3"/>
          <p:cNvSpPr txBox="1"/>
          <p:nvPr/>
        </p:nvSpPr>
        <p:spPr>
          <a:xfrm>
            <a:off x="260183" y="1267459"/>
            <a:ext cx="8612505" cy="3584956"/>
          </a:xfrm>
          <a:prstGeom prst="rect">
            <a:avLst/>
          </a:prstGeom>
        </p:spPr>
        <p:txBody>
          <a:bodyPr vert="horz" wrap="square" lIns="0" tIns="85725" rIns="0" bIns="0" rtlCol="0">
            <a:spAutoFit/>
          </a:bodyPr>
          <a:lstStyle/>
          <a:p>
            <a:pPr>
              <a:lnSpc>
                <a:spcPct val="100000"/>
              </a:lnSpc>
              <a:spcBef>
                <a:spcPts val="25"/>
              </a:spcBef>
            </a:pPr>
            <a:endParaRPr sz="2400" dirty="0">
              <a:latin typeface="+mj-lt"/>
              <a:cs typeface="Calibri" panose="020F0502020204030204"/>
            </a:endParaRPr>
          </a:p>
          <a:p>
            <a:pPr marL="354965" marR="596265" indent="-342900">
              <a:lnSpc>
                <a:spcPts val="2320"/>
              </a:lnSpc>
              <a:spcBef>
                <a:spcPts val="5"/>
              </a:spcBef>
              <a:buFont typeface="Arial" panose="020B0604020202020204"/>
              <a:buChar char="•"/>
              <a:tabLst>
                <a:tab pos="354965" algn="l"/>
                <a:tab pos="355600" algn="l"/>
              </a:tabLst>
            </a:pPr>
            <a:r>
              <a:rPr sz="2400" b="1" dirty="0">
                <a:latin typeface="+mj-lt"/>
                <a:cs typeface="Calibri" panose="020F0502020204030204"/>
              </a:rPr>
              <a:t>If you have a UNIX-like computer, you can  directly contact NERSC with your built-in SSH client</a:t>
            </a:r>
            <a:endParaRPr sz="2400" dirty="0">
              <a:latin typeface="+mj-lt"/>
              <a:cs typeface="Calibri" panose="020F0502020204030204"/>
            </a:endParaRPr>
          </a:p>
          <a:p>
            <a:pPr marL="927100" lvl="1" indent="-457835">
              <a:lnSpc>
                <a:spcPct val="100000"/>
              </a:lnSpc>
              <a:buAutoNum type="arabicPeriod"/>
              <a:tabLst>
                <a:tab pos="926465" algn="l"/>
                <a:tab pos="927100" algn="l"/>
              </a:tabLst>
            </a:pPr>
            <a:r>
              <a:rPr sz="2000" dirty="0">
                <a:latin typeface="+mj-lt"/>
                <a:cs typeface="Calibri" panose="020F0502020204030204"/>
              </a:rPr>
              <a:t>Open a new terminal</a:t>
            </a:r>
          </a:p>
          <a:p>
            <a:pPr marL="927100" lvl="1" indent="-457835">
              <a:lnSpc>
                <a:spcPct val="100000"/>
              </a:lnSpc>
              <a:buAutoNum type="arabicPeriod"/>
              <a:tabLst>
                <a:tab pos="926465" algn="l"/>
                <a:tab pos="927100" algn="l"/>
              </a:tabLst>
            </a:pPr>
            <a:r>
              <a:rPr sz="2000" dirty="0">
                <a:latin typeface="+mj-lt"/>
                <a:cs typeface="Calibri" panose="020F0502020204030204"/>
              </a:rPr>
              <a:t>% </a:t>
            </a:r>
            <a:r>
              <a:rPr sz="1500" dirty="0">
                <a:solidFill>
                  <a:srgbClr val="0000FF"/>
                </a:solidFill>
                <a:latin typeface="+mj-lt"/>
                <a:cs typeface="Lucida Console" panose="020B0609040504020204"/>
              </a:rPr>
              <a:t>ssh </a:t>
            </a:r>
            <a:r>
              <a:rPr sz="1500" b="1" dirty="0">
                <a:solidFill>
                  <a:srgbClr val="0433FF"/>
                </a:solidFill>
                <a:latin typeface="+mj-lt"/>
                <a:cs typeface="Lucida Console" panose="020B0609040504020204"/>
              </a:rPr>
              <a:t>–Y </a:t>
            </a:r>
            <a:r>
              <a:rPr sz="1500" dirty="0">
                <a:solidFill>
                  <a:srgbClr val="0000FF"/>
                </a:solidFill>
                <a:latin typeface="+mj-lt"/>
                <a:cs typeface="Lucida Console" panose="020B0609040504020204"/>
              </a:rPr>
              <a:t>-l &lt;training_acct_username&gt; cori.nersc.gov</a:t>
            </a:r>
            <a:endParaRPr lang="en-US" sz="1500" dirty="0">
              <a:solidFill>
                <a:srgbClr val="0000FF"/>
              </a:solidFill>
              <a:latin typeface="+mj-lt"/>
              <a:cs typeface="Lucida Console" panose="020B0609040504020204"/>
            </a:endParaRPr>
          </a:p>
          <a:p>
            <a:pPr marL="926465" lvl="2">
              <a:tabLst>
                <a:tab pos="926465" algn="l"/>
                <a:tab pos="927100" algn="l"/>
              </a:tabLst>
            </a:pPr>
            <a:r>
              <a:rPr lang="en-US" altLang="zh-CN" sz="1500" dirty="0">
                <a:solidFill>
                  <a:srgbClr val="0000FF"/>
                </a:solidFill>
                <a:latin typeface="+mj-lt"/>
                <a:cs typeface="Lucida Console" panose="020B0609040504020204"/>
              </a:rPr>
              <a:t>-Y Enables trusted X11 forwarding.</a:t>
            </a:r>
            <a:endParaRPr sz="1500" dirty="0">
              <a:latin typeface="+mj-lt"/>
              <a:cs typeface="Lucida Console" panose="020B0609040504020204"/>
            </a:endParaRPr>
          </a:p>
          <a:p>
            <a:pPr marL="355600" indent="-342900">
              <a:lnSpc>
                <a:spcPts val="2830"/>
              </a:lnSpc>
              <a:spcBef>
                <a:spcPts val="1815"/>
              </a:spcBef>
              <a:buFont typeface="Arial" panose="020B0604020202020204"/>
              <a:buChar char="•"/>
              <a:tabLst>
                <a:tab pos="354965" algn="l"/>
                <a:tab pos="355600" algn="l"/>
              </a:tabLst>
            </a:pPr>
            <a:r>
              <a:rPr sz="2400" b="1" dirty="0">
                <a:latin typeface="+mj-lt"/>
                <a:cs typeface="Calibri" panose="020F0502020204030204"/>
              </a:rPr>
              <a:t>Many SSH clients exist for Windows</a:t>
            </a:r>
            <a:endParaRPr sz="2400" dirty="0">
              <a:latin typeface="+mj-lt"/>
              <a:cs typeface="Calibri" panose="020F0502020204030204"/>
            </a:endParaRPr>
          </a:p>
          <a:p>
            <a:pPr marL="755650" indent="-286385">
              <a:lnSpc>
                <a:spcPts val="2345"/>
              </a:lnSpc>
              <a:buFont typeface="Arial" panose="020B0604020202020204"/>
              <a:buChar char="–"/>
              <a:tabLst>
                <a:tab pos="755015" algn="l"/>
                <a:tab pos="755650" algn="l"/>
              </a:tabLst>
            </a:pPr>
            <a:r>
              <a:rPr sz="2000" dirty="0">
                <a:latin typeface="+mj-lt"/>
                <a:cs typeface="Calibri" panose="020F0502020204030204"/>
              </a:rPr>
              <a:t>A very popular one is </a:t>
            </a:r>
            <a:r>
              <a:rPr sz="2000" b="1" dirty="0" err="1">
                <a:latin typeface="+mj-lt"/>
                <a:cs typeface="Calibri" panose="020F0502020204030204"/>
              </a:rPr>
              <a:t>pu</a:t>
            </a:r>
            <a:r>
              <a:rPr lang="en-US" sz="2000" b="1" dirty="0">
                <a:latin typeface="+mj-lt"/>
                <a:cs typeface="Calibri" panose="020F0502020204030204"/>
              </a:rPr>
              <a:t>tt</a:t>
            </a:r>
            <a:r>
              <a:rPr sz="2000" b="1" dirty="0">
                <a:latin typeface="+mj-lt"/>
                <a:cs typeface="Calibri" panose="020F0502020204030204"/>
              </a:rPr>
              <a:t>y</a:t>
            </a:r>
            <a:endParaRPr sz="2000" dirty="0">
              <a:latin typeface="+mj-lt"/>
              <a:cs typeface="Calibri" panose="020F0502020204030204"/>
            </a:endParaRPr>
          </a:p>
          <a:p>
            <a:pPr marL="1155700" lvl="1" indent="-229235">
              <a:lnSpc>
                <a:spcPts val="2035"/>
              </a:lnSpc>
              <a:buClr>
                <a:srgbClr val="000000"/>
              </a:buClr>
              <a:buFont typeface="Arial" panose="020B0604020202020204"/>
              <a:buChar char="•"/>
              <a:tabLst>
                <a:tab pos="1155065" algn="l"/>
                <a:tab pos="1155700" algn="l"/>
              </a:tabLst>
            </a:pPr>
            <a:r>
              <a:rPr sz="1700" b="1" u="sng" dirty="0">
                <a:solidFill>
                  <a:srgbClr val="0000FF"/>
                </a:solidFill>
                <a:uFill>
                  <a:solidFill>
                    <a:srgbClr val="0433FF"/>
                  </a:solidFill>
                </a:uFill>
                <a:latin typeface="+mj-lt"/>
                <a:cs typeface="Calibri" panose="020F0502020204030204"/>
              </a:rPr>
              <a:t>hZ</a:t>
            </a:r>
            <a:r>
              <a:rPr sz="1700" b="1" u="sng" dirty="0">
                <a:solidFill>
                  <a:srgbClr val="0000FF"/>
                </a:solidFill>
                <a:uFill>
                  <a:solidFill>
                    <a:srgbClr val="0433FF"/>
                  </a:solidFill>
                </a:uFill>
                <a:latin typeface="+mj-lt"/>
                <a:cs typeface="Calibri" panose="020F0502020204030204"/>
                <a:hlinkClick r:id="rId2"/>
              </a:rPr>
              <a:t>p://</a:t>
            </a:r>
            <a:r>
              <a:rPr sz="1700" b="1" u="sng" dirty="0" err="1">
                <a:solidFill>
                  <a:srgbClr val="0000FF"/>
                </a:solidFill>
                <a:uFill>
                  <a:solidFill>
                    <a:srgbClr val="0433FF"/>
                  </a:solidFill>
                </a:uFill>
                <a:latin typeface="+mj-lt"/>
                <a:cs typeface="Calibri" panose="020F0502020204030204"/>
                <a:hlinkClick r:id="rId2"/>
              </a:rPr>
              <a:t>w</a:t>
            </a:r>
            <a:r>
              <a:rPr sz="1700" b="1" u="sng" dirty="0" err="1">
                <a:solidFill>
                  <a:srgbClr val="0000FF"/>
                </a:solidFill>
                <a:uFill>
                  <a:solidFill>
                    <a:srgbClr val="0433FF"/>
                  </a:solidFill>
                </a:uFill>
                <a:latin typeface="+mj-lt"/>
                <a:cs typeface="Calibri" panose="020F0502020204030204"/>
              </a:rPr>
              <a:t>ww.</a:t>
            </a:r>
            <a:r>
              <a:rPr sz="1700" b="1" u="sng" dirty="0" err="1">
                <a:solidFill>
                  <a:srgbClr val="0000FF"/>
                </a:solidFill>
                <a:uFill>
                  <a:solidFill>
                    <a:srgbClr val="0433FF"/>
                  </a:solidFill>
                </a:uFill>
                <a:latin typeface="+mj-lt"/>
                <a:cs typeface="Calibri" panose="020F0502020204030204"/>
                <a:hlinkClick r:id="rId2"/>
              </a:rPr>
              <a:t>pu</a:t>
            </a:r>
            <a:r>
              <a:rPr lang="en-US" altLang="zh-CN" sz="1700" b="1" u="sng" dirty="0" err="1">
                <a:solidFill>
                  <a:srgbClr val="0000FF"/>
                </a:solidFill>
                <a:uFill>
                  <a:solidFill>
                    <a:srgbClr val="0433FF"/>
                  </a:solidFill>
                </a:uFill>
                <a:latin typeface="+mj-lt"/>
                <a:cs typeface="Calibri" panose="020F0502020204030204"/>
                <a:hlinkClick r:id="rId2"/>
              </a:rPr>
              <a:t>tt</a:t>
            </a:r>
            <a:r>
              <a:rPr sz="1700" b="1" u="sng" dirty="0" err="1">
                <a:solidFill>
                  <a:srgbClr val="0000FF"/>
                </a:solidFill>
                <a:uFill>
                  <a:solidFill>
                    <a:srgbClr val="0433FF"/>
                  </a:solidFill>
                </a:uFill>
                <a:latin typeface="+mj-lt"/>
                <a:cs typeface="Calibri" panose="020F0502020204030204"/>
                <a:hlinkClick r:id="rId2"/>
              </a:rPr>
              <a:t>y.or</a:t>
            </a:r>
            <a:r>
              <a:rPr sz="1700" b="1" u="sng" dirty="0" err="1">
                <a:solidFill>
                  <a:srgbClr val="0000FF"/>
                </a:solidFill>
                <a:uFill>
                  <a:solidFill>
                    <a:srgbClr val="0433FF"/>
                  </a:solidFill>
                </a:uFill>
                <a:latin typeface="+mj-lt"/>
                <a:cs typeface="Calibri" panose="020F0502020204030204"/>
              </a:rPr>
              <a:t>g</a:t>
            </a:r>
            <a:r>
              <a:rPr sz="1700" b="1" dirty="0">
                <a:latin typeface="+mj-lt"/>
                <a:cs typeface="Calibri" panose="020F0502020204030204"/>
                <a:hlinkClick r:id="rId2"/>
              </a:rPr>
              <a:t>/</a:t>
            </a:r>
            <a:endParaRPr sz="1700" dirty="0">
              <a:latin typeface="+mj-lt"/>
              <a:cs typeface="Calibri" panose="020F0502020204030204"/>
            </a:endParaRPr>
          </a:p>
          <a:p>
            <a:pPr marL="748665" marR="5080" indent="-279400">
              <a:lnSpc>
                <a:spcPts val="1920"/>
              </a:lnSpc>
              <a:spcBef>
                <a:spcPts val="535"/>
              </a:spcBef>
              <a:buFont typeface="Arial" panose="020B0604020202020204"/>
              <a:buChar char="–"/>
              <a:tabLst>
                <a:tab pos="755015" algn="l"/>
                <a:tab pos="755650" algn="l"/>
              </a:tabLst>
            </a:pPr>
            <a:r>
              <a:rPr sz="2000" dirty="0">
                <a:latin typeface="+mj-lt"/>
                <a:cs typeface="Calibri" panose="020F0502020204030204"/>
              </a:rPr>
              <a:t>Advanced users might prefer to use SSH directly within </a:t>
            </a:r>
            <a:r>
              <a:rPr sz="2000" b="1" dirty="0" err="1">
                <a:latin typeface="+mj-lt"/>
                <a:cs typeface="Calibri" panose="020F0502020204030204"/>
              </a:rPr>
              <a:t>min</a:t>
            </a:r>
            <a:r>
              <a:rPr lang="en-US" altLang="zh-CN" sz="2000" b="1" dirty="0" err="1">
                <a:latin typeface="+mj-lt"/>
                <a:cs typeface="Calibri" panose="020F0502020204030204"/>
              </a:rPr>
              <a:t>tt</a:t>
            </a:r>
            <a:r>
              <a:rPr sz="2000" b="1" dirty="0" err="1">
                <a:latin typeface="+mj-lt"/>
                <a:cs typeface="Calibri" panose="020F0502020204030204"/>
              </a:rPr>
              <a:t>y</a:t>
            </a:r>
            <a:r>
              <a:rPr sz="2000" b="1" dirty="0">
                <a:latin typeface="+mj-lt"/>
                <a:cs typeface="Calibri" panose="020F0502020204030204"/>
              </a:rPr>
              <a:t> </a:t>
            </a:r>
            <a:r>
              <a:rPr sz="2000" dirty="0">
                <a:latin typeface="+mj-lt"/>
                <a:cs typeface="Calibri" panose="020F0502020204030204"/>
              </a:rPr>
              <a:t>(from Cygwin  distribution)</a:t>
            </a:r>
          </a:p>
        </p:txBody>
      </p:sp>
      <p:sp>
        <p:nvSpPr>
          <p:cNvPr id="4" name="object 4"/>
          <p:cNvSpPr txBox="1"/>
          <p:nvPr/>
        </p:nvSpPr>
        <p:spPr>
          <a:xfrm>
            <a:off x="4424094" y="6454847"/>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- 14 -</a:t>
            </a:r>
            <a:endParaRPr sz="1100">
              <a:latin typeface="+mj-lt"/>
              <a:cs typeface="Calibri" panose="020F0502020204030204"/>
            </a:endParaRPr>
          </a:p>
        </p:txBody>
      </p:sp>
      <p:sp>
        <p:nvSpPr>
          <p:cNvPr id="5" name="object 5"/>
          <p:cNvSpPr/>
          <p:nvPr/>
        </p:nvSpPr>
        <p:spPr>
          <a:xfrm>
            <a:off x="1629460" y="2540078"/>
            <a:ext cx="402590" cy="523875"/>
          </a:xfrm>
          <a:custGeom>
            <a:avLst/>
            <a:gdLst/>
            <a:ahLst/>
            <a:cxnLst/>
            <a:rect l="l" t="t" r="r" b="b"/>
            <a:pathLst>
              <a:path w="402589" h="523875">
                <a:moveTo>
                  <a:pt x="0" y="261822"/>
                </a:moveTo>
                <a:lnTo>
                  <a:pt x="4086" y="209056"/>
                </a:lnTo>
                <a:lnTo>
                  <a:pt x="15805" y="159909"/>
                </a:lnTo>
                <a:lnTo>
                  <a:pt x="34349" y="115435"/>
                </a:lnTo>
                <a:lnTo>
                  <a:pt x="58908" y="76686"/>
                </a:lnTo>
                <a:lnTo>
                  <a:pt x="88675" y="44715"/>
                </a:lnTo>
                <a:lnTo>
                  <a:pt x="122839" y="20575"/>
                </a:lnTo>
                <a:lnTo>
                  <a:pt x="160593" y="5319"/>
                </a:lnTo>
                <a:lnTo>
                  <a:pt x="201128" y="0"/>
                </a:lnTo>
                <a:lnTo>
                  <a:pt x="241662" y="5319"/>
                </a:lnTo>
                <a:lnTo>
                  <a:pt x="279416" y="20575"/>
                </a:lnTo>
                <a:lnTo>
                  <a:pt x="313580" y="44715"/>
                </a:lnTo>
                <a:lnTo>
                  <a:pt x="343346" y="76686"/>
                </a:lnTo>
                <a:lnTo>
                  <a:pt x="367906" y="115435"/>
                </a:lnTo>
                <a:lnTo>
                  <a:pt x="386450" y="159909"/>
                </a:lnTo>
                <a:lnTo>
                  <a:pt x="398169" y="209056"/>
                </a:lnTo>
                <a:lnTo>
                  <a:pt x="402255" y="261822"/>
                </a:lnTo>
                <a:lnTo>
                  <a:pt x="398169" y="314589"/>
                </a:lnTo>
                <a:lnTo>
                  <a:pt x="386450" y="363736"/>
                </a:lnTo>
                <a:lnTo>
                  <a:pt x="367906" y="408210"/>
                </a:lnTo>
                <a:lnTo>
                  <a:pt x="343346" y="446959"/>
                </a:lnTo>
                <a:lnTo>
                  <a:pt x="313580" y="478930"/>
                </a:lnTo>
                <a:lnTo>
                  <a:pt x="279416" y="503070"/>
                </a:lnTo>
                <a:lnTo>
                  <a:pt x="241662" y="518326"/>
                </a:lnTo>
                <a:lnTo>
                  <a:pt x="201128" y="523645"/>
                </a:lnTo>
                <a:lnTo>
                  <a:pt x="160593" y="518326"/>
                </a:lnTo>
                <a:lnTo>
                  <a:pt x="122839" y="503070"/>
                </a:lnTo>
                <a:lnTo>
                  <a:pt x="88675" y="478930"/>
                </a:lnTo>
                <a:lnTo>
                  <a:pt x="58908" y="446959"/>
                </a:lnTo>
                <a:lnTo>
                  <a:pt x="34349" y="408210"/>
                </a:lnTo>
                <a:lnTo>
                  <a:pt x="15805" y="363736"/>
                </a:lnTo>
                <a:lnTo>
                  <a:pt x="4086" y="314589"/>
                </a:lnTo>
                <a:lnTo>
                  <a:pt x="0" y="261822"/>
                </a:lnTo>
                <a:close/>
              </a:path>
            </a:pathLst>
          </a:custGeom>
          <a:ln w="57149">
            <a:solidFill>
              <a:srgbClr val="A13B2A"/>
            </a:solidFill>
          </a:ln>
        </p:spPr>
        <p:txBody>
          <a:bodyPr wrap="square" lIns="0" tIns="0" rIns="0" bIns="0" rtlCol="0"/>
          <a:lstStyle/>
          <a:p>
            <a:endParaRPr>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6165" y="94584"/>
            <a:ext cx="4132919"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X-forwarding</a:t>
            </a:r>
          </a:p>
        </p:txBody>
      </p:sp>
      <p:sp>
        <p:nvSpPr>
          <p:cNvPr id="3" name="object 3"/>
          <p:cNvSpPr txBox="1"/>
          <p:nvPr/>
        </p:nvSpPr>
        <p:spPr>
          <a:xfrm>
            <a:off x="4424094" y="6466722"/>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- 15 -</a:t>
            </a:r>
            <a:endParaRPr sz="1100">
              <a:latin typeface="+mj-lt"/>
              <a:cs typeface="Calibri" panose="020F0502020204030204"/>
            </a:endParaRPr>
          </a:p>
        </p:txBody>
      </p:sp>
      <p:sp>
        <p:nvSpPr>
          <p:cNvPr id="4" name="object 4"/>
          <p:cNvSpPr txBox="1"/>
          <p:nvPr/>
        </p:nvSpPr>
        <p:spPr>
          <a:xfrm>
            <a:off x="183841" y="1262571"/>
            <a:ext cx="7299325" cy="1368323"/>
          </a:xfrm>
          <a:prstGeom prst="rect">
            <a:avLst/>
          </a:prstGeom>
        </p:spPr>
        <p:txBody>
          <a:bodyPr vert="horz" wrap="square" lIns="0" tIns="90170" rIns="0" bIns="0" rtlCol="0">
            <a:spAutoFit/>
          </a:bodyPr>
          <a:lstStyle/>
          <a:p>
            <a:pPr marL="707390" indent="-343535">
              <a:lnSpc>
                <a:spcPct val="100000"/>
              </a:lnSpc>
              <a:spcBef>
                <a:spcPts val="710"/>
              </a:spcBef>
              <a:buFont typeface="Arial" panose="020B0604020202020204"/>
              <a:buChar char="•"/>
              <a:tabLst>
                <a:tab pos="707390" algn="l"/>
                <a:tab pos="708025" algn="l"/>
              </a:tabLst>
            </a:pPr>
            <a:r>
              <a:rPr sz="2800" b="1" dirty="0">
                <a:latin typeface="+mj-lt"/>
                <a:cs typeface="Calibri" panose="020F0502020204030204"/>
              </a:rPr>
              <a:t>Allows you to access GUI programs remotely</a:t>
            </a:r>
            <a:endParaRPr sz="2800" dirty="0">
              <a:latin typeface="+mj-lt"/>
              <a:cs typeface="Calibri" panose="020F0502020204030204"/>
            </a:endParaRPr>
          </a:p>
          <a:p>
            <a:pPr marL="12700">
              <a:lnSpc>
                <a:spcPct val="100000"/>
              </a:lnSpc>
              <a:spcBef>
                <a:spcPts val="870"/>
              </a:spcBef>
            </a:pPr>
            <a:endParaRPr lang="en-US" sz="2000" b="1" dirty="0">
              <a:latin typeface="+mj-lt"/>
              <a:cs typeface="Calibri" panose="020F0502020204030204"/>
            </a:endParaRPr>
          </a:p>
          <a:p>
            <a:pPr marL="12700">
              <a:lnSpc>
                <a:spcPct val="100000"/>
              </a:lnSpc>
              <a:spcBef>
                <a:spcPts val="870"/>
              </a:spcBef>
            </a:pPr>
            <a:r>
              <a:rPr sz="2000" b="1" dirty="0">
                <a:latin typeface="+mj-lt"/>
                <a:cs typeface="Calibri" panose="020F0502020204030204"/>
              </a:rPr>
              <a:t>Example:</a:t>
            </a:r>
            <a:endParaRPr sz="2000" dirty="0">
              <a:latin typeface="+mj-lt"/>
              <a:cs typeface="Calibri" panose="020F0502020204030204"/>
            </a:endParaRPr>
          </a:p>
        </p:txBody>
      </p:sp>
      <p:sp>
        <p:nvSpPr>
          <p:cNvPr id="5" name="object 5"/>
          <p:cNvSpPr txBox="1"/>
          <p:nvPr/>
        </p:nvSpPr>
        <p:spPr>
          <a:xfrm>
            <a:off x="183841" y="2686995"/>
            <a:ext cx="5673090" cy="1272540"/>
          </a:xfrm>
          <a:prstGeom prst="rect">
            <a:avLst/>
          </a:prstGeom>
        </p:spPr>
        <p:txBody>
          <a:bodyPr vert="horz" wrap="square" lIns="0" tIns="12700" rIns="0" bIns="0" rtlCol="0">
            <a:spAutoFit/>
          </a:bodyPr>
          <a:lstStyle/>
          <a:p>
            <a:pPr marL="12700">
              <a:lnSpc>
                <a:spcPts val="2130"/>
              </a:lnSpc>
              <a:spcBef>
                <a:spcPts val="100"/>
              </a:spcBef>
            </a:pPr>
            <a:r>
              <a:rPr sz="1800" b="1" dirty="0">
                <a:solidFill>
                  <a:srgbClr val="0000FF"/>
                </a:solidFill>
                <a:latin typeface="+mj-lt"/>
                <a:cs typeface="Lucida Console" panose="020B0609040504020204"/>
              </a:rPr>
              <a:t>localhost% ssh –Y -l elvis cori.nersc.gov</a:t>
            </a:r>
            <a:endParaRPr sz="1800">
              <a:latin typeface="+mj-lt"/>
              <a:cs typeface="Lucida Console" panose="020B0609040504020204"/>
            </a:endParaRPr>
          </a:p>
          <a:p>
            <a:pPr marL="12700">
              <a:lnSpc>
                <a:spcPts val="1880"/>
              </a:lnSpc>
            </a:pPr>
            <a:r>
              <a:rPr sz="1600" dirty="0">
                <a:latin typeface="+mj-lt"/>
                <a:cs typeface="Lucida Console" panose="020B0609040504020204"/>
              </a:rPr>
              <a:t>…</a:t>
            </a:r>
            <a:endParaRPr sz="1600">
              <a:latin typeface="+mj-lt"/>
              <a:cs typeface="Lucida Console" panose="020B0609040504020204"/>
            </a:endParaRPr>
          </a:p>
          <a:p>
            <a:pPr marL="12700" marR="2346325">
              <a:lnSpc>
                <a:spcPts val="1900"/>
              </a:lnSpc>
              <a:spcBef>
                <a:spcPts val="70"/>
              </a:spcBef>
            </a:pPr>
            <a:r>
              <a:rPr sz="1600" dirty="0">
                <a:latin typeface="+mj-lt"/>
                <a:cs typeface="Lucida Console" panose="020B0609040504020204"/>
              </a:rPr>
              <a:t>e/elvis&gt; module load matlab  e/elvis&gt; matlab</a:t>
            </a:r>
            <a:endParaRPr sz="1600">
              <a:latin typeface="+mj-lt"/>
              <a:cs typeface="Lucida Console" panose="020B0609040504020204"/>
            </a:endParaRPr>
          </a:p>
          <a:p>
            <a:pPr marL="12700">
              <a:lnSpc>
                <a:spcPct val="100000"/>
              </a:lnSpc>
              <a:spcBef>
                <a:spcPts val="20"/>
              </a:spcBef>
            </a:pPr>
            <a:r>
              <a:rPr sz="1600" dirty="0">
                <a:latin typeface="+mj-lt"/>
                <a:cs typeface="Lucida Console" panose="020B0609040504020204"/>
              </a:rPr>
              <a:t>&lt;MATLAB starts up&gt;</a:t>
            </a:r>
            <a:endParaRPr sz="1600">
              <a:latin typeface="+mj-lt"/>
              <a:cs typeface="Lucida Console" panose="020B0609040504020204"/>
            </a:endParaRPr>
          </a:p>
        </p:txBody>
      </p:sp>
      <p:sp>
        <p:nvSpPr>
          <p:cNvPr id="6" name="object 6"/>
          <p:cNvSpPr/>
          <p:nvPr/>
        </p:nvSpPr>
        <p:spPr>
          <a:xfrm>
            <a:off x="3683478" y="3343283"/>
            <a:ext cx="5293483" cy="2816363"/>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1521" y="73819"/>
            <a:ext cx="4606744"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Example Session</a:t>
            </a:r>
          </a:p>
        </p:txBody>
      </p:sp>
      <p:sp>
        <p:nvSpPr>
          <p:cNvPr id="3" name="object 3"/>
          <p:cNvSpPr txBox="1"/>
          <p:nvPr/>
        </p:nvSpPr>
        <p:spPr>
          <a:xfrm>
            <a:off x="535939" y="1292859"/>
            <a:ext cx="7096125"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0000FF"/>
                </a:solidFill>
                <a:latin typeface="+mj-lt"/>
                <a:cs typeface="Lucida Console" panose="020B0609040504020204"/>
              </a:rPr>
              <a:t>localhost:~elvis&gt; ssh –Y -l &lt;training_account_name&gt; cori.nersc.gov</a:t>
            </a:r>
            <a:endParaRPr sz="1400">
              <a:latin typeface="+mj-lt"/>
              <a:cs typeface="Lucida Console" panose="020B0609040504020204"/>
            </a:endParaRPr>
          </a:p>
        </p:txBody>
      </p:sp>
      <p:sp>
        <p:nvSpPr>
          <p:cNvPr id="4" name="object 4"/>
          <p:cNvSpPr txBox="1"/>
          <p:nvPr/>
        </p:nvSpPr>
        <p:spPr>
          <a:xfrm>
            <a:off x="604805" y="1637791"/>
            <a:ext cx="4505325" cy="151323"/>
          </a:xfrm>
          <a:prstGeom prst="rect">
            <a:avLst/>
          </a:prstGeom>
        </p:spPr>
        <p:txBody>
          <a:bodyPr vert="horz" wrap="square" lIns="0" tIns="12700" rIns="0" bIns="0" rtlCol="0">
            <a:spAutoFit/>
          </a:bodyPr>
          <a:lstStyle/>
          <a:p>
            <a:pPr marL="12700">
              <a:lnSpc>
                <a:spcPct val="100000"/>
              </a:lnSpc>
              <a:spcBef>
                <a:spcPts val="100"/>
              </a:spcBef>
            </a:pPr>
            <a:r>
              <a:rPr sz="900" dirty="0">
                <a:latin typeface="+mj-lt"/>
                <a:cs typeface="Lucida Console" panose="020B0609040504020204"/>
              </a:rPr>
              <a:t>*****************************************************************</a:t>
            </a:r>
            <a:endParaRPr sz="900">
              <a:latin typeface="+mj-lt"/>
              <a:cs typeface="Lucida Console" panose="020B0609040504020204"/>
            </a:endParaRPr>
          </a:p>
        </p:txBody>
      </p:sp>
      <p:sp>
        <p:nvSpPr>
          <p:cNvPr id="5" name="object 5"/>
          <p:cNvSpPr txBox="1"/>
          <p:nvPr/>
        </p:nvSpPr>
        <p:spPr>
          <a:xfrm>
            <a:off x="2188770" y="1904491"/>
            <a:ext cx="1059180" cy="289823"/>
          </a:xfrm>
          <a:prstGeom prst="rect">
            <a:avLst/>
          </a:prstGeom>
        </p:spPr>
        <p:txBody>
          <a:bodyPr vert="horz" wrap="square" lIns="0" tIns="12700" rIns="0" bIns="0" rtlCol="0">
            <a:spAutoFit/>
          </a:bodyPr>
          <a:lstStyle/>
          <a:p>
            <a:pPr marL="12700">
              <a:lnSpc>
                <a:spcPct val="100000"/>
              </a:lnSpc>
              <a:spcBef>
                <a:spcPts val="100"/>
              </a:spcBef>
            </a:pPr>
            <a:r>
              <a:rPr sz="900" dirty="0">
                <a:latin typeface="+mj-lt"/>
                <a:cs typeface="Lucida Console" panose="020B0609040504020204"/>
              </a:rPr>
              <a:t>NOTICE TO USERS</a:t>
            </a:r>
            <a:endParaRPr sz="900">
              <a:latin typeface="+mj-lt"/>
              <a:cs typeface="Lucida Console" panose="020B0609040504020204"/>
            </a:endParaRPr>
          </a:p>
          <a:p>
            <a:pPr marL="12700">
              <a:lnSpc>
                <a:spcPct val="100000"/>
              </a:lnSpc>
              <a:spcBef>
                <a:spcPts val="20"/>
              </a:spcBef>
            </a:pPr>
            <a:r>
              <a:rPr sz="900" dirty="0">
                <a:latin typeface="+mj-lt"/>
                <a:cs typeface="Lucida Console" panose="020B0609040504020204"/>
              </a:rPr>
              <a:t>---------------</a:t>
            </a:r>
            <a:endParaRPr sz="900">
              <a:latin typeface="+mj-lt"/>
              <a:cs typeface="Lucida Console" panose="020B0609040504020204"/>
            </a:endParaRPr>
          </a:p>
        </p:txBody>
      </p:sp>
      <p:sp>
        <p:nvSpPr>
          <p:cNvPr id="6" name="object 6"/>
          <p:cNvSpPr txBox="1"/>
          <p:nvPr/>
        </p:nvSpPr>
        <p:spPr>
          <a:xfrm>
            <a:off x="811420" y="3276091"/>
            <a:ext cx="4088765" cy="986424"/>
          </a:xfrm>
          <a:prstGeom prst="rect">
            <a:avLst/>
          </a:prstGeom>
        </p:spPr>
        <p:txBody>
          <a:bodyPr vert="horz" wrap="square" lIns="0" tIns="11430" rIns="0" bIns="0" rtlCol="0">
            <a:spAutoFit/>
          </a:bodyPr>
          <a:lstStyle/>
          <a:p>
            <a:pPr marL="12700" marR="5080">
              <a:lnSpc>
                <a:spcPct val="101000"/>
              </a:lnSpc>
              <a:spcBef>
                <a:spcPts val="90"/>
              </a:spcBef>
              <a:tabLst>
                <a:tab pos="3249295" algn="l"/>
              </a:tabLst>
            </a:pPr>
            <a:r>
              <a:rPr sz="900" dirty="0">
                <a:latin typeface="+mj-lt"/>
                <a:cs typeface="Lucida Console" panose="020B0609040504020204"/>
              </a:rPr>
              <a:t>Any or all uses of this system and all files on this system  may be intercepted, monitored, recorded, copied, audited,  inspected, and disclosed to site, Department of Energy, and  law enforcement personnel, as well as authorized officials  of other agencies, both domestic and foreign.	*By using  this system, the user consents to such interception,  monitoring, recording, copying, auditing, inspection, and  disclosure at the discretion of authorized site or  Department of Energy personnel.*</a:t>
            </a:r>
            <a:endParaRPr sz="900">
              <a:latin typeface="+mj-lt"/>
              <a:cs typeface="Lucida Console" panose="020B0609040504020204"/>
            </a:endParaRPr>
          </a:p>
        </p:txBody>
      </p:sp>
      <p:sp>
        <p:nvSpPr>
          <p:cNvPr id="7" name="object 7"/>
          <p:cNvSpPr txBox="1"/>
          <p:nvPr/>
        </p:nvSpPr>
        <p:spPr>
          <a:xfrm>
            <a:off x="811420" y="4647691"/>
            <a:ext cx="4088765" cy="566822"/>
          </a:xfrm>
          <a:prstGeom prst="rect">
            <a:avLst/>
          </a:prstGeom>
        </p:spPr>
        <p:txBody>
          <a:bodyPr vert="horz" wrap="square" lIns="0" tIns="12700" rIns="0" bIns="0" rtlCol="0">
            <a:spAutoFit/>
          </a:bodyPr>
          <a:lstStyle/>
          <a:p>
            <a:pPr marL="12700" marR="5080">
              <a:lnSpc>
                <a:spcPct val="100000"/>
              </a:lnSpc>
              <a:spcBef>
                <a:spcPts val="100"/>
              </a:spcBef>
              <a:tabLst>
                <a:tab pos="632460" algn="l"/>
                <a:tab pos="838835" algn="l"/>
              </a:tabLst>
            </a:pPr>
            <a:r>
              <a:rPr sz="900" dirty="0">
                <a:latin typeface="+mj-lt"/>
                <a:cs typeface="Lucida Console" panose="020B0609040504020204"/>
              </a:rPr>
              <a:t>*Unauthorized or improper use of this system may result in  administrative disciplinary action and civil and criminal  penalties.	_By continuing to use this system you indicate  your awareness of and consent to these terms and conditions  of use.	LOG OFF IMMEDIATELY if you do not agree to the  conditions stated in this warning._*</a:t>
            </a:r>
            <a:endParaRPr sz="900">
              <a:latin typeface="+mj-lt"/>
              <a:cs typeface="Lucida Console" panose="020B0609040504020204"/>
            </a:endParaRPr>
          </a:p>
        </p:txBody>
      </p:sp>
      <p:sp>
        <p:nvSpPr>
          <p:cNvPr id="8" name="object 8"/>
          <p:cNvSpPr txBox="1"/>
          <p:nvPr/>
        </p:nvSpPr>
        <p:spPr>
          <a:xfrm>
            <a:off x="604805" y="1777491"/>
            <a:ext cx="4502785" cy="3858260"/>
          </a:xfrm>
          <a:prstGeom prst="rect">
            <a:avLst/>
          </a:prstGeom>
        </p:spPr>
        <p:txBody>
          <a:bodyPr vert="horz" wrap="square" lIns="0" tIns="12700" rIns="0" bIns="0" rtlCol="0">
            <a:spAutoFit/>
          </a:bodyPr>
          <a:lstStyle/>
          <a:p>
            <a:pPr marL="12700">
              <a:lnSpc>
                <a:spcPts val="1040"/>
              </a:lnSpc>
              <a:spcBef>
                <a:spcPts val="100"/>
              </a:spcBef>
              <a:tabLst>
                <a:tab pos="4419600"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870"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19600" algn="l"/>
              </a:tabLst>
            </a:pPr>
            <a:r>
              <a:rPr sz="900" dirty="0">
                <a:latin typeface="+mj-lt"/>
                <a:cs typeface="Lucida Console" panose="020B0609040504020204"/>
              </a:rPr>
              <a:t>*	*</a:t>
            </a:r>
            <a:endParaRPr sz="900">
              <a:latin typeface="+mj-lt"/>
              <a:cs typeface="Lucida Console" panose="020B0609040504020204"/>
            </a:endParaRPr>
          </a:p>
          <a:p>
            <a:pPr marL="219075" indent="-207010">
              <a:lnSpc>
                <a:spcPct val="100000"/>
              </a:lnSpc>
              <a:spcBef>
                <a:spcPts val="20"/>
              </a:spcBef>
              <a:buChar char="*"/>
              <a:tabLst>
                <a:tab pos="219075" algn="l"/>
                <a:tab pos="219710" algn="l"/>
                <a:tab pos="4420235" algn="l"/>
              </a:tabLst>
            </a:pPr>
            <a:r>
              <a:rPr sz="900" dirty="0">
                <a:latin typeface="+mj-lt"/>
                <a:cs typeface="Lucida Console" panose="020B0609040504020204"/>
              </a:rPr>
              <a:t>Lawrence Berkeley National Laboratory operates this	*</a:t>
            </a:r>
            <a:endParaRPr sz="900">
              <a:latin typeface="+mj-lt"/>
              <a:cs typeface="Lucida Console" panose="020B0609040504020204"/>
            </a:endParaRPr>
          </a:p>
          <a:p>
            <a:pPr marL="219075" indent="-207010">
              <a:lnSpc>
                <a:spcPts val="1040"/>
              </a:lnSpc>
              <a:spcBef>
                <a:spcPts val="20"/>
              </a:spcBef>
              <a:buChar char="*"/>
              <a:tabLst>
                <a:tab pos="219075" algn="l"/>
                <a:tab pos="219710" algn="l"/>
                <a:tab pos="4420235" algn="l"/>
              </a:tabLst>
            </a:pPr>
            <a:r>
              <a:rPr sz="900" dirty="0">
                <a:latin typeface="+mj-lt"/>
                <a:cs typeface="Lucida Console" panose="020B0609040504020204"/>
              </a:rPr>
              <a:t>computer system under contract to the U.S. Department of	*</a:t>
            </a:r>
            <a:endParaRPr sz="900">
              <a:latin typeface="+mj-lt"/>
              <a:cs typeface="Lucida Console" panose="020B0609040504020204"/>
            </a:endParaRPr>
          </a:p>
          <a:p>
            <a:pPr marL="219075" indent="-207010">
              <a:lnSpc>
                <a:spcPts val="1040"/>
              </a:lnSpc>
              <a:buChar char="*"/>
              <a:tabLst>
                <a:tab pos="219075" algn="l"/>
                <a:tab pos="219710" algn="l"/>
                <a:tab pos="838835" algn="l"/>
                <a:tab pos="4420235" algn="l"/>
              </a:tabLst>
            </a:pPr>
            <a:r>
              <a:rPr sz="900" dirty="0">
                <a:latin typeface="+mj-lt"/>
                <a:cs typeface="Lucida Console" panose="020B0609040504020204"/>
              </a:rPr>
              <a:t>Energy.	This computer system is the property of the United	*</a:t>
            </a:r>
            <a:endParaRPr sz="900">
              <a:latin typeface="+mj-lt"/>
              <a:cs typeface="Lucida Console" panose="020B0609040504020204"/>
            </a:endParaRPr>
          </a:p>
          <a:p>
            <a:pPr marL="219075" indent="-207010">
              <a:lnSpc>
                <a:spcPct val="100000"/>
              </a:lnSpc>
              <a:spcBef>
                <a:spcPts val="20"/>
              </a:spcBef>
              <a:buChar char="*"/>
              <a:tabLst>
                <a:tab pos="219075" algn="l"/>
                <a:tab pos="219710" algn="l"/>
                <a:tab pos="3731260" algn="l"/>
                <a:tab pos="4420235" algn="l"/>
              </a:tabLst>
            </a:pPr>
            <a:r>
              <a:rPr sz="900" dirty="0">
                <a:latin typeface="+mj-lt"/>
                <a:cs typeface="Lucida Console" panose="020B0609040504020204"/>
              </a:rPr>
              <a:t>States Government and is for authorized use only.	*Users	*</a:t>
            </a:r>
            <a:endParaRPr sz="900">
              <a:latin typeface="+mj-lt"/>
              <a:cs typeface="Lucida Console" panose="020B0609040504020204"/>
            </a:endParaRPr>
          </a:p>
          <a:p>
            <a:pPr marL="219075" indent="-207010">
              <a:lnSpc>
                <a:spcPct val="100000"/>
              </a:lnSpc>
              <a:spcBef>
                <a:spcPts val="20"/>
              </a:spcBef>
              <a:buChar char="*"/>
              <a:tabLst>
                <a:tab pos="219075" algn="l"/>
                <a:tab pos="219710" algn="l"/>
                <a:tab pos="4420235" algn="l"/>
              </a:tabLst>
            </a:pPr>
            <a:r>
              <a:rPr sz="900" dirty="0">
                <a:latin typeface="+mj-lt"/>
                <a:cs typeface="Lucida Console" panose="020B0609040504020204"/>
              </a:rPr>
              <a:t>(authorized or unauthorized) have no explicit or implicit	*</a:t>
            </a:r>
            <a:endParaRPr sz="900">
              <a:latin typeface="+mj-lt"/>
              <a:cs typeface="Lucida Console" panose="020B0609040504020204"/>
            </a:endParaRPr>
          </a:p>
          <a:p>
            <a:pPr marL="219075" indent="-207010">
              <a:lnSpc>
                <a:spcPct val="100000"/>
              </a:lnSpc>
              <a:spcBef>
                <a:spcPts val="20"/>
              </a:spcBef>
              <a:buChar char="*"/>
              <a:tabLst>
                <a:tab pos="219075" algn="l"/>
                <a:tab pos="219710" algn="l"/>
                <a:tab pos="4420235" algn="l"/>
              </a:tabLst>
            </a:pPr>
            <a:r>
              <a:rPr sz="900" dirty="0">
                <a:latin typeface="+mj-lt"/>
                <a:cs typeface="Lucida Console" panose="020B0609040504020204"/>
              </a:rPr>
              <a:t>expectation of privacy.*	*</a:t>
            </a:r>
            <a:endParaRPr sz="900">
              <a:latin typeface="+mj-lt"/>
              <a:cs typeface="Lucida Console" panose="020B0609040504020204"/>
            </a:endParaRPr>
          </a:p>
          <a:p>
            <a:pPr marL="12700">
              <a:lnSpc>
                <a:spcPts val="1040"/>
              </a:lnSpc>
              <a:spcBef>
                <a:spcPts val="20"/>
              </a:spcBef>
              <a:tabLst>
                <a:tab pos="4419600"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spcBef>
                <a:spcPts val="20"/>
              </a:spcBef>
              <a:tabLst>
                <a:tab pos="4419600"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spcBef>
                <a:spcPts val="20"/>
              </a:spcBef>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ts val="1040"/>
              </a:lnSpc>
              <a:tabLst>
                <a:tab pos="4420235" algn="l"/>
              </a:tabLst>
            </a:pPr>
            <a:r>
              <a:rPr sz="900" dirty="0">
                <a:latin typeface="+mj-lt"/>
                <a:cs typeface="Lucida Console" panose="020B0609040504020204"/>
              </a:rPr>
              <a:t>*	*</a:t>
            </a:r>
            <a:endParaRPr sz="900">
              <a:latin typeface="+mj-lt"/>
              <a:cs typeface="Lucida Console" panose="020B0609040504020204"/>
            </a:endParaRPr>
          </a:p>
          <a:p>
            <a:pPr marL="12700">
              <a:lnSpc>
                <a:spcPct val="100000"/>
              </a:lnSpc>
              <a:spcBef>
                <a:spcPts val="20"/>
              </a:spcBef>
              <a:tabLst>
                <a:tab pos="4419600" algn="l"/>
              </a:tabLst>
            </a:pPr>
            <a:r>
              <a:rPr sz="900" dirty="0">
                <a:latin typeface="+mj-lt"/>
                <a:cs typeface="Lucida Console" panose="020B0609040504020204"/>
              </a:rPr>
              <a:t>*	*</a:t>
            </a:r>
            <a:endParaRPr sz="900">
              <a:latin typeface="+mj-lt"/>
              <a:cs typeface="Lucida Console" panose="020B0609040504020204"/>
            </a:endParaRPr>
          </a:p>
        </p:txBody>
      </p:sp>
      <p:sp>
        <p:nvSpPr>
          <p:cNvPr id="9" name="object 9"/>
          <p:cNvSpPr txBox="1"/>
          <p:nvPr/>
        </p:nvSpPr>
        <p:spPr>
          <a:xfrm>
            <a:off x="604805" y="5612891"/>
            <a:ext cx="4505325" cy="151323"/>
          </a:xfrm>
          <a:prstGeom prst="rect">
            <a:avLst/>
          </a:prstGeom>
        </p:spPr>
        <p:txBody>
          <a:bodyPr vert="horz" wrap="square" lIns="0" tIns="12700" rIns="0" bIns="0" rtlCol="0">
            <a:spAutoFit/>
          </a:bodyPr>
          <a:lstStyle/>
          <a:p>
            <a:pPr marL="12700">
              <a:lnSpc>
                <a:spcPct val="100000"/>
              </a:lnSpc>
              <a:spcBef>
                <a:spcPts val="100"/>
              </a:spcBef>
            </a:pPr>
            <a:r>
              <a:rPr sz="900" dirty="0">
                <a:latin typeface="+mj-lt"/>
                <a:cs typeface="Lucida Console" panose="020B0609040504020204"/>
              </a:rPr>
              <a:t>*****************************************************************</a:t>
            </a:r>
            <a:endParaRPr sz="900">
              <a:latin typeface="+mj-lt"/>
              <a:cs typeface="Lucida Console" panose="020B0609040504020204"/>
            </a:endParaRPr>
          </a:p>
        </p:txBody>
      </p:sp>
      <p:sp>
        <p:nvSpPr>
          <p:cNvPr id="10" name="object 10"/>
          <p:cNvSpPr txBox="1"/>
          <p:nvPr/>
        </p:nvSpPr>
        <p:spPr>
          <a:xfrm>
            <a:off x="535939" y="5892291"/>
            <a:ext cx="3744595" cy="151323"/>
          </a:xfrm>
          <a:prstGeom prst="rect">
            <a:avLst/>
          </a:prstGeom>
        </p:spPr>
        <p:txBody>
          <a:bodyPr vert="horz" wrap="square" lIns="0" tIns="12700" rIns="0" bIns="0" rtlCol="0">
            <a:spAutoFit/>
          </a:bodyPr>
          <a:lstStyle/>
          <a:p>
            <a:pPr marL="12700">
              <a:lnSpc>
                <a:spcPct val="100000"/>
              </a:lnSpc>
              <a:spcBef>
                <a:spcPts val="100"/>
              </a:spcBef>
              <a:tabLst>
                <a:tab pos="769620" algn="l"/>
              </a:tabLst>
            </a:pPr>
            <a:r>
              <a:rPr sz="900" dirty="0">
                <a:latin typeface="+mj-lt"/>
                <a:cs typeface="Lucida Console" panose="020B0609040504020204"/>
              </a:rPr>
              <a:t>Password:	</a:t>
            </a:r>
            <a:r>
              <a:rPr sz="900" b="1" dirty="0">
                <a:solidFill>
                  <a:srgbClr val="FF0000"/>
                </a:solidFill>
                <a:latin typeface="+mj-lt"/>
                <a:cs typeface="Lucida Console" panose="020B0609040504020204"/>
              </a:rPr>
              <a:t>&lt;enter your training account password here&gt;</a:t>
            </a:r>
            <a:endParaRPr sz="900">
              <a:latin typeface="+mj-lt"/>
              <a:cs typeface="Lucida Console" panose="020B0609040504020204"/>
            </a:endParaRPr>
          </a:p>
        </p:txBody>
      </p:sp>
      <p:sp>
        <p:nvSpPr>
          <p:cNvPr id="11" name="object 11"/>
          <p:cNvSpPr txBox="1"/>
          <p:nvPr/>
        </p:nvSpPr>
        <p:spPr>
          <a:xfrm>
            <a:off x="4424094" y="6454847"/>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- 16 -</a:t>
            </a:r>
            <a:endParaRPr sz="1100">
              <a:latin typeface="+mj-lt"/>
              <a:cs typeface="Calibri" panose="020F0502020204030204"/>
            </a:endParaRPr>
          </a:p>
        </p:txBody>
      </p:sp>
      <p:sp>
        <p:nvSpPr>
          <p:cNvPr id="12" name="object 12"/>
          <p:cNvSpPr txBox="1"/>
          <p:nvPr/>
        </p:nvSpPr>
        <p:spPr>
          <a:xfrm>
            <a:off x="5839216" y="1781459"/>
            <a:ext cx="22059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Prompt on local system</a:t>
            </a:r>
            <a:endParaRPr sz="1800">
              <a:latin typeface="+mj-lt"/>
              <a:cs typeface="Calibri" panose="020F0502020204030204"/>
            </a:endParaRPr>
          </a:p>
        </p:txBody>
      </p:sp>
      <p:sp>
        <p:nvSpPr>
          <p:cNvPr id="13" name="object 13"/>
          <p:cNvSpPr txBox="1"/>
          <p:nvPr/>
        </p:nvSpPr>
        <p:spPr>
          <a:xfrm>
            <a:off x="5839216" y="2848040"/>
            <a:ext cx="2419350"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mj-lt"/>
                <a:cs typeface="Calibri" panose="020F0502020204030204"/>
              </a:rPr>
              <a:t>Notiﬁcation of acceptable  use.</a:t>
            </a:r>
            <a:endParaRPr sz="1800">
              <a:latin typeface="+mj-lt"/>
              <a:cs typeface="Calibri" panose="020F0502020204030204"/>
            </a:endParaRPr>
          </a:p>
        </p:txBody>
      </p:sp>
      <p:sp>
        <p:nvSpPr>
          <p:cNvPr id="14" name="object 14"/>
          <p:cNvSpPr txBox="1"/>
          <p:nvPr/>
        </p:nvSpPr>
        <p:spPr>
          <a:xfrm>
            <a:off x="5839216" y="5789852"/>
            <a:ext cx="16668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Password prompt</a:t>
            </a:r>
            <a:endParaRPr sz="1800">
              <a:latin typeface="+mj-lt"/>
              <a:cs typeface="Calibri" panose="020F0502020204030204"/>
            </a:endParaRPr>
          </a:p>
        </p:txBody>
      </p:sp>
      <p:sp>
        <p:nvSpPr>
          <p:cNvPr id="15" name="object 15"/>
          <p:cNvSpPr/>
          <p:nvPr/>
        </p:nvSpPr>
        <p:spPr>
          <a:xfrm>
            <a:off x="2061556" y="1479665"/>
            <a:ext cx="3744883" cy="532014"/>
          </a:xfrm>
          <a:prstGeom prst="rect">
            <a:avLst/>
          </a:prstGeom>
          <a:blipFill>
            <a:blip r:embed="rId2" cstate="print"/>
            <a:stretch>
              <a:fillRect/>
            </a:stretch>
          </a:blipFill>
        </p:spPr>
        <p:txBody>
          <a:bodyPr wrap="square" lIns="0" tIns="0" rIns="0" bIns="0" rtlCol="0"/>
          <a:lstStyle/>
          <a:p>
            <a:endParaRPr>
              <a:latin typeface="+mj-lt"/>
            </a:endParaRPr>
          </a:p>
        </p:txBody>
      </p:sp>
      <p:sp>
        <p:nvSpPr>
          <p:cNvPr id="16" name="object 16"/>
          <p:cNvSpPr/>
          <p:nvPr/>
        </p:nvSpPr>
        <p:spPr>
          <a:xfrm>
            <a:off x="2234967" y="1606608"/>
            <a:ext cx="3525520" cy="326390"/>
          </a:xfrm>
          <a:custGeom>
            <a:avLst/>
            <a:gdLst/>
            <a:ahLst/>
            <a:cxnLst/>
            <a:rect l="l" t="t" r="r" b="b"/>
            <a:pathLst>
              <a:path w="3525520" h="326389">
                <a:moveTo>
                  <a:pt x="3525508" y="325762"/>
                </a:moveTo>
                <a:lnTo>
                  <a:pt x="0" y="0"/>
                </a:lnTo>
              </a:path>
            </a:pathLst>
          </a:custGeom>
          <a:ln w="25399">
            <a:solidFill>
              <a:srgbClr val="1E5C76"/>
            </a:solidFill>
          </a:ln>
        </p:spPr>
        <p:txBody>
          <a:bodyPr wrap="square" lIns="0" tIns="0" rIns="0" bIns="0" rtlCol="0"/>
          <a:lstStyle/>
          <a:p>
            <a:endParaRPr>
              <a:latin typeface="+mj-lt"/>
            </a:endParaRPr>
          </a:p>
        </p:txBody>
      </p:sp>
      <p:sp>
        <p:nvSpPr>
          <p:cNvPr id="17" name="object 17"/>
          <p:cNvSpPr/>
          <p:nvPr/>
        </p:nvSpPr>
        <p:spPr>
          <a:xfrm>
            <a:off x="2209868" y="1554883"/>
            <a:ext cx="119538" cy="117407"/>
          </a:xfrm>
          <a:prstGeom prst="rect">
            <a:avLst/>
          </a:prstGeom>
          <a:blipFill>
            <a:blip r:embed="rId3" cstate="print"/>
            <a:stretch>
              <a:fillRect/>
            </a:stretch>
          </a:blipFill>
        </p:spPr>
        <p:txBody>
          <a:bodyPr wrap="square" lIns="0" tIns="0" rIns="0" bIns="0" rtlCol="0"/>
          <a:lstStyle/>
          <a:p>
            <a:endParaRPr>
              <a:latin typeface="+mj-lt"/>
            </a:endParaRPr>
          </a:p>
        </p:txBody>
      </p:sp>
      <p:sp>
        <p:nvSpPr>
          <p:cNvPr id="18" name="object 18"/>
          <p:cNvSpPr/>
          <p:nvPr/>
        </p:nvSpPr>
        <p:spPr>
          <a:xfrm>
            <a:off x="5045825" y="3100647"/>
            <a:ext cx="764770" cy="315883"/>
          </a:xfrm>
          <a:prstGeom prst="rect">
            <a:avLst/>
          </a:prstGeom>
          <a:blipFill>
            <a:blip r:embed="rId4" cstate="print"/>
            <a:stretch>
              <a:fillRect/>
            </a:stretch>
          </a:blipFill>
        </p:spPr>
        <p:txBody>
          <a:bodyPr wrap="square" lIns="0" tIns="0" rIns="0" bIns="0" rtlCol="0"/>
          <a:lstStyle/>
          <a:p>
            <a:endParaRPr>
              <a:latin typeface="+mj-lt"/>
            </a:endParaRPr>
          </a:p>
        </p:txBody>
      </p:sp>
      <p:sp>
        <p:nvSpPr>
          <p:cNvPr id="19" name="object 19"/>
          <p:cNvSpPr/>
          <p:nvPr/>
        </p:nvSpPr>
        <p:spPr>
          <a:xfrm>
            <a:off x="5218593" y="3138186"/>
            <a:ext cx="542290" cy="106680"/>
          </a:xfrm>
          <a:custGeom>
            <a:avLst/>
            <a:gdLst/>
            <a:ahLst/>
            <a:cxnLst/>
            <a:rect l="l" t="t" r="r" b="b"/>
            <a:pathLst>
              <a:path w="542289" h="106680">
                <a:moveTo>
                  <a:pt x="541882" y="0"/>
                </a:moveTo>
                <a:lnTo>
                  <a:pt x="0" y="106405"/>
                </a:lnTo>
              </a:path>
            </a:pathLst>
          </a:custGeom>
          <a:ln w="25399">
            <a:solidFill>
              <a:srgbClr val="1E5C76"/>
            </a:solidFill>
          </a:ln>
        </p:spPr>
        <p:txBody>
          <a:bodyPr wrap="square" lIns="0" tIns="0" rIns="0" bIns="0" rtlCol="0"/>
          <a:lstStyle/>
          <a:p>
            <a:endParaRPr>
              <a:latin typeface="+mj-lt"/>
            </a:endParaRPr>
          </a:p>
        </p:txBody>
      </p:sp>
      <p:sp>
        <p:nvSpPr>
          <p:cNvPr id="20" name="object 20"/>
          <p:cNvSpPr/>
          <p:nvPr/>
        </p:nvSpPr>
        <p:spPr>
          <a:xfrm>
            <a:off x="5193862" y="3172125"/>
            <a:ext cx="122367" cy="115698"/>
          </a:xfrm>
          <a:prstGeom prst="rect">
            <a:avLst/>
          </a:prstGeom>
          <a:blipFill>
            <a:blip r:embed="rId5" cstate="print"/>
            <a:stretch>
              <a:fillRect/>
            </a:stretch>
          </a:blipFill>
        </p:spPr>
        <p:txBody>
          <a:bodyPr wrap="square" lIns="0" tIns="0" rIns="0" bIns="0" rtlCol="0"/>
          <a:lstStyle/>
          <a:p>
            <a:endParaRPr>
              <a:latin typeface="+mj-lt"/>
            </a:endParaRPr>
          </a:p>
        </p:txBody>
      </p:sp>
      <p:sp>
        <p:nvSpPr>
          <p:cNvPr id="21" name="object 21"/>
          <p:cNvSpPr/>
          <p:nvPr/>
        </p:nvSpPr>
        <p:spPr>
          <a:xfrm>
            <a:off x="4281054" y="5814752"/>
            <a:ext cx="1525385" cy="295101"/>
          </a:xfrm>
          <a:prstGeom prst="rect">
            <a:avLst/>
          </a:prstGeom>
          <a:blipFill>
            <a:blip r:embed="rId6" cstate="print"/>
            <a:stretch>
              <a:fillRect/>
            </a:stretch>
          </a:blipFill>
        </p:spPr>
        <p:txBody>
          <a:bodyPr wrap="square" lIns="0" tIns="0" rIns="0" bIns="0" rtlCol="0"/>
          <a:lstStyle/>
          <a:p>
            <a:endParaRPr>
              <a:latin typeface="+mj-lt"/>
            </a:endParaRPr>
          </a:p>
        </p:txBody>
      </p:sp>
      <p:sp>
        <p:nvSpPr>
          <p:cNvPr id="22" name="object 22"/>
          <p:cNvSpPr/>
          <p:nvPr/>
        </p:nvSpPr>
        <p:spPr>
          <a:xfrm>
            <a:off x="4452061" y="5941498"/>
            <a:ext cx="1308735" cy="0"/>
          </a:xfrm>
          <a:custGeom>
            <a:avLst/>
            <a:gdLst/>
            <a:ahLst/>
            <a:cxnLst/>
            <a:rect l="l" t="t" r="r" b="b"/>
            <a:pathLst>
              <a:path w="1308735">
                <a:moveTo>
                  <a:pt x="1308414" y="0"/>
                </a:moveTo>
                <a:lnTo>
                  <a:pt x="0" y="0"/>
                </a:lnTo>
              </a:path>
            </a:pathLst>
          </a:custGeom>
          <a:ln w="25399">
            <a:solidFill>
              <a:srgbClr val="1E5C76"/>
            </a:solidFill>
          </a:ln>
        </p:spPr>
        <p:txBody>
          <a:bodyPr wrap="square" lIns="0" tIns="0" rIns="0" bIns="0" rtlCol="0"/>
          <a:lstStyle/>
          <a:p>
            <a:endParaRPr>
              <a:latin typeface="+mj-lt"/>
            </a:endParaRPr>
          </a:p>
        </p:txBody>
      </p:sp>
      <p:sp>
        <p:nvSpPr>
          <p:cNvPr id="23" name="object 23"/>
          <p:cNvSpPr/>
          <p:nvPr/>
        </p:nvSpPr>
        <p:spPr>
          <a:xfrm>
            <a:off x="4426856" y="5882544"/>
            <a:ext cx="115909" cy="117908"/>
          </a:xfrm>
          <a:prstGeom prst="rect">
            <a:avLst/>
          </a:prstGeom>
          <a:blipFill>
            <a:blip r:embed="rId7" cstate="print"/>
            <a:stretch>
              <a:fillRect/>
            </a:stretch>
          </a:blipFill>
        </p:spPr>
        <p:txBody>
          <a:bodyPr wrap="square" lIns="0" tIns="0" rIns="0" bIns="0" rtlCol="0"/>
          <a:lstStyle/>
          <a:p>
            <a:endParaRPr>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1862750" y="122714"/>
            <a:ext cx="5267127"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After logging in…</a:t>
            </a:r>
          </a:p>
        </p:txBody>
      </p:sp>
      <p:sp>
        <p:nvSpPr>
          <p:cNvPr id="7" name="object 7"/>
          <p:cNvSpPr txBox="1"/>
          <p:nvPr/>
        </p:nvSpPr>
        <p:spPr>
          <a:xfrm>
            <a:off x="4705381" y="1223257"/>
            <a:ext cx="3611879" cy="4884671"/>
          </a:xfrm>
          <a:prstGeom prst="rect">
            <a:avLst/>
          </a:prstGeom>
        </p:spPr>
        <p:txBody>
          <a:bodyPr vert="horz" wrap="square" lIns="0" tIns="49530" rIns="0" bIns="0" rtlCol="0">
            <a:spAutoFit/>
          </a:bodyPr>
          <a:lstStyle/>
          <a:p>
            <a:pPr marL="355600" indent="-342900">
              <a:lnSpc>
                <a:spcPct val="100000"/>
              </a:lnSpc>
              <a:spcBef>
                <a:spcPts val="390"/>
              </a:spcBef>
              <a:buFont typeface="Arial" panose="020B0604020202020204"/>
              <a:buChar char="•"/>
              <a:tabLst>
                <a:tab pos="354965" algn="l"/>
                <a:tab pos="355600" algn="l"/>
              </a:tabLst>
            </a:pPr>
            <a:r>
              <a:rPr sz="2600" b="1" dirty="0">
                <a:latin typeface="+mj-lt"/>
                <a:cs typeface="Calibri" panose="020F0502020204030204"/>
              </a:rPr>
              <a:t>On a login node</a:t>
            </a:r>
            <a:endParaRPr sz="2600">
              <a:latin typeface="+mj-lt"/>
              <a:cs typeface="Calibri" panose="020F0502020204030204"/>
            </a:endParaRPr>
          </a:p>
          <a:p>
            <a:pPr marL="755650" lvl="1" indent="-285750">
              <a:lnSpc>
                <a:spcPct val="100000"/>
              </a:lnSpc>
              <a:spcBef>
                <a:spcPts val="250"/>
              </a:spcBef>
              <a:buFont typeface="Arial" panose="020B0604020202020204"/>
              <a:buChar char="–"/>
              <a:tabLst>
                <a:tab pos="755015" algn="l"/>
                <a:tab pos="755650" algn="l"/>
              </a:tabLst>
            </a:pPr>
            <a:r>
              <a:rPr sz="2200" dirty="0">
                <a:latin typeface="+mj-lt"/>
                <a:cs typeface="Calibri" panose="020F0502020204030204"/>
              </a:rPr>
              <a:t>cori01, cori02, …</a:t>
            </a:r>
            <a:endParaRPr sz="2200">
              <a:latin typeface="+mj-lt"/>
              <a:cs typeface="Calibri" panose="020F0502020204030204"/>
            </a:endParaRPr>
          </a:p>
          <a:p>
            <a:pPr marL="755650" lvl="1" indent="-285750">
              <a:lnSpc>
                <a:spcPct val="100000"/>
              </a:lnSpc>
              <a:spcBef>
                <a:spcPts val="260"/>
              </a:spcBef>
              <a:buFont typeface="Arial" panose="020B0604020202020204"/>
              <a:buChar char="–"/>
              <a:tabLst>
                <a:tab pos="755015" algn="l"/>
                <a:tab pos="755650" algn="l"/>
              </a:tabLst>
            </a:pPr>
            <a:r>
              <a:rPr sz="2200" b="1" dirty="0">
                <a:latin typeface="+mj-lt"/>
                <a:cs typeface="Calibri" panose="020F0502020204030204"/>
              </a:rPr>
              <a:t>Shared by many users</a:t>
            </a:r>
            <a:endParaRPr sz="2200">
              <a:latin typeface="+mj-lt"/>
              <a:cs typeface="Calibri" panose="020F0502020204030204"/>
            </a:endParaRPr>
          </a:p>
          <a:p>
            <a:pPr marL="748665" marR="5080" lvl="1" indent="-279400">
              <a:lnSpc>
                <a:spcPts val="2370"/>
              </a:lnSpc>
              <a:spcBef>
                <a:spcPts val="565"/>
              </a:spcBef>
              <a:buFont typeface="Arial" panose="020B0604020202020204"/>
              <a:buChar char="–"/>
              <a:tabLst>
                <a:tab pos="755015" algn="l"/>
                <a:tab pos="755650" algn="l"/>
              </a:tabLst>
            </a:pPr>
            <a:r>
              <a:rPr sz="2200" dirty="0">
                <a:latin typeface="+mj-lt"/>
                <a:cs typeface="Calibri" panose="020F0502020204030204"/>
              </a:rPr>
              <a:t>Not necessarily the same  one each time!</a:t>
            </a:r>
            <a:endParaRPr sz="2200">
              <a:latin typeface="+mj-lt"/>
              <a:cs typeface="Calibri" panose="020F0502020204030204"/>
            </a:endParaRPr>
          </a:p>
          <a:p>
            <a:pPr marL="748665" marR="692150" lvl="1" indent="-279400">
              <a:lnSpc>
                <a:spcPts val="2470"/>
              </a:lnSpc>
              <a:spcBef>
                <a:spcPts val="380"/>
              </a:spcBef>
              <a:buFont typeface="Arial" panose="020B0604020202020204"/>
              <a:buChar char="–"/>
              <a:tabLst>
                <a:tab pos="755015" algn="l"/>
                <a:tab pos="755650" algn="l"/>
              </a:tabLst>
            </a:pPr>
            <a:r>
              <a:rPr sz="2200" dirty="0">
                <a:latin typeface="+mj-lt"/>
                <a:cs typeface="Calibri" panose="020F0502020204030204"/>
              </a:rPr>
              <a:t>But same access to  ﬁlesystems</a:t>
            </a:r>
            <a:endParaRPr sz="2200">
              <a:latin typeface="+mj-lt"/>
              <a:cs typeface="Calibri" panose="020F0502020204030204"/>
            </a:endParaRPr>
          </a:p>
          <a:p>
            <a:pPr marL="355600" marR="671830" indent="-342900">
              <a:lnSpc>
                <a:spcPts val="2880"/>
              </a:lnSpc>
              <a:spcBef>
                <a:spcPts val="485"/>
              </a:spcBef>
              <a:buFont typeface="Arial" panose="020B0604020202020204"/>
              <a:buChar char="•"/>
              <a:tabLst>
                <a:tab pos="354965" algn="l"/>
                <a:tab pos="355600" algn="l"/>
                <a:tab pos="1722755" algn="l"/>
              </a:tabLst>
            </a:pPr>
            <a:r>
              <a:rPr sz="2600" b="1" dirty="0">
                <a:latin typeface="+mj-lt"/>
                <a:cs typeface="Calibri" panose="020F0502020204030204"/>
              </a:rPr>
              <a:t>No direct access to  compute	nodes</a:t>
            </a:r>
            <a:endParaRPr sz="2600">
              <a:latin typeface="+mj-lt"/>
              <a:cs typeface="Calibri" panose="020F0502020204030204"/>
            </a:endParaRPr>
          </a:p>
          <a:p>
            <a:pPr marL="748665" marR="372110" lvl="1" indent="-279400">
              <a:lnSpc>
                <a:spcPts val="2370"/>
              </a:lnSpc>
              <a:spcBef>
                <a:spcPts val="495"/>
              </a:spcBef>
              <a:buFont typeface="Arial" panose="020B0604020202020204"/>
              <a:buChar char="–"/>
              <a:tabLst>
                <a:tab pos="755015" algn="l"/>
                <a:tab pos="755650" algn="l"/>
              </a:tabLst>
            </a:pPr>
            <a:r>
              <a:rPr sz="2200" dirty="0">
                <a:latin typeface="+mj-lt"/>
                <a:cs typeface="Calibri" panose="020F0502020204030204"/>
              </a:rPr>
              <a:t>Only via batch system  (</a:t>
            </a:r>
            <a:r>
              <a:rPr sz="2200" b="1" dirty="0">
                <a:latin typeface="+mj-lt"/>
                <a:cs typeface="Courier New" panose="02070309020205020404"/>
              </a:rPr>
              <a:t>salloc</a:t>
            </a:r>
            <a:r>
              <a:rPr sz="2200" dirty="0">
                <a:latin typeface="+mj-lt"/>
                <a:cs typeface="Calibri" panose="020F0502020204030204"/>
              </a:rPr>
              <a:t>, </a:t>
            </a:r>
            <a:r>
              <a:rPr sz="2200" b="1" dirty="0">
                <a:latin typeface="+mj-lt"/>
                <a:cs typeface="Courier New" panose="02070309020205020404"/>
              </a:rPr>
              <a:t>sbatch</a:t>
            </a:r>
            <a:r>
              <a:rPr sz="2200" dirty="0">
                <a:latin typeface="+mj-lt"/>
                <a:cs typeface="Calibri" panose="020F0502020204030204"/>
              </a:rPr>
              <a:t>)</a:t>
            </a:r>
            <a:endParaRPr sz="2200">
              <a:latin typeface="+mj-lt"/>
              <a:cs typeface="Calibri" panose="020F0502020204030204"/>
            </a:endParaRPr>
          </a:p>
          <a:p>
            <a:pPr marL="355600" marR="1187450" indent="-342900">
              <a:lnSpc>
                <a:spcPts val="2880"/>
              </a:lnSpc>
              <a:spcBef>
                <a:spcPts val="505"/>
              </a:spcBef>
              <a:buFont typeface="Arial" panose="020B0604020202020204"/>
              <a:buChar char="•"/>
              <a:tabLst>
                <a:tab pos="354965" algn="l"/>
                <a:tab pos="355600" algn="l"/>
              </a:tabLst>
            </a:pPr>
            <a:r>
              <a:rPr sz="2600" b="1" dirty="0">
                <a:latin typeface="+mj-lt"/>
                <a:cs typeface="Calibri" panose="020F0502020204030204"/>
              </a:rPr>
              <a:t>Haswell (Xeon)  architecture</a:t>
            </a:r>
            <a:endParaRPr sz="2600">
              <a:latin typeface="+mj-lt"/>
              <a:cs typeface="Calibri" panose="020F0502020204030204"/>
            </a:endParaRPr>
          </a:p>
        </p:txBody>
      </p:sp>
      <p:sp>
        <p:nvSpPr>
          <p:cNvPr id="8" name="object 8"/>
          <p:cNvSpPr/>
          <p:nvPr/>
        </p:nvSpPr>
        <p:spPr>
          <a:xfrm>
            <a:off x="360341" y="949347"/>
            <a:ext cx="4266299" cy="5299192"/>
          </a:xfrm>
          <a:prstGeom prst="rect">
            <a:avLst/>
          </a:prstGeom>
          <a:blipFill>
            <a:blip r:embed="rId2" cstate="print"/>
            <a:stretch>
              <a:fillRect/>
            </a:stretch>
          </a:blipFill>
        </p:spPr>
        <p:txBody>
          <a:bodyPr wrap="square" lIns="0" tIns="0" rIns="0" bIns="0" rtlCol="0"/>
          <a:lstStyle/>
          <a:p>
            <a:endParaRPr>
              <a:latin typeface="+mj-lt"/>
            </a:endParaRPr>
          </a:p>
        </p:txBody>
      </p:sp>
      <p:sp>
        <p:nvSpPr>
          <p:cNvPr id="9" name="object 9"/>
          <p:cNvSpPr/>
          <p:nvPr/>
        </p:nvSpPr>
        <p:spPr>
          <a:xfrm>
            <a:off x="1306286" y="5551713"/>
            <a:ext cx="3538220" cy="574675"/>
          </a:xfrm>
          <a:custGeom>
            <a:avLst/>
            <a:gdLst/>
            <a:ahLst/>
            <a:cxnLst/>
            <a:rect l="l" t="t" r="r" b="b"/>
            <a:pathLst>
              <a:path w="3538220" h="574675">
                <a:moveTo>
                  <a:pt x="0" y="287224"/>
                </a:moveTo>
                <a:lnTo>
                  <a:pt x="14509" y="250264"/>
                </a:lnTo>
                <a:lnTo>
                  <a:pt x="56844" y="214718"/>
                </a:lnTo>
                <a:lnTo>
                  <a:pt x="99640" y="191950"/>
                </a:lnTo>
                <a:lnTo>
                  <a:pt x="153475" y="170026"/>
                </a:lnTo>
                <a:lnTo>
                  <a:pt x="217819" y="149033"/>
                </a:lnTo>
                <a:lnTo>
                  <a:pt x="292140" y="129056"/>
                </a:lnTo>
                <a:lnTo>
                  <a:pt x="332875" y="119475"/>
                </a:lnTo>
                <a:lnTo>
                  <a:pt x="375906" y="110181"/>
                </a:lnTo>
                <a:lnTo>
                  <a:pt x="421166" y="101184"/>
                </a:lnTo>
                <a:lnTo>
                  <a:pt x="468588" y="92496"/>
                </a:lnTo>
                <a:lnTo>
                  <a:pt x="518107" y="84126"/>
                </a:lnTo>
                <a:lnTo>
                  <a:pt x="569655" y="76085"/>
                </a:lnTo>
                <a:lnTo>
                  <a:pt x="623166" y="68385"/>
                </a:lnTo>
                <a:lnTo>
                  <a:pt x="678574" y="61036"/>
                </a:lnTo>
                <a:lnTo>
                  <a:pt x="735813" y="54049"/>
                </a:lnTo>
                <a:lnTo>
                  <a:pt x="794816" y="47435"/>
                </a:lnTo>
                <a:lnTo>
                  <a:pt x="855517" y="41204"/>
                </a:lnTo>
                <a:lnTo>
                  <a:pt x="917849" y="35367"/>
                </a:lnTo>
                <a:lnTo>
                  <a:pt x="981746" y="29936"/>
                </a:lnTo>
                <a:lnTo>
                  <a:pt x="1047142" y="24920"/>
                </a:lnTo>
                <a:lnTo>
                  <a:pt x="1113970" y="20330"/>
                </a:lnTo>
                <a:lnTo>
                  <a:pt x="1182165" y="16178"/>
                </a:lnTo>
                <a:lnTo>
                  <a:pt x="1251658" y="12474"/>
                </a:lnTo>
                <a:lnTo>
                  <a:pt x="1322385" y="9229"/>
                </a:lnTo>
                <a:lnTo>
                  <a:pt x="1394279" y="6454"/>
                </a:lnTo>
                <a:lnTo>
                  <a:pt x="1467274" y="4159"/>
                </a:lnTo>
                <a:lnTo>
                  <a:pt x="1541302" y="2355"/>
                </a:lnTo>
                <a:lnTo>
                  <a:pt x="1616298" y="1054"/>
                </a:lnTo>
                <a:lnTo>
                  <a:pt x="1692196" y="265"/>
                </a:lnTo>
                <a:lnTo>
                  <a:pt x="1768928" y="0"/>
                </a:lnTo>
                <a:lnTo>
                  <a:pt x="1845661" y="265"/>
                </a:lnTo>
                <a:lnTo>
                  <a:pt x="1921558" y="1054"/>
                </a:lnTo>
                <a:lnTo>
                  <a:pt x="1996554" y="2355"/>
                </a:lnTo>
                <a:lnTo>
                  <a:pt x="2070583" y="4159"/>
                </a:lnTo>
                <a:lnTo>
                  <a:pt x="2143577" y="6454"/>
                </a:lnTo>
                <a:lnTo>
                  <a:pt x="2215471" y="9229"/>
                </a:lnTo>
                <a:lnTo>
                  <a:pt x="2286198" y="12474"/>
                </a:lnTo>
                <a:lnTo>
                  <a:pt x="2355692" y="16178"/>
                </a:lnTo>
                <a:lnTo>
                  <a:pt x="2423886" y="20330"/>
                </a:lnTo>
                <a:lnTo>
                  <a:pt x="2490714" y="24920"/>
                </a:lnTo>
                <a:lnTo>
                  <a:pt x="2556110" y="29936"/>
                </a:lnTo>
                <a:lnTo>
                  <a:pt x="2620008" y="35367"/>
                </a:lnTo>
                <a:lnTo>
                  <a:pt x="2682340" y="41204"/>
                </a:lnTo>
                <a:lnTo>
                  <a:pt x="2743041" y="47435"/>
                </a:lnTo>
                <a:lnTo>
                  <a:pt x="2802044" y="54049"/>
                </a:lnTo>
                <a:lnTo>
                  <a:pt x="2859282" y="61036"/>
                </a:lnTo>
                <a:lnTo>
                  <a:pt x="2914690" y="68385"/>
                </a:lnTo>
                <a:lnTo>
                  <a:pt x="2968202" y="76085"/>
                </a:lnTo>
                <a:lnTo>
                  <a:pt x="3019750" y="84126"/>
                </a:lnTo>
                <a:lnTo>
                  <a:pt x="3069268" y="92496"/>
                </a:lnTo>
                <a:lnTo>
                  <a:pt x="3116690" y="101184"/>
                </a:lnTo>
                <a:lnTo>
                  <a:pt x="3161950" y="110181"/>
                </a:lnTo>
                <a:lnTo>
                  <a:pt x="3204981" y="119475"/>
                </a:lnTo>
                <a:lnTo>
                  <a:pt x="3245717" y="129056"/>
                </a:lnTo>
                <a:lnTo>
                  <a:pt x="3284091" y="138912"/>
                </a:lnTo>
                <a:lnTo>
                  <a:pt x="3353489" y="159408"/>
                </a:lnTo>
                <a:lnTo>
                  <a:pt x="3412645" y="180877"/>
                </a:lnTo>
                <a:lnTo>
                  <a:pt x="3461027" y="203234"/>
                </a:lnTo>
                <a:lnTo>
                  <a:pt x="3498105" y="226392"/>
                </a:lnTo>
                <a:lnTo>
                  <a:pt x="3531364" y="262441"/>
                </a:lnTo>
                <a:lnTo>
                  <a:pt x="3537857" y="287224"/>
                </a:lnTo>
                <a:lnTo>
                  <a:pt x="3536222" y="299684"/>
                </a:lnTo>
                <a:lnTo>
                  <a:pt x="3512239" y="336205"/>
                </a:lnTo>
                <a:lnTo>
                  <a:pt x="3481012" y="359731"/>
                </a:lnTo>
                <a:lnTo>
                  <a:pt x="3438216" y="382499"/>
                </a:lnTo>
                <a:lnTo>
                  <a:pt x="3384381" y="404422"/>
                </a:lnTo>
                <a:lnTo>
                  <a:pt x="3320037" y="425416"/>
                </a:lnTo>
                <a:lnTo>
                  <a:pt x="3245717" y="445393"/>
                </a:lnTo>
                <a:lnTo>
                  <a:pt x="3204981" y="454974"/>
                </a:lnTo>
                <a:lnTo>
                  <a:pt x="3161950" y="464268"/>
                </a:lnTo>
                <a:lnTo>
                  <a:pt x="3116690" y="473264"/>
                </a:lnTo>
                <a:lnTo>
                  <a:pt x="3069268" y="481953"/>
                </a:lnTo>
                <a:lnTo>
                  <a:pt x="3019750" y="490323"/>
                </a:lnTo>
                <a:lnTo>
                  <a:pt x="2968202" y="498364"/>
                </a:lnTo>
                <a:lnTo>
                  <a:pt x="2914690" y="506064"/>
                </a:lnTo>
                <a:lnTo>
                  <a:pt x="2859282" y="513413"/>
                </a:lnTo>
                <a:lnTo>
                  <a:pt x="2802044" y="520400"/>
                </a:lnTo>
                <a:lnTo>
                  <a:pt x="2743041" y="527014"/>
                </a:lnTo>
                <a:lnTo>
                  <a:pt x="2682340" y="533245"/>
                </a:lnTo>
                <a:lnTo>
                  <a:pt x="2620008" y="539082"/>
                </a:lnTo>
                <a:lnTo>
                  <a:pt x="2556110" y="544513"/>
                </a:lnTo>
                <a:lnTo>
                  <a:pt x="2490714" y="549529"/>
                </a:lnTo>
                <a:lnTo>
                  <a:pt x="2423886" y="554119"/>
                </a:lnTo>
                <a:lnTo>
                  <a:pt x="2355692" y="558271"/>
                </a:lnTo>
                <a:lnTo>
                  <a:pt x="2286198" y="561974"/>
                </a:lnTo>
                <a:lnTo>
                  <a:pt x="2215471" y="565219"/>
                </a:lnTo>
                <a:lnTo>
                  <a:pt x="2143577" y="567995"/>
                </a:lnTo>
                <a:lnTo>
                  <a:pt x="2070583" y="570290"/>
                </a:lnTo>
                <a:lnTo>
                  <a:pt x="1996554" y="572093"/>
                </a:lnTo>
                <a:lnTo>
                  <a:pt x="1921558" y="573395"/>
                </a:lnTo>
                <a:lnTo>
                  <a:pt x="1845661" y="574184"/>
                </a:lnTo>
                <a:lnTo>
                  <a:pt x="1768928" y="574449"/>
                </a:lnTo>
                <a:lnTo>
                  <a:pt x="1692196" y="574184"/>
                </a:lnTo>
                <a:lnTo>
                  <a:pt x="1616298" y="573395"/>
                </a:lnTo>
                <a:lnTo>
                  <a:pt x="1541302" y="572093"/>
                </a:lnTo>
                <a:lnTo>
                  <a:pt x="1467274" y="570290"/>
                </a:lnTo>
                <a:lnTo>
                  <a:pt x="1394279" y="567995"/>
                </a:lnTo>
                <a:lnTo>
                  <a:pt x="1322385" y="565219"/>
                </a:lnTo>
                <a:lnTo>
                  <a:pt x="1251658" y="561974"/>
                </a:lnTo>
                <a:lnTo>
                  <a:pt x="1182165" y="558271"/>
                </a:lnTo>
                <a:lnTo>
                  <a:pt x="1113970" y="554119"/>
                </a:lnTo>
                <a:lnTo>
                  <a:pt x="1047142" y="549529"/>
                </a:lnTo>
                <a:lnTo>
                  <a:pt x="981746" y="544513"/>
                </a:lnTo>
                <a:lnTo>
                  <a:pt x="917849" y="539082"/>
                </a:lnTo>
                <a:lnTo>
                  <a:pt x="855517" y="533245"/>
                </a:lnTo>
                <a:lnTo>
                  <a:pt x="794816" y="527014"/>
                </a:lnTo>
                <a:lnTo>
                  <a:pt x="735813" y="520400"/>
                </a:lnTo>
                <a:lnTo>
                  <a:pt x="678574" y="513413"/>
                </a:lnTo>
                <a:lnTo>
                  <a:pt x="623166" y="506064"/>
                </a:lnTo>
                <a:lnTo>
                  <a:pt x="569655" y="498364"/>
                </a:lnTo>
                <a:lnTo>
                  <a:pt x="518107" y="490323"/>
                </a:lnTo>
                <a:lnTo>
                  <a:pt x="468588" y="481953"/>
                </a:lnTo>
                <a:lnTo>
                  <a:pt x="421166" y="473264"/>
                </a:lnTo>
                <a:lnTo>
                  <a:pt x="375906" y="464268"/>
                </a:lnTo>
                <a:lnTo>
                  <a:pt x="332875" y="454974"/>
                </a:lnTo>
                <a:lnTo>
                  <a:pt x="292140" y="445393"/>
                </a:lnTo>
                <a:lnTo>
                  <a:pt x="253765" y="435537"/>
                </a:lnTo>
                <a:lnTo>
                  <a:pt x="184367" y="415041"/>
                </a:lnTo>
                <a:lnTo>
                  <a:pt x="125211" y="393571"/>
                </a:lnTo>
                <a:lnTo>
                  <a:pt x="76829" y="371215"/>
                </a:lnTo>
                <a:lnTo>
                  <a:pt x="39751" y="348057"/>
                </a:lnTo>
                <a:lnTo>
                  <a:pt x="6493" y="312007"/>
                </a:lnTo>
                <a:lnTo>
                  <a:pt x="0" y="287224"/>
                </a:lnTo>
                <a:close/>
              </a:path>
            </a:pathLst>
          </a:custGeom>
          <a:ln w="57149">
            <a:solidFill>
              <a:srgbClr val="A13B2A"/>
            </a:solidFill>
          </a:ln>
        </p:spPr>
        <p:txBody>
          <a:bodyPr wrap="square" lIns="0" tIns="0" rIns="0" bIns="0" rtlCol="0"/>
          <a:lstStyle/>
          <a:p>
            <a:endParaRPr>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26" y="112554"/>
            <a:ext cx="3192142"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solidFill>
                  <a:srgbClr val="A6A6A6"/>
                </a:solidFill>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4767" y="120665"/>
            <a:ext cx="5821036"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Running jobs – key points</a:t>
            </a:r>
          </a:p>
        </p:txBody>
      </p:sp>
      <p:sp>
        <p:nvSpPr>
          <p:cNvPr id="3" name="object 3"/>
          <p:cNvSpPr txBox="1"/>
          <p:nvPr/>
        </p:nvSpPr>
        <p:spPr>
          <a:xfrm>
            <a:off x="535924" y="1221726"/>
            <a:ext cx="8051800" cy="4103688"/>
          </a:xfrm>
          <a:prstGeom prst="rect">
            <a:avLst/>
          </a:prstGeom>
        </p:spPr>
        <p:txBody>
          <a:bodyPr vert="horz" wrap="square" lIns="0" tIns="12700" rIns="0" bIns="0" rtlCol="0">
            <a:spAutoFit/>
          </a:bodyPr>
          <a:lstStyle/>
          <a:p>
            <a:pPr marL="463550" indent="-387350">
              <a:lnSpc>
                <a:spcPct val="100000"/>
              </a:lnSpc>
              <a:spcBef>
                <a:spcPts val="100"/>
              </a:spcBef>
              <a:buFont typeface="Arial" panose="020B0604020202020204"/>
              <a:buChar char="•"/>
              <a:tabLst>
                <a:tab pos="462915" algn="l"/>
                <a:tab pos="463550" algn="l"/>
              </a:tabLst>
            </a:pPr>
            <a:r>
              <a:rPr sz="2500" b="1" dirty="0">
                <a:latin typeface="+mj-lt"/>
                <a:cs typeface="Calibri" panose="020F0502020204030204"/>
              </a:rPr>
              <a:t>HPC work is via batch system</a:t>
            </a:r>
            <a:endParaRPr sz="25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dirty="0">
                <a:latin typeface="+mj-lt"/>
                <a:cs typeface="Calibri" panose="020F0502020204030204"/>
              </a:rPr>
              <a:t>Dedicated subset of compute resources</a:t>
            </a:r>
          </a:p>
          <a:p>
            <a:pPr marL="926465" marR="5080" lvl="1" indent="-368300">
              <a:lnSpc>
                <a:spcPts val="2500"/>
              </a:lnSpc>
              <a:spcBef>
                <a:spcPts val="90"/>
              </a:spcBef>
              <a:buFont typeface="Arial" panose="020B0604020202020204"/>
              <a:buChar char="–"/>
              <a:tabLst>
                <a:tab pos="920115" algn="l"/>
                <a:tab pos="920750" algn="l"/>
              </a:tabLst>
            </a:pPr>
            <a:r>
              <a:rPr sz="2100" dirty="0">
                <a:latin typeface="+mj-lt"/>
                <a:cs typeface="Calibri" panose="020F0502020204030204"/>
              </a:rPr>
              <a:t>Login nodes are shared resource for building code, editing scripts,  etc. Use batch jobs for real work</a:t>
            </a:r>
          </a:p>
          <a:p>
            <a:pPr marL="463550" indent="-387350">
              <a:lnSpc>
                <a:spcPts val="2900"/>
              </a:lnSpc>
              <a:buFont typeface="Arial" panose="020B0604020202020204"/>
              <a:buChar char="•"/>
              <a:tabLst>
                <a:tab pos="462915" algn="l"/>
                <a:tab pos="463550" algn="l"/>
              </a:tabLst>
            </a:pPr>
            <a:r>
              <a:rPr sz="2500" b="1" dirty="0">
                <a:latin typeface="+mj-lt"/>
                <a:cs typeface="Calibri" panose="020F0502020204030204"/>
              </a:rPr>
              <a:t>Key commands:</a:t>
            </a:r>
            <a:endParaRPr sz="25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dirty="0">
                <a:latin typeface="+mj-lt"/>
                <a:cs typeface="Calibri" panose="020F0502020204030204"/>
              </a:rPr>
              <a:t>sbatch / salloc - submit a job</a:t>
            </a:r>
          </a:p>
          <a:p>
            <a:pPr marL="920750" lvl="1" indent="-362585">
              <a:lnSpc>
                <a:spcPts val="2500"/>
              </a:lnSpc>
              <a:buFont typeface="Arial" panose="020B0604020202020204"/>
              <a:buChar char="–"/>
              <a:tabLst>
                <a:tab pos="920115" algn="l"/>
                <a:tab pos="920750" algn="l"/>
              </a:tabLst>
            </a:pPr>
            <a:r>
              <a:rPr sz="2100" dirty="0">
                <a:latin typeface="+mj-lt"/>
                <a:cs typeface="Calibri" panose="020F0502020204030204"/>
              </a:rPr>
              <a:t>srun - start an (optionally MPI) application within a job</a:t>
            </a:r>
          </a:p>
          <a:p>
            <a:pPr marL="920750" lvl="1" indent="-362585">
              <a:lnSpc>
                <a:spcPts val="2510"/>
              </a:lnSpc>
              <a:buFont typeface="Arial" panose="020B0604020202020204"/>
              <a:buChar char="–"/>
              <a:tabLst>
                <a:tab pos="920115" algn="l"/>
                <a:tab pos="920750" algn="l"/>
              </a:tabLst>
            </a:pPr>
            <a:r>
              <a:rPr sz="2100" dirty="0">
                <a:latin typeface="+mj-lt"/>
                <a:cs typeface="Calibri" panose="020F0502020204030204"/>
              </a:rPr>
              <a:t>sqs - check the queue for my job status</a:t>
            </a:r>
          </a:p>
          <a:p>
            <a:pPr marL="463550" indent="-387350">
              <a:lnSpc>
                <a:spcPct val="100000"/>
              </a:lnSpc>
              <a:spcBef>
                <a:spcPts val="80"/>
              </a:spcBef>
              <a:buFont typeface="Arial" panose="020B0604020202020204"/>
              <a:buChar char="•"/>
              <a:tabLst>
                <a:tab pos="462915" algn="l"/>
                <a:tab pos="463550" algn="l"/>
              </a:tabLst>
            </a:pPr>
            <a:r>
              <a:rPr sz="2500" b="1" dirty="0">
                <a:latin typeface="+mj-lt"/>
                <a:cs typeface="Calibri" panose="020F0502020204030204"/>
              </a:rPr>
              <a:t>For today, we have a reservation</a:t>
            </a:r>
            <a:endParaRPr sz="2500" dirty="0">
              <a:latin typeface="+mj-lt"/>
              <a:cs typeface="Calibri" panose="020F0502020204030204"/>
            </a:endParaRPr>
          </a:p>
          <a:p>
            <a:pPr marL="869950" lvl="1" indent="-387985">
              <a:lnSpc>
                <a:spcPct val="100000"/>
              </a:lnSpc>
              <a:buFont typeface="Arial" panose="020B0604020202020204"/>
              <a:buChar char="–"/>
              <a:tabLst>
                <a:tab pos="869315" algn="l"/>
                <a:tab pos="869950" algn="l"/>
              </a:tabLst>
            </a:pPr>
            <a:r>
              <a:rPr sz="2100" dirty="0">
                <a:latin typeface="+mj-lt"/>
                <a:cs typeface="Calibri" panose="020F0502020204030204"/>
              </a:rPr>
              <a:t>#SBATCH –reservation=csgrrain</a:t>
            </a:r>
          </a:p>
          <a:p>
            <a:pPr>
              <a:lnSpc>
                <a:spcPct val="100000"/>
              </a:lnSpc>
              <a:spcBef>
                <a:spcPts val="35"/>
              </a:spcBef>
            </a:pPr>
            <a:endParaRPr sz="2000" dirty="0">
              <a:latin typeface="+mj-lt"/>
              <a:cs typeface="Calibri" panose="020F0502020204030204"/>
            </a:endParaRPr>
          </a:p>
          <a:p>
            <a:pPr marL="12700">
              <a:lnSpc>
                <a:spcPct val="100000"/>
              </a:lnSpc>
            </a:pPr>
            <a:r>
              <a:rPr lang="en-US" sz="2400" dirty="0">
                <a:hlinkClick r:id="rId2"/>
              </a:rPr>
              <a:t>https://docs.nersc.gov/jobs/</a:t>
            </a:r>
            <a:endParaRPr sz="2100" dirty="0">
              <a:latin typeface="+mj-lt"/>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99424" y="1233601"/>
            <a:ext cx="7988300" cy="1361440"/>
          </a:xfrm>
          <a:prstGeom prst="rect">
            <a:avLst/>
          </a:prstGeom>
        </p:spPr>
        <p:txBody>
          <a:bodyPr vert="horz" wrap="square" lIns="0" tIns="12700" rIns="0" bIns="0" rtlCol="0">
            <a:spAutoFit/>
          </a:bodyPr>
          <a:lstStyle/>
          <a:p>
            <a:pPr marL="400050" indent="-387350">
              <a:lnSpc>
                <a:spcPct val="100000"/>
              </a:lnSpc>
              <a:spcBef>
                <a:spcPts val="100"/>
              </a:spcBef>
              <a:buClr>
                <a:srgbClr val="A6A6A6"/>
              </a:buClr>
              <a:buFont typeface="Arial" panose="020B0604020202020204"/>
              <a:buChar char="•"/>
              <a:tabLst>
                <a:tab pos="399415" algn="l"/>
                <a:tab pos="400050" algn="l"/>
              </a:tabLst>
            </a:pPr>
            <a:r>
              <a:rPr sz="2500" b="1" dirty="0">
                <a:solidFill>
                  <a:srgbClr val="B5B5B5"/>
                </a:solidFill>
                <a:latin typeface="+mj-lt"/>
                <a:cs typeface="Calibri" panose="020F0502020204030204"/>
              </a:rPr>
              <a:t>HPC work is via batch system</a:t>
            </a:r>
            <a:endParaRPr sz="2500">
              <a:latin typeface="+mj-lt"/>
              <a:cs typeface="Calibri" panose="020F0502020204030204"/>
            </a:endParaRPr>
          </a:p>
          <a:p>
            <a:pPr marL="857250" lvl="1" indent="-362585">
              <a:lnSpc>
                <a:spcPts val="2510"/>
              </a:lnSpc>
              <a:buFont typeface="Arial" panose="020B0604020202020204"/>
              <a:buChar char="–"/>
              <a:tabLst>
                <a:tab pos="856615" algn="l"/>
                <a:tab pos="857250" algn="l"/>
              </a:tabLst>
            </a:pPr>
            <a:r>
              <a:rPr sz="2100" dirty="0">
                <a:solidFill>
                  <a:srgbClr val="A6A6A6"/>
                </a:solidFill>
                <a:latin typeface="+mj-lt"/>
                <a:cs typeface="Calibri" panose="020F0502020204030204"/>
              </a:rPr>
              <a:t>Dedicated subset of compute resources</a:t>
            </a:r>
            <a:endParaRPr sz="2100">
              <a:latin typeface="+mj-lt"/>
              <a:cs typeface="Calibri" panose="020F0502020204030204"/>
            </a:endParaRPr>
          </a:p>
          <a:p>
            <a:pPr marL="862965" marR="5080" lvl="1" indent="-368300">
              <a:lnSpc>
                <a:spcPts val="2500"/>
              </a:lnSpc>
              <a:spcBef>
                <a:spcPts val="90"/>
              </a:spcBef>
              <a:buFont typeface="Arial" panose="020B0604020202020204"/>
              <a:buChar char="–"/>
              <a:tabLst>
                <a:tab pos="856615" algn="l"/>
                <a:tab pos="857250" algn="l"/>
              </a:tabLst>
            </a:pPr>
            <a:r>
              <a:rPr sz="2100" dirty="0">
                <a:solidFill>
                  <a:srgbClr val="A6A6A6"/>
                </a:solidFill>
                <a:latin typeface="+mj-lt"/>
                <a:cs typeface="Calibri" panose="020F0502020204030204"/>
              </a:rPr>
              <a:t>Login nodes are shared resource for building code, editing scripts,  etc. Use batch jobs for real work</a:t>
            </a:r>
            <a:endParaRPr sz="2100">
              <a:latin typeface="+mj-lt"/>
              <a:cs typeface="Calibri" panose="020F0502020204030204"/>
            </a:endParaRPr>
          </a:p>
        </p:txBody>
      </p:sp>
      <p:sp>
        <p:nvSpPr>
          <p:cNvPr id="4" name="object 4"/>
          <p:cNvSpPr txBox="1"/>
          <p:nvPr/>
        </p:nvSpPr>
        <p:spPr>
          <a:xfrm>
            <a:off x="599424" y="2567101"/>
            <a:ext cx="2502535" cy="406400"/>
          </a:xfrm>
          <a:prstGeom prst="rect">
            <a:avLst/>
          </a:prstGeom>
        </p:spPr>
        <p:txBody>
          <a:bodyPr vert="horz" wrap="square" lIns="0" tIns="12700" rIns="0" bIns="0" rtlCol="0">
            <a:spAutoFit/>
          </a:bodyPr>
          <a:lstStyle/>
          <a:p>
            <a:pPr marL="400050" indent="-387350">
              <a:lnSpc>
                <a:spcPct val="100000"/>
              </a:lnSpc>
              <a:spcBef>
                <a:spcPts val="100"/>
              </a:spcBef>
              <a:buClr>
                <a:srgbClr val="A6A6A6"/>
              </a:buClr>
              <a:buFont typeface="Arial" panose="020B0604020202020204"/>
              <a:buChar char="•"/>
              <a:tabLst>
                <a:tab pos="399415" algn="l"/>
                <a:tab pos="400050" algn="l"/>
              </a:tabLst>
            </a:pPr>
            <a:r>
              <a:rPr sz="2500" b="1" dirty="0">
                <a:solidFill>
                  <a:srgbClr val="B5B5B5"/>
                </a:solidFill>
                <a:latin typeface="+mj-lt"/>
                <a:cs typeface="Calibri" panose="020F0502020204030204"/>
              </a:rPr>
              <a:t>Key commands:</a:t>
            </a:r>
            <a:endParaRPr sz="2500">
              <a:latin typeface="+mj-lt"/>
              <a:cs typeface="Calibri" panose="020F0502020204030204"/>
            </a:endParaRPr>
          </a:p>
        </p:txBody>
      </p:sp>
      <p:sp>
        <p:nvSpPr>
          <p:cNvPr id="5" name="object 5"/>
          <p:cNvSpPr txBox="1"/>
          <p:nvPr/>
        </p:nvSpPr>
        <p:spPr>
          <a:xfrm>
            <a:off x="1082024" y="2948101"/>
            <a:ext cx="3477260" cy="345440"/>
          </a:xfrm>
          <a:prstGeom prst="rect">
            <a:avLst/>
          </a:prstGeom>
        </p:spPr>
        <p:txBody>
          <a:bodyPr vert="horz" wrap="square" lIns="0" tIns="12700" rIns="0" bIns="0" rtlCol="0">
            <a:spAutoFit/>
          </a:bodyPr>
          <a:lstStyle/>
          <a:p>
            <a:pPr marL="12700">
              <a:lnSpc>
                <a:spcPct val="100000"/>
              </a:lnSpc>
              <a:spcBef>
                <a:spcPts val="100"/>
              </a:spcBef>
              <a:tabLst>
                <a:tab pos="374015" algn="l"/>
              </a:tabLst>
            </a:pPr>
            <a:r>
              <a:rPr sz="2100" dirty="0">
                <a:solidFill>
                  <a:srgbClr val="A6A6A6"/>
                </a:solidFill>
                <a:latin typeface="+mj-lt"/>
                <a:cs typeface="Arial" panose="020B0604020202020204"/>
              </a:rPr>
              <a:t>–	</a:t>
            </a:r>
            <a:r>
              <a:rPr sz="2100" dirty="0">
                <a:solidFill>
                  <a:srgbClr val="A6A6A6"/>
                </a:solidFill>
                <a:latin typeface="+mj-lt"/>
                <a:cs typeface="Calibri" panose="020F0502020204030204"/>
              </a:rPr>
              <a:t>sbatch / salloc - submit a job</a:t>
            </a:r>
            <a:endParaRPr sz="2100">
              <a:latin typeface="+mj-lt"/>
              <a:cs typeface="Calibri" panose="020F0502020204030204"/>
            </a:endParaRPr>
          </a:p>
        </p:txBody>
      </p:sp>
      <p:sp>
        <p:nvSpPr>
          <p:cNvPr id="6" name="object 6"/>
          <p:cNvSpPr txBox="1"/>
          <p:nvPr/>
        </p:nvSpPr>
        <p:spPr>
          <a:xfrm>
            <a:off x="535924" y="3265601"/>
            <a:ext cx="7226934" cy="2051844"/>
          </a:xfrm>
          <a:prstGeom prst="rect">
            <a:avLst/>
          </a:prstGeom>
        </p:spPr>
        <p:txBody>
          <a:bodyPr vert="horz" wrap="square" lIns="0" tIns="12700" rIns="0" bIns="0" rtlCol="0">
            <a:spAutoFit/>
          </a:bodyPr>
          <a:lstStyle/>
          <a:p>
            <a:pPr marL="920750" indent="-362585">
              <a:lnSpc>
                <a:spcPts val="2510"/>
              </a:lnSpc>
              <a:spcBef>
                <a:spcPts val="100"/>
              </a:spcBef>
              <a:buFont typeface="Arial" panose="020B0604020202020204"/>
              <a:buChar char="–"/>
              <a:tabLst>
                <a:tab pos="920115" algn="l"/>
                <a:tab pos="920750" algn="l"/>
              </a:tabLst>
            </a:pPr>
            <a:r>
              <a:rPr sz="2100" dirty="0">
                <a:solidFill>
                  <a:srgbClr val="A6A6A6"/>
                </a:solidFill>
                <a:latin typeface="+mj-lt"/>
                <a:cs typeface="Calibri" panose="020F0502020204030204"/>
              </a:rPr>
              <a:t>srun - start an (optionally MPI) application within a job</a:t>
            </a:r>
            <a:endParaRPr sz="2100" dirty="0">
              <a:latin typeface="+mj-lt"/>
              <a:cs typeface="Calibri" panose="020F0502020204030204"/>
            </a:endParaRPr>
          </a:p>
          <a:p>
            <a:pPr marL="920750" indent="-362585">
              <a:lnSpc>
                <a:spcPts val="2510"/>
              </a:lnSpc>
              <a:buFont typeface="Arial" panose="020B0604020202020204"/>
              <a:buChar char="–"/>
              <a:tabLst>
                <a:tab pos="920115" algn="l"/>
                <a:tab pos="920750" algn="l"/>
              </a:tabLst>
            </a:pPr>
            <a:r>
              <a:rPr sz="2100" dirty="0">
                <a:solidFill>
                  <a:srgbClr val="A6A6A6"/>
                </a:solidFill>
                <a:latin typeface="+mj-lt"/>
                <a:cs typeface="Calibri" panose="020F0502020204030204"/>
              </a:rPr>
              <a:t>sqs - check the queue for my job status</a:t>
            </a:r>
            <a:endParaRPr sz="2100" dirty="0">
              <a:latin typeface="+mj-lt"/>
              <a:cs typeface="Calibri" panose="020F0502020204030204"/>
            </a:endParaRPr>
          </a:p>
          <a:p>
            <a:pPr marL="463550" indent="-387350">
              <a:lnSpc>
                <a:spcPct val="100000"/>
              </a:lnSpc>
              <a:spcBef>
                <a:spcPts val="80"/>
              </a:spcBef>
              <a:buClr>
                <a:srgbClr val="A6A6A6"/>
              </a:buClr>
              <a:buFont typeface="Arial" panose="020B0604020202020204"/>
              <a:buChar char="•"/>
              <a:tabLst>
                <a:tab pos="462915" algn="l"/>
                <a:tab pos="463550" algn="l"/>
              </a:tabLst>
            </a:pPr>
            <a:r>
              <a:rPr sz="2500" b="1" dirty="0">
                <a:solidFill>
                  <a:srgbClr val="B5B5B5"/>
                </a:solidFill>
                <a:latin typeface="+mj-lt"/>
                <a:cs typeface="Calibri" panose="020F0502020204030204"/>
              </a:rPr>
              <a:t>For today, we have a reservation</a:t>
            </a:r>
            <a:endParaRPr sz="2500" dirty="0">
              <a:latin typeface="+mj-lt"/>
              <a:cs typeface="Calibri" panose="020F0502020204030204"/>
            </a:endParaRPr>
          </a:p>
          <a:p>
            <a:pPr marL="481965">
              <a:lnSpc>
                <a:spcPct val="100000"/>
              </a:lnSpc>
              <a:tabLst>
                <a:tab pos="869315" algn="l"/>
              </a:tabLst>
            </a:pPr>
            <a:r>
              <a:rPr sz="2100" dirty="0">
                <a:solidFill>
                  <a:srgbClr val="A6A6A6"/>
                </a:solidFill>
                <a:latin typeface="+mj-lt"/>
                <a:cs typeface="Arial" panose="020B0604020202020204"/>
              </a:rPr>
              <a:t>–	</a:t>
            </a:r>
            <a:r>
              <a:rPr sz="2100" dirty="0">
                <a:solidFill>
                  <a:srgbClr val="A6A6A6"/>
                </a:solidFill>
                <a:latin typeface="+mj-lt"/>
                <a:cs typeface="Calibri" panose="020F0502020204030204"/>
              </a:rPr>
              <a:t>#SBATCH –reservation=csgrrain</a:t>
            </a:r>
            <a:endParaRPr sz="2100" dirty="0">
              <a:latin typeface="+mj-lt"/>
              <a:cs typeface="Calibri" panose="020F0502020204030204"/>
            </a:endParaRPr>
          </a:p>
          <a:p>
            <a:pPr>
              <a:lnSpc>
                <a:spcPct val="100000"/>
              </a:lnSpc>
              <a:spcBef>
                <a:spcPts val="35"/>
              </a:spcBef>
            </a:pPr>
            <a:endParaRPr sz="2000" dirty="0">
              <a:latin typeface="+mj-lt"/>
              <a:cs typeface="Calibri" panose="020F0502020204030204"/>
            </a:endParaRPr>
          </a:p>
          <a:p>
            <a:pPr marL="12700">
              <a:lnSpc>
                <a:spcPct val="100000"/>
              </a:lnSpc>
            </a:pPr>
            <a:r>
              <a:rPr lang="en-US" sz="2400" dirty="0">
                <a:hlinkClick r:id="rId2"/>
              </a:rPr>
              <a:t>https://docs.nersc.gov/jobs/</a:t>
            </a:r>
            <a:endParaRPr sz="2100" dirty="0">
              <a:latin typeface="+mj-lt"/>
              <a:cs typeface="Calibri" panose="020F0502020204030204"/>
            </a:endParaRPr>
          </a:p>
        </p:txBody>
      </p:sp>
      <p:sp>
        <p:nvSpPr>
          <p:cNvPr id="7" name="object 7"/>
          <p:cNvSpPr/>
          <p:nvPr/>
        </p:nvSpPr>
        <p:spPr>
          <a:xfrm>
            <a:off x="5704864" y="2448546"/>
            <a:ext cx="2060575" cy="958215"/>
          </a:xfrm>
          <a:custGeom>
            <a:avLst/>
            <a:gdLst/>
            <a:ahLst/>
            <a:cxnLst/>
            <a:rect l="l" t="t" r="r" b="b"/>
            <a:pathLst>
              <a:path w="2060575" h="958214">
                <a:moveTo>
                  <a:pt x="1900447" y="0"/>
                </a:moveTo>
                <a:lnTo>
                  <a:pt x="159652" y="0"/>
                </a:lnTo>
                <a:lnTo>
                  <a:pt x="109190" y="8139"/>
                </a:lnTo>
                <a:lnTo>
                  <a:pt x="65364" y="30803"/>
                </a:lnTo>
                <a:lnTo>
                  <a:pt x="30803" y="65364"/>
                </a:lnTo>
                <a:lnTo>
                  <a:pt x="8139" y="109190"/>
                </a:lnTo>
                <a:lnTo>
                  <a:pt x="0" y="159652"/>
                </a:lnTo>
                <a:lnTo>
                  <a:pt x="0" y="798247"/>
                </a:lnTo>
                <a:lnTo>
                  <a:pt x="8139" y="848709"/>
                </a:lnTo>
                <a:lnTo>
                  <a:pt x="30803" y="892535"/>
                </a:lnTo>
                <a:lnTo>
                  <a:pt x="65364" y="927096"/>
                </a:lnTo>
                <a:lnTo>
                  <a:pt x="109190" y="949760"/>
                </a:lnTo>
                <a:lnTo>
                  <a:pt x="159652" y="957900"/>
                </a:lnTo>
                <a:lnTo>
                  <a:pt x="1900447" y="957900"/>
                </a:lnTo>
                <a:lnTo>
                  <a:pt x="1950909" y="949760"/>
                </a:lnTo>
                <a:lnTo>
                  <a:pt x="1994735" y="927096"/>
                </a:lnTo>
                <a:lnTo>
                  <a:pt x="2029296" y="892535"/>
                </a:lnTo>
                <a:lnTo>
                  <a:pt x="2051960" y="848709"/>
                </a:lnTo>
                <a:lnTo>
                  <a:pt x="2060100" y="798247"/>
                </a:lnTo>
                <a:lnTo>
                  <a:pt x="2060100" y="159652"/>
                </a:lnTo>
                <a:lnTo>
                  <a:pt x="2051960" y="109190"/>
                </a:lnTo>
                <a:lnTo>
                  <a:pt x="2029296" y="65364"/>
                </a:lnTo>
                <a:lnTo>
                  <a:pt x="1994735" y="30803"/>
                </a:lnTo>
                <a:lnTo>
                  <a:pt x="1950909" y="8139"/>
                </a:lnTo>
                <a:lnTo>
                  <a:pt x="1900447" y="0"/>
                </a:lnTo>
                <a:close/>
              </a:path>
            </a:pathLst>
          </a:custGeom>
          <a:solidFill>
            <a:srgbClr val="FFECC1"/>
          </a:solidFill>
        </p:spPr>
        <p:txBody>
          <a:bodyPr wrap="square" lIns="0" tIns="0" rIns="0" bIns="0" rtlCol="0"/>
          <a:lstStyle/>
          <a:p>
            <a:endParaRPr>
              <a:latin typeface="+mj-lt"/>
            </a:endParaRPr>
          </a:p>
        </p:txBody>
      </p:sp>
      <p:sp>
        <p:nvSpPr>
          <p:cNvPr id="8" name="object 8"/>
          <p:cNvSpPr/>
          <p:nvPr/>
        </p:nvSpPr>
        <p:spPr>
          <a:xfrm>
            <a:off x="5704864" y="2448546"/>
            <a:ext cx="2060575" cy="958215"/>
          </a:xfrm>
          <a:custGeom>
            <a:avLst/>
            <a:gdLst/>
            <a:ahLst/>
            <a:cxnLst/>
            <a:rect l="l" t="t" r="r" b="b"/>
            <a:pathLst>
              <a:path w="2060575" h="958214">
                <a:moveTo>
                  <a:pt x="0" y="159653"/>
                </a:moveTo>
                <a:lnTo>
                  <a:pt x="8139" y="109190"/>
                </a:lnTo>
                <a:lnTo>
                  <a:pt x="30803" y="65363"/>
                </a:lnTo>
                <a:lnTo>
                  <a:pt x="65363" y="30803"/>
                </a:lnTo>
                <a:lnTo>
                  <a:pt x="109190" y="8139"/>
                </a:lnTo>
                <a:lnTo>
                  <a:pt x="159652" y="0"/>
                </a:lnTo>
                <a:lnTo>
                  <a:pt x="1900446" y="0"/>
                </a:lnTo>
                <a:lnTo>
                  <a:pt x="1950909" y="8139"/>
                </a:lnTo>
                <a:lnTo>
                  <a:pt x="1994735" y="30803"/>
                </a:lnTo>
                <a:lnTo>
                  <a:pt x="2029295" y="65363"/>
                </a:lnTo>
                <a:lnTo>
                  <a:pt x="2051960" y="109190"/>
                </a:lnTo>
                <a:lnTo>
                  <a:pt x="2060099" y="159653"/>
                </a:lnTo>
                <a:lnTo>
                  <a:pt x="2060099" y="798246"/>
                </a:lnTo>
                <a:lnTo>
                  <a:pt x="2051960" y="848709"/>
                </a:lnTo>
                <a:lnTo>
                  <a:pt x="2029295" y="892535"/>
                </a:lnTo>
                <a:lnTo>
                  <a:pt x="1994735" y="927095"/>
                </a:lnTo>
                <a:lnTo>
                  <a:pt x="1950909" y="949760"/>
                </a:lnTo>
                <a:lnTo>
                  <a:pt x="1900446" y="957899"/>
                </a:lnTo>
                <a:lnTo>
                  <a:pt x="159652" y="957899"/>
                </a:lnTo>
                <a:lnTo>
                  <a:pt x="109190" y="949760"/>
                </a:lnTo>
                <a:lnTo>
                  <a:pt x="65363" y="927095"/>
                </a:lnTo>
                <a:lnTo>
                  <a:pt x="30803" y="892535"/>
                </a:lnTo>
                <a:lnTo>
                  <a:pt x="8139" y="848709"/>
                </a:lnTo>
                <a:lnTo>
                  <a:pt x="0" y="798246"/>
                </a:lnTo>
                <a:lnTo>
                  <a:pt x="0" y="159653"/>
                </a:lnTo>
                <a:close/>
              </a:path>
            </a:pathLst>
          </a:custGeom>
          <a:ln w="9524">
            <a:solidFill>
              <a:srgbClr val="1E5C76"/>
            </a:solidFill>
          </a:ln>
        </p:spPr>
        <p:txBody>
          <a:bodyPr wrap="square" lIns="0" tIns="0" rIns="0" bIns="0" rtlCol="0"/>
          <a:lstStyle/>
          <a:p>
            <a:endParaRPr>
              <a:latin typeface="+mj-lt"/>
            </a:endParaRPr>
          </a:p>
        </p:txBody>
      </p:sp>
      <p:sp>
        <p:nvSpPr>
          <p:cNvPr id="9" name="object 9"/>
          <p:cNvSpPr txBox="1"/>
          <p:nvPr/>
        </p:nvSpPr>
        <p:spPr>
          <a:xfrm>
            <a:off x="5830350" y="2549036"/>
            <a:ext cx="148907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mj-lt"/>
                <a:cs typeface="Calibri" panose="020F0502020204030204"/>
              </a:rPr>
              <a:t>All of this is</a:t>
            </a:r>
            <a:endParaRPr sz="2400">
              <a:latin typeface="+mj-lt"/>
              <a:cs typeface="Calibri" panose="020F0502020204030204"/>
            </a:endParaRPr>
          </a:p>
        </p:txBody>
      </p:sp>
      <p:sp>
        <p:nvSpPr>
          <p:cNvPr id="10" name="object 10"/>
          <p:cNvSpPr txBox="1"/>
          <p:nvPr/>
        </p:nvSpPr>
        <p:spPr>
          <a:xfrm>
            <a:off x="5830350" y="2904636"/>
            <a:ext cx="155829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mj-lt"/>
                <a:cs typeface="Calibri" panose="020F0502020204030204"/>
              </a:rPr>
              <a:t>on the web!</a:t>
            </a:r>
            <a:endParaRPr sz="2400">
              <a:latin typeface="+mj-lt"/>
              <a:cs typeface="Calibri" panose="020F0502020204030204"/>
            </a:endParaRPr>
          </a:p>
        </p:txBody>
      </p:sp>
      <p:sp>
        <p:nvSpPr>
          <p:cNvPr id="11" name="object 11"/>
          <p:cNvSpPr/>
          <p:nvPr/>
        </p:nvSpPr>
        <p:spPr>
          <a:xfrm>
            <a:off x="5099138" y="3406446"/>
            <a:ext cx="1636395" cy="1492885"/>
          </a:xfrm>
          <a:custGeom>
            <a:avLst/>
            <a:gdLst/>
            <a:ahLst/>
            <a:cxnLst/>
            <a:rect l="l" t="t" r="r" b="b"/>
            <a:pathLst>
              <a:path w="1636395" h="1492885">
                <a:moveTo>
                  <a:pt x="1635775" y="0"/>
                </a:moveTo>
                <a:lnTo>
                  <a:pt x="0" y="1492428"/>
                </a:lnTo>
              </a:path>
            </a:pathLst>
          </a:custGeom>
          <a:ln w="19049">
            <a:solidFill>
              <a:srgbClr val="1E5C76"/>
            </a:solidFill>
          </a:ln>
        </p:spPr>
        <p:txBody>
          <a:bodyPr wrap="square" lIns="0" tIns="0" rIns="0" bIns="0" rtlCol="0"/>
          <a:lstStyle/>
          <a:p>
            <a:endParaRPr>
              <a:latin typeface="+mj-lt"/>
            </a:endParaRPr>
          </a:p>
        </p:txBody>
      </p:sp>
      <p:sp>
        <p:nvSpPr>
          <p:cNvPr id="12" name="object 12"/>
          <p:cNvSpPr/>
          <p:nvPr/>
        </p:nvSpPr>
        <p:spPr>
          <a:xfrm>
            <a:off x="5080373" y="4783488"/>
            <a:ext cx="137160" cy="132715"/>
          </a:xfrm>
          <a:custGeom>
            <a:avLst/>
            <a:gdLst/>
            <a:ahLst/>
            <a:cxnLst/>
            <a:rect l="l" t="t" r="r" b="b"/>
            <a:pathLst>
              <a:path w="137160" h="132714">
                <a:moveTo>
                  <a:pt x="51020" y="0"/>
                </a:moveTo>
                <a:lnTo>
                  <a:pt x="0" y="132506"/>
                </a:lnTo>
                <a:lnTo>
                  <a:pt x="136618" y="93818"/>
                </a:lnTo>
                <a:lnTo>
                  <a:pt x="51020" y="0"/>
                </a:lnTo>
                <a:close/>
              </a:path>
            </a:pathLst>
          </a:custGeom>
          <a:solidFill>
            <a:srgbClr val="1E5C76"/>
          </a:solidFill>
        </p:spPr>
        <p:txBody>
          <a:bodyPr wrap="square" lIns="0" tIns="0" rIns="0" bIns="0" rtlCol="0"/>
          <a:lstStyle/>
          <a:p>
            <a:endParaRPr>
              <a:latin typeface="+mj-lt"/>
            </a:endParaRPr>
          </a:p>
        </p:txBody>
      </p:sp>
      <p:sp>
        <p:nvSpPr>
          <p:cNvPr id="14" name="object 2"/>
          <p:cNvSpPr txBox="1">
            <a:spLocks noGrp="1"/>
          </p:cNvSpPr>
          <p:nvPr>
            <p:ph type="title"/>
          </p:nvPr>
        </p:nvSpPr>
        <p:spPr>
          <a:xfrm>
            <a:off x="1434767" y="120665"/>
            <a:ext cx="5821036"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Running jobs – key points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2300271" y="117490"/>
            <a:ext cx="431755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How jobs work</a:t>
            </a:r>
          </a:p>
        </p:txBody>
      </p:sp>
      <p:sp>
        <p:nvSpPr>
          <p:cNvPr id="7" name="object 7"/>
          <p:cNvSpPr txBox="1"/>
          <p:nvPr/>
        </p:nvSpPr>
        <p:spPr>
          <a:xfrm>
            <a:off x="535924" y="1339201"/>
            <a:ext cx="3117850" cy="810260"/>
          </a:xfrm>
          <a:prstGeom prst="rect">
            <a:avLst/>
          </a:prstGeom>
        </p:spPr>
        <p:txBody>
          <a:bodyPr vert="horz" wrap="square" lIns="0" tIns="12700" rIns="0" bIns="0" rtlCol="0">
            <a:spAutoFit/>
          </a:bodyPr>
          <a:lstStyle/>
          <a:p>
            <a:pPr marL="12700">
              <a:lnSpc>
                <a:spcPts val="3330"/>
              </a:lnSpc>
              <a:spcBef>
                <a:spcPts val="100"/>
              </a:spcBef>
            </a:pPr>
            <a:r>
              <a:rPr sz="2800" b="1" dirty="0">
                <a:latin typeface="+mj-lt"/>
                <a:cs typeface="Calibri" panose="020F0502020204030204"/>
              </a:rPr>
              <a:t>Desktop / login node</a:t>
            </a:r>
            <a:endParaRPr sz="2800">
              <a:latin typeface="+mj-lt"/>
              <a:cs typeface="Calibri" panose="020F0502020204030204"/>
            </a:endParaRPr>
          </a:p>
          <a:p>
            <a:pPr marL="469900" indent="-381000">
              <a:lnSpc>
                <a:spcPts val="2850"/>
              </a:lnSpc>
              <a:buFont typeface="Arial" panose="020B0604020202020204"/>
              <a:buChar char="•"/>
              <a:tabLst>
                <a:tab pos="469265" algn="l"/>
                <a:tab pos="469900" algn="l"/>
              </a:tabLst>
            </a:pPr>
            <a:r>
              <a:rPr sz="2400" dirty="0">
                <a:latin typeface="+mj-lt"/>
                <a:cs typeface="Calibri" panose="020F0502020204030204"/>
              </a:rPr>
              <a:t>Timeslicing</a:t>
            </a:r>
            <a:endParaRPr sz="2400">
              <a:latin typeface="+mj-lt"/>
              <a:cs typeface="Calibri" panose="020F0502020204030204"/>
            </a:endParaRPr>
          </a:p>
        </p:txBody>
      </p:sp>
      <p:sp>
        <p:nvSpPr>
          <p:cNvPr id="8" name="object 8"/>
          <p:cNvSpPr txBox="1"/>
          <p:nvPr/>
        </p:nvSpPr>
        <p:spPr>
          <a:xfrm>
            <a:off x="1107424" y="2126601"/>
            <a:ext cx="2559050" cy="1391920"/>
          </a:xfrm>
          <a:prstGeom prst="rect">
            <a:avLst/>
          </a:prstGeom>
        </p:spPr>
        <p:txBody>
          <a:bodyPr vert="horz" wrap="square" lIns="0" tIns="27939" rIns="0" bIns="0" rtlCol="0">
            <a:spAutoFit/>
          </a:bodyPr>
          <a:lstStyle/>
          <a:p>
            <a:pPr marL="354965" marR="5080" indent="-342900">
              <a:lnSpc>
                <a:spcPts val="2100"/>
              </a:lnSpc>
              <a:spcBef>
                <a:spcPts val="220"/>
              </a:spcBef>
              <a:buFont typeface="Arial" panose="020B0604020202020204"/>
              <a:buChar char="–"/>
              <a:tabLst>
                <a:tab pos="354965" algn="l"/>
                <a:tab pos="355600" algn="l"/>
              </a:tabLst>
            </a:pPr>
            <a:r>
              <a:rPr sz="1800" dirty="0">
                <a:latin typeface="+mj-lt"/>
                <a:cs typeface="Calibri" panose="020F0502020204030204"/>
              </a:rPr>
              <a:t>core shared by multiple  tasks</a:t>
            </a:r>
            <a:endParaRPr sz="1800">
              <a:latin typeface="+mj-lt"/>
              <a:cs typeface="Calibri" panose="020F0502020204030204"/>
            </a:endParaRPr>
          </a:p>
          <a:p>
            <a:pPr marL="355600" indent="-342900">
              <a:lnSpc>
                <a:spcPts val="2140"/>
              </a:lnSpc>
              <a:buFont typeface="Arial" panose="020B0604020202020204"/>
              <a:buChar char="–"/>
              <a:tabLst>
                <a:tab pos="354965" algn="l"/>
                <a:tab pos="355600" algn="l"/>
              </a:tabLst>
            </a:pPr>
            <a:r>
              <a:rPr sz="1800" dirty="0">
                <a:latin typeface="+mj-lt"/>
                <a:cs typeface="Calibri" panose="020F0502020204030204"/>
              </a:rPr>
              <a:t>Works when the</a:t>
            </a:r>
            <a:endParaRPr sz="1800">
              <a:latin typeface="+mj-lt"/>
              <a:cs typeface="Calibri" panose="020F0502020204030204"/>
            </a:endParaRPr>
          </a:p>
          <a:p>
            <a:pPr marL="354965" marR="415925">
              <a:lnSpc>
                <a:spcPts val="2100"/>
              </a:lnSpc>
              <a:spcBef>
                <a:spcPts val="160"/>
              </a:spcBef>
            </a:pPr>
            <a:r>
              <a:rPr sz="1800" dirty="0">
                <a:latin typeface="+mj-lt"/>
                <a:cs typeface="Calibri" panose="020F0502020204030204"/>
              </a:rPr>
              <a:t>computer is mostly  waiting for you</a:t>
            </a:r>
            <a:endParaRPr sz="1800">
              <a:latin typeface="+mj-lt"/>
              <a:cs typeface="Calibri" panose="020F0502020204030204"/>
            </a:endParaRPr>
          </a:p>
        </p:txBody>
      </p:sp>
      <p:sp>
        <p:nvSpPr>
          <p:cNvPr id="9" name="object 9"/>
          <p:cNvSpPr txBox="1"/>
          <p:nvPr/>
        </p:nvSpPr>
        <p:spPr>
          <a:xfrm>
            <a:off x="535924" y="3498201"/>
            <a:ext cx="2986405" cy="2283460"/>
          </a:xfrm>
          <a:prstGeom prst="rect">
            <a:avLst/>
          </a:prstGeom>
        </p:spPr>
        <p:txBody>
          <a:bodyPr vert="horz" wrap="square" lIns="0" tIns="12700" rIns="0" bIns="0" rtlCol="0">
            <a:spAutoFit/>
          </a:bodyPr>
          <a:lstStyle/>
          <a:p>
            <a:pPr marL="12700">
              <a:lnSpc>
                <a:spcPct val="100000"/>
              </a:lnSpc>
              <a:spcBef>
                <a:spcPts val="100"/>
              </a:spcBef>
            </a:pPr>
            <a:r>
              <a:rPr sz="2800" b="1" dirty="0">
                <a:latin typeface="+mj-lt"/>
                <a:cs typeface="Calibri" panose="020F0502020204030204"/>
              </a:rPr>
              <a:t>HPC</a:t>
            </a:r>
            <a:endParaRPr sz="2800">
              <a:latin typeface="+mj-lt"/>
              <a:cs typeface="Calibri" panose="020F0502020204030204"/>
            </a:endParaRPr>
          </a:p>
          <a:p>
            <a:pPr marL="469265" marR="160655" indent="-381000">
              <a:lnSpc>
                <a:spcPts val="2800"/>
              </a:lnSpc>
              <a:spcBef>
                <a:spcPts val="200"/>
              </a:spcBef>
              <a:buFont typeface="Arial" panose="020B0604020202020204"/>
              <a:buChar char="•"/>
              <a:tabLst>
                <a:tab pos="469265" algn="l"/>
                <a:tab pos="469900" algn="l"/>
              </a:tabLst>
            </a:pPr>
            <a:r>
              <a:rPr sz="2400" dirty="0">
                <a:latin typeface="+mj-lt"/>
                <a:cs typeface="Calibri" panose="020F0502020204030204"/>
              </a:rPr>
              <a:t>You are waiting for  the computer</a:t>
            </a:r>
            <a:endParaRPr sz="2400">
              <a:latin typeface="+mj-lt"/>
              <a:cs typeface="Calibri" panose="020F0502020204030204"/>
            </a:endParaRPr>
          </a:p>
          <a:p>
            <a:pPr marL="469265" marR="5080" indent="-381000">
              <a:lnSpc>
                <a:spcPts val="2900"/>
              </a:lnSpc>
              <a:spcBef>
                <a:spcPts val="20"/>
              </a:spcBef>
              <a:buFont typeface="Arial" panose="020B0604020202020204"/>
              <a:buChar char="•"/>
              <a:tabLst>
                <a:tab pos="469265" algn="l"/>
                <a:tab pos="469900" algn="l"/>
              </a:tabLst>
            </a:pPr>
            <a:r>
              <a:rPr sz="2400" dirty="0">
                <a:latin typeface="+mj-lt"/>
                <a:cs typeface="Calibri" panose="020F0502020204030204"/>
              </a:rPr>
              <a:t>Subset of pooled  resources dedicated  to one job</a:t>
            </a:r>
            <a:endParaRPr sz="2400">
              <a:latin typeface="+mj-lt"/>
              <a:cs typeface="Calibri" panose="020F0502020204030204"/>
            </a:endParaRPr>
          </a:p>
        </p:txBody>
      </p:sp>
      <p:sp>
        <p:nvSpPr>
          <p:cNvPr id="10" name="object 10"/>
          <p:cNvSpPr/>
          <p:nvPr/>
        </p:nvSpPr>
        <p:spPr>
          <a:xfrm>
            <a:off x="3639249" y="1207663"/>
            <a:ext cx="5189697" cy="5345535"/>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1126835" y="132109"/>
            <a:ext cx="7176653" cy="599138"/>
          </a:xfrm>
          <a:prstGeom prst="rect">
            <a:avLst/>
          </a:prstGeom>
        </p:spPr>
        <p:txBody>
          <a:bodyPr vert="horz" wrap="square" lIns="0" tIns="12700" rIns="0" bIns="0" rtlCol="0">
            <a:spAutoFit/>
          </a:bodyPr>
          <a:lstStyle/>
          <a:p>
            <a:pPr marL="12700">
              <a:lnSpc>
                <a:spcPct val="100000"/>
              </a:lnSpc>
              <a:spcBef>
                <a:spcPts val="100"/>
              </a:spcBef>
            </a:pPr>
            <a:r>
              <a:rPr dirty="0">
                <a:latin typeface="+mj-lt"/>
              </a:rPr>
              <a:t>How jobs work</a:t>
            </a:r>
            <a:r>
              <a:rPr lang="en-US" dirty="0">
                <a:latin typeface="+mj-lt"/>
              </a:rPr>
              <a:t> (whole procedure) </a:t>
            </a:r>
            <a:endParaRPr dirty="0">
              <a:latin typeface="+mj-lt"/>
            </a:endParaRPr>
          </a:p>
        </p:txBody>
      </p:sp>
      <p:sp>
        <p:nvSpPr>
          <p:cNvPr id="7" name="object 7"/>
          <p:cNvSpPr txBox="1"/>
          <p:nvPr/>
        </p:nvSpPr>
        <p:spPr>
          <a:xfrm>
            <a:off x="408999" y="1339201"/>
            <a:ext cx="2914015" cy="4975721"/>
          </a:xfrm>
          <a:prstGeom prst="rect">
            <a:avLst/>
          </a:prstGeom>
        </p:spPr>
        <p:txBody>
          <a:bodyPr vert="horz" wrap="square" lIns="0" tIns="12700" rIns="0" bIns="0" rtlCol="0">
            <a:spAutoFit/>
          </a:bodyPr>
          <a:lstStyle/>
          <a:p>
            <a:pPr marL="355600" indent="-342900">
              <a:lnSpc>
                <a:spcPts val="2130"/>
              </a:lnSpc>
              <a:spcBef>
                <a:spcPts val="100"/>
              </a:spcBef>
              <a:buFont typeface="Arial" panose="020B0604020202020204"/>
              <a:buChar char="•"/>
              <a:tabLst>
                <a:tab pos="354965" algn="l"/>
                <a:tab pos="355600" algn="l"/>
              </a:tabLst>
            </a:pPr>
            <a:r>
              <a:rPr sz="1800" b="1" dirty="0">
                <a:latin typeface="+mj-lt"/>
                <a:cs typeface="Calibri" panose="020F0502020204030204"/>
              </a:rPr>
              <a:t>Start on login node</a:t>
            </a:r>
            <a:endParaRPr sz="1800" dirty="0">
              <a:latin typeface="+mj-lt"/>
              <a:cs typeface="Calibri" panose="020F0502020204030204"/>
            </a:endParaRPr>
          </a:p>
          <a:p>
            <a:pPr marL="812165" lvl="1" indent="-342900">
              <a:lnSpc>
                <a:spcPts val="2130"/>
              </a:lnSpc>
              <a:buFont typeface="Arial" panose="020B0604020202020204"/>
              <a:buChar char="–"/>
              <a:tabLst>
                <a:tab pos="812165" algn="l"/>
                <a:tab pos="812800" algn="l"/>
              </a:tabLst>
            </a:pPr>
            <a:r>
              <a:rPr sz="1800" dirty="0">
                <a:latin typeface="+mj-lt"/>
                <a:cs typeface="Calibri" panose="020F0502020204030204"/>
              </a:rPr>
              <a:t>shared by many users,</a:t>
            </a:r>
          </a:p>
          <a:p>
            <a:pPr marL="812165" marR="46355">
              <a:lnSpc>
                <a:spcPts val="2100"/>
              </a:lnSpc>
              <a:spcBef>
                <a:spcPts val="160"/>
              </a:spcBef>
            </a:pPr>
            <a:r>
              <a:rPr sz="1800" dirty="0">
                <a:solidFill>
                  <a:srgbClr val="FF0000"/>
                </a:solidFill>
                <a:latin typeface="+mj-lt"/>
                <a:cs typeface="Calibri" panose="020F0502020204030204"/>
              </a:rPr>
              <a:t>not for computational  work</a:t>
            </a:r>
            <a:endParaRPr sz="1800" dirty="0">
              <a:latin typeface="+mj-lt"/>
              <a:cs typeface="Calibri" panose="020F0502020204030204"/>
            </a:endParaRPr>
          </a:p>
          <a:p>
            <a:pPr marL="355600" marR="400685" indent="-342900">
              <a:lnSpc>
                <a:spcPts val="2100"/>
              </a:lnSpc>
              <a:spcBef>
                <a:spcPts val="100"/>
              </a:spcBef>
              <a:buFont typeface="Arial" panose="020B0604020202020204"/>
              <a:buChar char="•"/>
              <a:tabLst>
                <a:tab pos="354965" algn="l"/>
                <a:tab pos="355600" algn="l"/>
              </a:tabLst>
            </a:pPr>
            <a:r>
              <a:rPr sz="1800" b="1" dirty="0">
                <a:latin typeface="+mj-lt"/>
                <a:cs typeface="Calibri" panose="020F0502020204030204"/>
              </a:rPr>
              <a:t>Access compute nodes  with sbatch or salloc</a:t>
            </a:r>
            <a:endParaRPr sz="1800" dirty="0">
              <a:latin typeface="+mj-lt"/>
              <a:cs typeface="Calibri" panose="020F0502020204030204"/>
            </a:endParaRPr>
          </a:p>
          <a:p>
            <a:pPr marL="355600" indent="-342900">
              <a:lnSpc>
                <a:spcPts val="2140"/>
              </a:lnSpc>
              <a:buFont typeface="Arial" panose="020B0604020202020204"/>
              <a:buChar char="•"/>
              <a:tabLst>
                <a:tab pos="354965" algn="l"/>
                <a:tab pos="355600" algn="l"/>
              </a:tabLst>
            </a:pPr>
            <a:r>
              <a:rPr sz="1800" b="1" dirty="0">
                <a:latin typeface="+mj-lt"/>
                <a:cs typeface="Calibri" panose="020F0502020204030204"/>
              </a:rPr>
              <a:t>Batch script</a:t>
            </a:r>
            <a:endParaRPr sz="1800" dirty="0">
              <a:latin typeface="+mj-lt"/>
              <a:cs typeface="Calibri" panose="020F0502020204030204"/>
            </a:endParaRPr>
          </a:p>
          <a:p>
            <a:pPr marL="812800" lvl="1" indent="-343535">
              <a:lnSpc>
                <a:spcPts val="2130"/>
              </a:lnSpc>
              <a:spcBef>
                <a:spcPts val="40"/>
              </a:spcBef>
              <a:buFont typeface="Arial" panose="020B0604020202020204"/>
              <a:buChar char="–"/>
              <a:tabLst>
                <a:tab pos="812165" algn="l"/>
                <a:tab pos="812800" algn="l"/>
              </a:tabLst>
            </a:pPr>
            <a:r>
              <a:rPr sz="1800" dirty="0">
                <a:latin typeface="+mj-lt"/>
                <a:cs typeface="Calibri" panose="020F0502020204030204"/>
              </a:rPr>
              <a:t>Copied to queue</a:t>
            </a:r>
          </a:p>
          <a:p>
            <a:pPr marL="812165" marR="5080" lvl="1" indent="-342900">
              <a:lnSpc>
                <a:spcPts val="2200"/>
              </a:lnSpc>
              <a:spcBef>
                <a:spcPts val="10"/>
              </a:spcBef>
              <a:buFont typeface="Arial" panose="020B0604020202020204"/>
              <a:buChar char="–"/>
              <a:tabLst>
                <a:tab pos="812165" algn="l"/>
                <a:tab pos="812800" algn="l"/>
              </a:tabLst>
            </a:pPr>
            <a:r>
              <a:rPr sz="1800" dirty="0">
                <a:latin typeface="+mj-lt"/>
                <a:cs typeface="Calibri" panose="020F0502020204030204"/>
              </a:rPr>
              <a:t>Has directives for  SLURM, and shell</a:t>
            </a:r>
          </a:p>
          <a:p>
            <a:pPr marL="812165" marR="5080">
              <a:lnSpc>
                <a:spcPts val="2100"/>
              </a:lnSpc>
              <a:spcBef>
                <a:spcPts val="80"/>
              </a:spcBef>
            </a:pPr>
            <a:r>
              <a:rPr sz="1800" dirty="0">
                <a:latin typeface="+mj-lt"/>
                <a:cs typeface="Calibri" panose="020F0502020204030204"/>
              </a:rPr>
              <a:t>commands to perform  on ﬁrst compute node</a:t>
            </a:r>
          </a:p>
          <a:p>
            <a:pPr marL="355600" marR="100330" indent="-342900">
              <a:lnSpc>
                <a:spcPts val="2100"/>
              </a:lnSpc>
              <a:spcBef>
                <a:spcPts val="100"/>
              </a:spcBef>
              <a:buFont typeface="Arial" panose="020B0604020202020204"/>
              <a:buChar char="•"/>
              <a:tabLst>
                <a:tab pos="354965" algn="l"/>
                <a:tab pos="355600" algn="l"/>
              </a:tabLst>
            </a:pPr>
            <a:r>
              <a:rPr sz="1800" b="1" dirty="0">
                <a:latin typeface="+mj-lt"/>
                <a:cs typeface="Calibri" panose="020F0502020204030204"/>
              </a:rPr>
              <a:t>Access your allocated nodes</a:t>
            </a:r>
            <a:r>
              <a:rPr lang="en-US" sz="1800" b="1" dirty="0">
                <a:latin typeface="+mj-lt"/>
                <a:cs typeface="Calibri" panose="020F0502020204030204"/>
              </a:rPr>
              <a:t> </a:t>
            </a:r>
            <a:r>
              <a:rPr lang="en-US" altLang="zh-CN" sz="1800" b="1" dirty="0">
                <a:latin typeface="+mj-lt"/>
                <a:cs typeface="Calibri" panose="020F0502020204030204"/>
              </a:rPr>
              <a:t>and start jobs</a:t>
            </a:r>
            <a:r>
              <a:rPr sz="1800" b="1" dirty="0">
                <a:latin typeface="+mj-lt"/>
                <a:cs typeface="Calibri" panose="020F0502020204030204"/>
              </a:rPr>
              <a:t> with srun</a:t>
            </a:r>
            <a:endParaRPr sz="1800" dirty="0">
              <a:latin typeface="+mj-lt"/>
              <a:cs typeface="Calibri" panose="020F0502020204030204"/>
            </a:endParaRPr>
          </a:p>
          <a:p>
            <a:pPr marL="355600" indent="-342900">
              <a:lnSpc>
                <a:spcPts val="2140"/>
              </a:lnSpc>
              <a:buFont typeface="Arial" panose="020B0604020202020204"/>
              <a:buChar char="•"/>
              <a:tabLst>
                <a:tab pos="354965" algn="l"/>
                <a:tab pos="355600" algn="l"/>
              </a:tabLst>
            </a:pPr>
            <a:r>
              <a:rPr sz="1800" b="1" dirty="0">
                <a:latin typeface="+mj-lt"/>
                <a:cs typeface="Calibri" panose="020F0502020204030204"/>
              </a:rPr>
              <a:t>stdout, stderr saved to ﬁle</a:t>
            </a:r>
            <a:endParaRPr sz="1800" dirty="0">
              <a:latin typeface="+mj-lt"/>
              <a:cs typeface="Calibri" panose="020F0502020204030204"/>
            </a:endParaRPr>
          </a:p>
          <a:p>
            <a:pPr marL="812165" marR="511810" lvl="1" indent="-342900">
              <a:lnSpc>
                <a:spcPts val="2100"/>
              </a:lnSpc>
              <a:spcBef>
                <a:spcPts val="160"/>
              </a:spcBef>
              <a:buFont typeface="Arial" panose="020B0604020202020204"/>
              <a:buChar char="–"/>
              <a:tabLst>
                <a:tab pos="812165" algn="l"/>
                <a:tab pos="812800" algn="l"/>
              </a:tabLst>
            </a:pPr>
            <a:r>
              <a:rPr sz="1800" dirty="0">
                <a:latin typeface="+mj-lt"/>
                <a:cs typeface="Calibri" panose="020F0502020204030204"/>
              </a:rPr>
              <a:t>(when running in  batch mode)</a:t>
            </a:r>
          </a:p>
        </p:txBody>
      </p:sp>
      <p:sp>
        <p:nvSpPr>
          <p:cNvPr id="8" name="object 8"/>
          <p:cNvSpPr/>
          <p:nvPr/>
        </p:nvSpPr>
        <p:spPr>
          <a:xfrm>
            <a:off x="3264524" y="1101600"/>
            <a:ext cx="5812373" cy="5659372"/>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11281" y="1200920"/>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a:spLocks noGrp="1"/>
          </p:cNvSpPr>
          <p:nvPr>
            <p:ph type="title"/>
          </p:nvPr>
        </p:nvSpPr>
        <p:spPr>
          <a:xfrm>
            <a:off x="911209" y="303034"/>
            <a:ext cx="7535047" cy="520065"/>
          </a:xfrm>
          <a:prstGeom prst="rect">
            <a:avLst/>
          </a:prstGeom>
        </p:spPr>
        <p:txBody>
          <a:bodyPr vert="horz" wrap="square" lIns="0" tIns="33020" rIns="0" bIns="0" rtlCol="0">
            <a:spAutoFit/>
          </a:bodyPr>
          <a:lstStyle/>
          <a:p>
            <a:pPr marL="241300" marR="5080" indent="-228600">
              <a:lnSpc>
                <a:spcPts val="3800"/>
              </a:lnSpc>
              <a:spcBef>
                <a:spcPts val="260"/>
              </a:spcBef>
            </a:pPr>
            <a:r>
              <a:rPr sz="2400" dirty="0">
                <a:latin typeface="+mj-lt"/>
              </a:rPr>
              <a:t>Nodes, cores, CPUs, threads, tasks -  some definitions</a:t>
            </a:r>
          </a:p>
        </p:txBody>
      </p:sp>
      <p:sp>
        <p:nvSpPr>
          <p:cNvPr id="7" name="object 7"/>
          <p:cNvSpPr txBox="1"/>
          <p:nvPr/>
        </p:nvSpPr>
        <p:spPr>
          <a:xfrm>
            <a:off x="612124" y="1351076"/>
            <a:ext cx="6346825" cy="1201420"/>
          </a:xfrm>
          <a:prstGeom prst="rect">
            <a:avLst/>
          </a:prstGeom>
        </p:spPr>
        <p:txBody>
          <a:bodyPr vert="horz" wrap="square" lIns="0" tIns="12700" rIns="0" bIns="0" rtlCol="0">
            <a:spAutoFit/>
          </a:bodyPr>
          <a:lstStyle/>
          <a:p>
            <a:pPr marL="393700" indent="-381000">
              <a:lnSpc>
                <a:spcPts val="2840"/>
              </a:lnSpc>
              <a:spcBef>
                <a:spcPts val="100"/>
              </a:spcBef>
              <a:buFont typeface="Arial" panose="020B0604020202020204"/>
              <a:buChar char="•"/>
              <a:tabLst>
                <a:tab pos="393065" algn="l"/>
                <a:tab pos="393700" algn="l"/>
              </a:tabLst>
            </a:pPr>
            <a:r>
              <a:rPr sz="2400" b="1" i="1" dirty="0">
                <a:latin typeface="+mj-lt"/>
                <a:cs typeface="Calibri" panose="020F0502020204030204"/>
              </a:rPr>
              <a:t>Node </a:t>
            </a:r>
            <a:r>
              <a:rPr sz="2400" b="1" dirty="0">
                <a:latin typeface="+mj-lt"/>
                <a:cs typeface="Calibri" panose="020F0502020204030204"/>
              </a:rPr>
              <a:t>is the basic unit of allocation at NERSC</a:t>
            </a:r>
            <a:endParaRPr sz="2400">
              <a:latin typeface="+mj-lt"/>
              <a:cs typeface="Calibri" panose="020F0502020204030204"/>
            </a:endParaRPr>
          </a:p>
          <a:p>
            <a:pPr marL="850900" lvl="1" indent="-343535">
              <a:lnSpc>
                <a:spcPts val="2120"/>
              </a:lnSpc>
              <a:buFont typeface="Arial" panose="020B0604020202020204"/>
              <a:buChar char="–"/>
              <a:tabLst>
                <a:tab pos="850265" algn="l"/>
                <a:tab pos="850900" algn="l"/>
              </a:tabLst>
            </a:pPr>
            <a:r>
              <a:rPr sz="1800" dirty="0">
                <a:latin typeface="+mj-lt"/>
                <a:cs typeface="Calibri" panose="020F0502020204030204"/>
              </a:rPr>
              <a:t>Think “one host” or “one server”</a:t>
            </a:r>
            <a:endParaRPr sz="1800">
              <a:latin typeface="+mj-lt"/>
              <a:cs typeface="Calibri" panose="020F0502020204030204"/>
            </a:endParaRPr>
          </a:p>
          <a:p>
            <a:pPr marL="850900" lvl="1" indent="-343535">
              <a:lnSpc>
                <a:spcPts val="2130"/>
              </a:lnSpc>
              <a:spcBef>
                <a:spcPts val="40"/>
              </a:spcBef>
              <a:buFont typeface="Arial" panose="020B0604020202020204"/>
              <a:buChar char="–"/>
              <a:tabLst>
                <a:tab pos="850265" algn="l"/>
                <a:tab pos="850900" algn="l"/>
              </a:tabLst>
            </a:pPr>
            <a:r>
              <a:rPr sz="1800" dirty="0">
                <a:latin typeface="+mj-lt"/>
                <a:cs typeface="Calibri" panose="020F0502020204030204"/>
              </a:rPr>
              <a:t>Single memory space, multiple CPU cores (24 or 32 or 68 ...</a:t>
            </a:r>
            <a:endParaRPr sz="1800">
              <a:latin typeface="+mj-lt"/>
              <a:cs typeface="Calibri" panose="020F0502020204030204"/>
            </a:endParaRPr>
          </a:p>
          <a:p>
            <a:pPr marL="1308100" lvl="2" indent="-343535">
              <a:lnSpc>
                <a:spcPts val="2130"/>
              </a:lnSpc>
              <a:buFont typeface="Arial" panose="020B0604020202020204"/>
              <a:buChar char="•"/>
              <a:tabLst>
                <a:tab pos="1307465" algn="l"/>
                <a:tab pos="1308100" algn="l"/>
              </a:tabLst>
            </a:pPr>
            <a:r>
              <a:rPr sz="1800" dirty="0">
                <a:latin typeface="+mj-lt"/>
                <a:cs typeface="Calibri" panose="020F0502020204030204"/>
              </a:rPr>
              <a:t>And a core might support hyperthreading</a:t>
            </a:r>
            <a:endParaRPr sz="1800">
              <a:latin typeface="+mj-lt"/>
              <a:cs typeface="Calibri" panose="020F0502020204030204"/>
            </a:endParaRPr>
          </a:p>
        </p:txBody>
      </p:sp>
      <p:sp>
        <p:nvSpPr>
          <p:cNvPr id="8" name="object 8"/>
          <p:cNvSpPr/>
          <p:nvPr/>
        </p:nvSpPr>
        <p:spPr>
          <a:xfrm>
            <a:off x="1709288" y="2871027"/>
            <a:ext cx="5661552" cy="3086348"/>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78450" y="1182523"/>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7" name="object 7"/>
          <p:cNvSpPr/>
          <p:nvPr/>
        </p:nvSpPr>
        <p:spPr>
          <a:xfrm>
            <a:off x="378450" y="4278148"/>
            <a:ext cx="4019698" cy="2155499"/>
          </a:xfrm>
          <a:prstGeom prst="rect">
            <a:avLst/>
          </a:prstGeom>
          <a:blipFill>
            <a:blip r:embed="rId2" cstate="print"/>
            <a:stretch>
              <a:fillRect/>
            </a:stretch>
          </a:blipFill>
        </p:spPr>
        <p:txBody>
          <a:bodyPr wrap="square" lIns="0" tIns="0" rIns="0" bIns="0" rtlCol="0"/>
          <a:lstStyle/>
          <a:p>
            <a:endParaRPr>
              <a:latin typeface="+mj-lt"/>
            </a:endParaRPr>
          </a:p>
        </p:txBody>
      </p:sp>
      <p:sp>
        <p:nvSpPr>
          <p:cNvPr id="8" name="object 8"/>
          <p:cNvSpPr/>
          <p:nvPr/>
        </p:nvSpPr>
        <p:spPr>
          <a:xfrm>
            <a:off x="4562099" y="4131450"/>
            <a:ext cx="4526847" cy="2580516"/>
          </a:xfrm>
          <a:prstGeom prst="rect">
            <a:avLst/>
          </a:prstGeom>
          <a:blipFill>
            <a:blip r:embed="rId3" cstate="print"/>
            <a:stretch>
              <a:fillRect/>
            </a:stretch>
          </a:blipFill>
        </p:spPr>
        <p:txBody>
          <a:bodyPr wrap="square" lIns="0" tIns="0" rIns="0" bIns="0" rtlCol="0"/>
          <a:lstStyle/>
          <a:p>
            <a:endParaRPr>
              <a:latin typeface="+mj-lt"/>
            </a:endParaRPr>
          </a:p>
        </p:txBody>
      </p:sp>
      <p:sp>
        <p:nvSpPr>
          <p:cNvPr id="9" name="object 9"/>
          <p:cNvSpPr txBox="1"/>
          <p:nvPr/>
        </p:nvSpPr>
        <p:spPr>
          <a:xfrm>
            <a:off x="4640823" y="6105874"/>
            <a:ext cx="1463040" cy="566420"/>
          </a:xfrm>
          <a:prstGeom prst="rect">
            <a:avLst/>
          </a:prstGeom>
        </p:spPr>
        <p:txBody>
          <a:bodyPr vert="horz" wrap="square" lIns="0" tIns="27940" rIns="0" bIns="0" rtlCol="0">
            <a:spAutoFit/>
          </a:bodyPr>
          <a:lstStyle/>
          <a:p>
            <a:pPr marL="12700" marR="5080">
              <a:lnSpc>
                <a:spcPts val="2100"/>
              </a:lnSpc>
              <a:spcBef>
                <a:spcPts val="220"/>
              </a:spcBef>
            </a:pPr>
            <a:r>
              <a:rPr sz="1800" dirty="0">
                <a:latin typeface="+mj-lt"/>
                <a:cs typeface="Calibri" panose="020F0502020204030204"/>
              </a:rPr>
              <a:t>With  hyperthreading</a:t>
            </a:r>
            <a:endParaRPr sz="1800">
              <a:latin typeface="+mj-lt"/>
              <a:cs typeface="Calibri" panose="020F0502020204030204"/>
            </a:endParaRPr>
          </a:p>
        </p:txBody>
      </p:sp>
      <p:sp>
        <p:nvSpPr>
          <p:cNvPr id="10" name="object 10"/>
          <p:cNvSpPr txBox="1"/>
          <p:nvPr/>
        </p:nvSpPr>
        <p:spPr>
          <a:xfrm>
            <a:off x="2799173" y="6105874"/>
            <a:ext cx="1463040" cy="566420"/>
          </a:xfrm>
          <a:prstGeom prst="rect">
            <a:avLst/>
          </a:prstGeom>
        </p:spPr>
        <p:txBody>
          <a:bodyPr vert="horz" wrap="square" lIns="0" tIns="27940" rIns="0" bIns="0" rtlCol="0">
            <a:spAutoFit/>
          </a:bodyPr>
          <a:lstStyle/>
          <a:p>
            <a:pPr marL="12700" marR="5080">
              <a:lnSpc>
                <a:spcPts val="2100"/>
              </a:lnSpc>
              <a:spcBef>
                <a:spcPts val="220"/>
              </a:spcBef>
            </a:pPr>
            <a:r>
              <a:rPr sz="1800" dirty="0">
                <a:latin typeface="+mj-lt"/>
                <a:cs typeface="Calibri" panose="020F0502020204030204"/>
              </a:rPr>
              <a:t>Without  hyperthreading</a:t>
            </a:r>
            <a:endParaRPr sz="1800">
              <a:latin typeface="+mj-lt"/>
              <a:cs typeface="Calibri" panose="020F0502020204030204"/>
            </a:endParaRPr>
          </a:p>
        </p:txBody>
      </p:sp>
      <p:sp>
        <p:nvSpPr>
          <p:cNvPr id="11" name="object 11"/>
          <p:cNvSpPr/>
          <p:nvPr/>
        </p:nvSpPr>
        <p:spPr>
          <a:xfrm>
            <a:off x="5052600" y="1270572"/>
            <a:ext cx="3299626" cy="2562742"/>
          </a:xfrm>
          <a:prstGeom prst="rect">
            <a:avLst/>
          </a:prstGeom>
          <a:blipFill>
            <a:blip r:embed="rId4" cstate="print"/>
            <a:stretch>
              <a:fillRect/>
            </a:stretch>
          </a:blipFill>
        </p:spPr>
        <p:txBody>
          <a:bodyPr wrap="square" lIns="0" tIns="0" rIns="0" bIns="0" rtlCol="0"/>
          <a:lstStyle/>
          <a:p>
            <a:endParaRPr>
              <a:latin typeface="+mj-lt"/>
            </a:endParaRPr>
          </a:p>
        </p:txBody>
      </p:sp>
      <p:sp>
        <p:nvSpPr>
          <p:cNvPr id="12" name="object 12"/>
          <p:cNvSpPr txBox="1"/>
          <p:nvPr/>
        </p:nvSpPr>
        <p:spPr>
          <a:xfrm>
            <a:off x="251573" y="1212575"/>
            <a:ext cx="4976209" cy="2923877"/>
          </a:xfrm>
          <a:prstGeom prst="rect">
            <a:avLst/>
          </a:prstGeom>
        </p:spPr>
        <p:txBody>
          <a:bodyPr vert="horz" wrap="square" lIns="0" tIns="12700" rIns="0" bIns="0" rtlCol="0">
            <a:spAutoFit/>
          </a:bodyPr>
          <a:lstStyle/>
          <a:p>
            <a:pPr marL="12700">
              <a:lnSpc>
                <a:spcPts val="3330"/>
              </a:lnSpc>
              <a:spcBef>
                <a:spcPts val="100"/>
              </a:spcBef>
            </a:pPr>
            <a:r>
              <a:rPr sz="2800" b="1" dirty="0">
                <a:latin typeface="+mj-lt"/>
                <a:cs typeface="Calibri" panose="020F0502020204030204"/>
              </a:rPr>
              <a:t>Hyperthreading</a:t>
            </a:r>
            <a:r>
              <a:rPr lang="en-US" sz="2800" b="1" dirty="0">
                <a:latin typeface="+mj-lt"/>
                <a:cs typeface="Calibri" panose="020F0502020204030204"/>
              </a:rPr>
              <a:t> (</a:t>
            </a:r>
            <a:r>
              <a:rPr lang="zh-CN" altLang="en-US" sz="2800" b="1" dirty="0">
                <a:latin typeface="微软雅黑" panose="020B0503020204020204" pitchFamily="34" charset="-122"/>
                <a:ea typeface="微软雅黑" panose="020B0503020204020204" pitchFamily="34" charset="-122"/>
                <a:cs typeface="Calibri" panose="020F0502020204030204"/>
              </a:rPr>
              <a:t>超线程、</a:t>
            </a:r>
            <a:r>
              <a:rPr lang="en-US" altLang="zh-CN" sz="2800" b="1" dirty="0" err="1">
                <a:latin typeface="+mj-lt"/>
                <a:cs typeface="Calibri" panose="020F0502020204030204"/>
              </a:rPr>
              <a:t>vcpu</a:t>
            </a:r>
            <a:r>
              <a:rPr lang="en-US" sz="2800" b="1" dirty="0">
                <a:latin typeface="+mj-lt"/>
                <a:cs typeface="Calibri" panose="020F0502020204030204"/>
              </a:rPr>
              <a:t>)</a:t>
            </a:r>
            <a:endParaRPr sz="2800" dirty="0">
              <a:latin typeface="+mj-lt"/>
              <a:cs typeface="Calibri" panose="020F0502020204030204"/>
            </a:endParaRPr>
          </a:p>
          <a:p>
            <a:pPr marL="469900" indent="-342900">
              <a:lnSpc>
                <a:spcPts val="2130"/>
              </a:lnSpc>
              <a:buFont typeface="Arial" panose="020B0604020202020204"/>
              <a:buChar char="•"/>
              <a:tabLst>
                <a:tab pos="469265" algn="l"/>
                <a:tab pos="469900" algn="l"/>
              </a:tabLst>
            </a:pPr>
            <a:r>
              <a:rPr sz="1800" dirty="0">
                <a:latin typeface="+mj-lt"/>
                <a:cs typeface="Calibri" panose="020F0502020204030204"/>
              </a:rPr>
              <a:t>Fast timeslicing</a:t>
            </a:r>
          </a:p>
          <a:p>
            <a:pPr marL="927100" marR="5080" indent="-342900">
              <a:lnSpc>
                <a:spcPts val="2100"/>
              </a:lnSpc>
              <a:spcBef>
                <a:spcPts val="160"/>
              </a:spcBef>
              <a:tabLst>
                <a:tab pos="926465" algn="l"/>
              </a:tabLst>
            </a:pPr>
            <a:r>
              <a:rPr sz="1800" dirty="0">
                <a:latin typeface="+mj-lt"/>
                <a:cs typeface="Arial" panose="020B0604020202020204"/>
              </a:rPr>
              <a:t>–	</a:t>
            </a:r>
            <a:r>
              <a:rPr sz="1800" dirty="0">
                <a:latin typeface="+mj-lt"/>
                <a:cs typeface="Calibri" panose="020F0502020204030204"/>
              </a:rPr>
              <a:t>Good when arithmetic units frequently  wait on memory</a:t>
            </a:r>
          </a:p>
          <a:p>
            <a:pPr marL="469900" marR="127635" indent="-342900">
              <a:lnSpc>
                <a:spcPts val="2200"/>
              </a:lnSpc>
              <a:spcBef>
                <a:spcPts val="20"/>
              </a:spcBef>
              <a:buFont typeface="Arial" panose="020B0604020202020204"/>
              <a:buChar char="•"/>
              <a:tabLst>
                <a:tab pos="469265" algn="l"/>
                <a:tab pos="469900" algn="l"/>
              </a:tabLst>
            </a:pPr>
            <a:r>
              <a:rPr sz="1800" dirty="0">
                <a:latin typeface="+mj-lt"/>
                <a:cs typeface="Calibri" panose="020F0502020204030204"/>
              </a:rPr>
              <a:t>Core holds state of 2 (4 on KNL) processes,  they share arithmetic units</a:t>
            </a:r>
          </a:p>
          <a:p>
            <a:pPr marL="469900" indent="-342900">
              <a:lnSpc>
                <a:spcPts val="2020"/>
              </a:lnSpc>
              <a:buFont typeface="Arial" panose="020B0604020202020204"/>
              <a:buChar char="•"/>
              <a:tabLst>
                <a:tab pos="469265" algn="l"/>
                <a:tab pos="469900" algn="l"/>
              </a:tabLst>
            </a:pPr>
            <a:r>
              <a:rPr sz="1800" b="1" dirty="0">
                <a:latin typeface="+mj-lt"/>
                <a:cs typeface="Calibri" panose="020F0502020204030204"/>
              </a:rPr>
              <a:t>SLURM views each hyperthread as a </a:t>
            </a:r>
            <a:r>
              <a:rPr sz="1800" b="1" i="1" dirty="0">
                <a:latin typeface="+mj-lt"/>
                <a:cs typeface="Calibri" panose="020F0502020204030204"/>
              </a:rPr>
              <a:t>CPU</a:t>
            </a:r>
            <a:endParaRPr sz="1800" dirty="0">
              <a:latin typeface="+mj-lt"/>
              <a:cs typeface="Calibri" panose="020F0502020204030204"/>
            </a:endParaRPr>
          </a:p>
          <a:p>
            <a:pPr marL="469900" marR="159385" indent="-342900">
              <a:lnSpc>
                <a:spcPts val="2100"/>
              </a:lnSpc>
              <a:spcBef>
                <a:spcPts val="160"/>
              </a:spcBef>
              <a:buFont typeface="Arial" panose="020B0604020202020204"/>
              <a:buChar char="•"/>
              <a:tabLst>
                <a:tab pos="469265" algn="l"/>
                <a:tab pos="469900" algn="l"/>
              </a:tabLst>
            </a:pPr>
            <a:r>
              <a:rPr sz="1800" dirty="0">
                <a:latin typeface="+mj-lt"/>
                <a:cs typeface="Calibri" panose="020F0502020204030204"/>
              </a:rPr>
              <a:t>But most HPC jobs perform best when not  sharing a core!</a:t>
            </a:r>
          </a:p>
          <a:p>
            <a:pPr marL="469900" indent="-342900">
              <a:lnSpc>
                <a:spcPts val="2140"/>
              </a:lnSpc>
              <a:buFont typeface="Arial" panose="020B0604020202020204"/>
              <a:buChar char="•"/>
              <a:tabLst>
                <a:tab pos="469265" algn="l"/>
                <a:tab pos="469900" algn="l"/>
              </a:tabLst>
            </a:pPr>
            <a:r>
              <a:rPr sz="1800" dirty="0">
                <a:latin typeface="+mj-lt"/>
                <a:cs typeface="Calibri" panose="020F0502020204030204"/>
              </a:rPr>
              <a:t>Usually best to reserve 2 (or 4) CPUs / core</a:t>
            </a:r>
          </a:p>
        </p:txBody>
      </p:sp>
      <p:sp>
        <p:nvSpPr>
          <p:cNvPr id="3" name="object 6"/>
          <p:cNvSpPr txBox="1">
            <a:spLocks noGrp="1"/>
          </p:cNvSpPr>
          <p:nvPr>
            <p:ph type="title"/>
          </p:nvPr>
        </p:nvSpPr>
        <p:spPr>
          <a:xfrm>
            <a:off x="911209" y="303034"/>
            <a:ext cx="7535047" cy="520065"/>
          </a:xfrm>
          <a:prstGeom prst="rect">
            <a:avLst/>
          </a:prstGeom>
        </p:spPr>
        <p:txBody>
          <a:bodyPr vert="horz" wrap="square" lIns="0" tIns="33020" rIns="0" bIns="0" rtlCol="0">
            <a:spAutoFit/>
          </a:bodyPr>
          <a:lstStyle/>
          <a:p>
            <a:pPr marL="241300" marR="5080" indent="-228600">
              <a:lnSpc>
                <a:spcPts val="3800"/>
              </a:lnSpc>
              <a:spcBef>
                <a:spcPts val="260"/>
              </a:spcBef>
            </a:pPr>
            <a:r>
              <a:rPr sz="2400" dirty="0">
                <a:latin typeface="+mj-lt"/>
              </a:rPr>
              <a:t>Nodes, cores, CPUs, threads, tasks -  some definitions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7501" y="132239"/>
            <a:ext cx="357021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Slurm tasks</a:t>
            </a:r>
          </a:p>
        </p:txBody>
      </p:sp>
      <p:sp>
        <p:nvSpPr>
          <p:cNvPr id="3" name="object 3"/>
          <p:cNvSpPr txBox="1"/>
          <p:nvPr/>
        </p:nvSpPr>
        <p:spPr>
          <a:xfrm>
            <a:off x="535939" y="1328420"/>
            <a:ext cx="7748270" cy="879728"/>
          </a:xfrm>
          <a:prstGeom prst="rect">
            <a:avLst/>
          </a:prstGeom>
        </p:spPr>
        <p:txBody>
          <a:bodyPr vert="horz" wrap="square" lIns="0" tIns="33020" rIns="0" bIns="0" rtlCol="0">
            <a:spAutoFit/>
          </a:bodyPr>
          <a:lstStyle/>
          <a:p>
            <a:pPr marL="355600" marR="508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First, a block diagram of how hyperthreads, cores,  cache, and sockets relate within a (haswell) node</a:t>
            </a:r>
            <a:endParaRPr sz="2800">
              <a:latin typeface="+mj-lt"/>
              <a:cs typeface="Calibri" panose="020F0502020204030204"/>
            </a:endParaRPr>
          </a:p>
        </p:txBody>
      </p:sp>
      <p:sp>
        <p:nvSpPr>
          <p:cNvPr id="4" name="object 4"/>
          <p:cNvSpPr/>
          <p:nvPr/>
        </p:nvSpPr>
        <p:spPr>
          <a:xfrm>
            <a:off x="0" y="2020890"/>
            <a:ext cx="9143998" cy="4128514"/>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0341" y="1033028"/>
            <a:ext cx="8457565" cy="19050"/>
          </a:xfrm>
          <a:custGeom>
            <a:avLst/>
            <a:gdLst/>
            <a:ahLst/>
            <a:cxnLst/>
            <a:rect l="l" t="t" r="r" b="b"/>
            <a:pathLst>
              <a:path w="8457565" h="19050">
                <a:moveTo>
                  <a:pt x="0" y="18813"/>
                </a:moveTo>
                <a:lnTo>
                  <a:pt x="8457069" y="0"/>
                </a:lnTo>
              </a:path>
            </a:pathLst>
          </a:custGeom>
          <a:ln w="38099">
            <a:solidFill>
              <a:srgbClr val="54B0D9"/>
            </a:solidFill>
          </a:ln>
        </p:spPr>
        <p:txBody>
          <a:bodyPr wrap="square" lIns="0" tIns="0" rIns="0" bIns="0" rtlCol="0"/>
          <a:lstStyle/>
          <a:p>
            <a:endParaRPr>
              <a:latin typeface="+mj-lt"/>
            </a:endParaRPr>
          </a:p>
        </p:txBody>
      </p:sp>
      <p:sp>
        <p:nvSpPr>
          <p:cNvPr id="6" name="object 6"/>
          <p:cNvSpPr txBox="1"/>
          <p:nvPr/>
        </p:nvSpPr>
        <p:spPr>
          <a:xfrm>
            <a:off x="456874" y="1339201"/>
            <a:ext cx="8140065" cy="4439920"/>
          </a:xfrm>
          <a:prstGeom prst="rect">
            <a:avLst/>
          </a:prstGeom>
        </p:spPr>
        <p:txBody>
          <a:bodyPr vert="horz" wrap="square" lIns="0" tIns="33020" rIns="0" bIns="0" rtlCol="0">
            <a:spAutoFit/>
          </a:bodyPr>
          <a:lstStyle/>
          <a:p>
            <a:pPr marL="469900" marR="5080" indent="-228600">
              <a:lnSpc>
                <a:spcPts val="3300"/>
              </a:lnSpc>
              <a:spcBef>
                <a:spcPts val="260"/>
              </a:spcBef>
              <a:buFont typeface="Arial" panose="020B0604020202020204"/>
              <a:buChar char="•"/>
              <a:tabLst>
                <a:tab pos="469900" algn="l"/>
              </a:tabLst>
            </a:pPr>
            <a:r>
              <a:rPr sz="2800" b="1" dirty="0">
                <a:latin typeface="+mj-lt"/>
                <a:cs typeface="Calibri" panose="020F0502020204030204"/>
              </a:rPr>
              <a:t>A SLURM </a:t>
            </a:r>
            <a:r>
              <a:rPr sz="2800" b="1" i="1" dirty="0">
                <a:latin typeface="+mj-lt"/>
                <a:cs typeface="Calibri" panose="020F0502020204030204"/>
              </a:rPr>
              <a:t>task </a:t>
            </a:r>
            <a:r>
              <a:rPr sz="2800" b="1" dirty="0">
                <a:latin typeface="+mj-lt"/>
                <a:cs typeface="Calibri" panose="020F0502020204030204"/>
              </a:rPr>
              <a:t>is a reservation of CPUs and memory,  up to one full node</a:t>
            </a:r>
            <a:endParaRPr sz="2800">
              <a:latin typeface="+mj-lt"/>
              <a:cs typeface="Calibri" panose="020F0502020204030204"/>
            </a:endParaRPr>
          </a:p>
          <a:p>
            <a:pPr marL="927100" marR="5822950" lvl="1" indent="-228600">
              <a:lnSpc>
                <a:spcPts val="2900"/>
              </a:lnSpc>
              <a:spcBef>
                <a:spcPts val="20"/>
              </a:spcBef>
              <a:buFont typeface="Arial" panose="020B0604020202020204"/>
              <a:buChar char="–"/>
              <a:tabLst>
                <a:tab pos="927100" algn="l"/>
              </a:tabLst>
            </a:pPr>
            <a:r>
              <a:rPr sz="2400" dirty="0">
                <a:latin typeface="+mj-lt"/>
                <a:cs typeface="Calibri" panose="020F0502020204030204"/>
              </a:rPr>
              <a:t>A </a:t>
            </a:r>
            <a:r>
              <a:rPr sz="2400" i="1" dirty="0">
                <a:latin typeface="+mj-lt"/>
                <a:cs typeface="Calibri" panose="020F0502020204030204"/>
              </a:rPr>
              <a:t>job </a:t>
            </a:r>
            <a:r>
              <a:rPr sz="2400" dirty="0">
                <a:latin typeface="+mj-lt"/>
                <a:cs typeface="Calibri" panose="020F0502020204030204"/>
              </a:rPr>
              <a:t>has  many tasks</a:t>
            </a:r>
            <a:endParaRPr sz="2400">
              <a:latin typeface="+mj-lt"/>
              <a:cs typeface="Calibri" panose="020F0502020204030204"/>
            </a:endParaRPr>
          </a:p>
          <a:p>
            <a:pPr marL="927100" lvl="1" indent="-228600">
              <a:lnSpc>
                <a:spcPts val="2700"/>
              </a:lnSpc>
              <a:buFont typeface="Arial" panose="020B0604020202020204"/>
              <a:buChar char="–"/>
              <a:tabLst>
                <a:tab pos="927100" algn="l"/>
              </a:tabLst>
            </a:pPr>
            <a:r>
              <a:rPr sz="2400" dirty="0">
                <a:latin typeface="+mj-lt"/>
                <a:cs typeface="Calibri" panose="020F0502020204030204"/>
              </a:rPr>
              <a:t>1 task typically</a:t>
            </a:r>
            <a:endParaRPr sz="2400">
              <a:latin typeface="+mj-lt"/>
              <a:cs typeface="Calibri" panose="020F0502020204030204"/>
            </a:endParaRPr>
          </a:p>
          <a:p>
            <a:pPr marL="927100" marR="5534660">
              <a:lnSpc>
                <a:spcPct val="101000"/>
              </a:lnSpc>
            </a:pPr>
            <a:r>
              <a:rPr sz="2400" dirty="0">
                <a:latin typeface="+mj-lt"/>
                <a:cs typeface="Calibri" panose="020F0502020204030204"/>
              </a:rPr>
              <a:t>corresponds  to 1 MPI rank</a:t>
            </a:r>
            <a:endParaRPr sz="2400">
              <a:latin typeface="+mj-lt"/>
              <a:cs typeface="Calibri" panose="020F0502020204030204"/>
            </a:endParaRPr>
          </a:p>
          <a:p>
            <a:pPr marL="12700">
              <a:lnSpc>
                <a:spcPct val="100000"/>
              </a:lnSpc>
              <a:spcBef>
                <a:spcPts val="20"/>
              </a:spcBef>
              <a:tabLst>
                <a:tab pos="2344420" algn="l"/>
              </a:tabLst>
            </a:pPr>
            <a:r>
              <a:rPr sz="1800" dirty="0">
                <a:latin typeface="+mj-lt"/>
                <a:cs typeface="Courier New" panose="02070309020205020404"/>
              </a:rPr>
              <a:t>srun -n </a:t>
            </a:r>
            <a:r>
              <a:rPr sz="1800" i="1" dirty="0">
                <a:latin typeface="+mj-lt"/>
                <a:cs typeface="Courier New" panose="02070309020205020404"/>
              </a:rPr>
              <a:t>&lt;ntasks&gt;	</a:t>
            </a:r>
            <a:r>
              <a:rPr sz="1800" dirty="0">
                <a:latin typeface="+mj-lt"/>
                <a:cs typeface="Courier New" panose="02070309020205020404"/>
              </a:rPr>
              <a:t>..</a:t>
            </a:r>
            <a:endParaRPr sz="1800">
              <a:latin typeface="+mj-lt"/>
              <a:cs typeface="Courier New" panose="02070309020205020404"/>
            </a:endParaRPr>
          </a:p>
          <a:p>
            <a:pPr marL="469900" marR="5669915" indent="-228600">
              <a:lnSpc>
                <a:spcPct val="100000"/>
              </a:lnSpc>
              <a:spcBef>
                <a:spcPts val="1450"/>
              </a:spcBef>
              <a:buFont typeface="Arial" panose="020B0604020202020204"/>
              <a:buChar char="•"/>
              <a:tabLst>
                <a:tab pos="469900" algn="l"/>
              </a:tabLst>
            </a:pPr>
            <a:r>
              <a:rPr sz="2800" b="1" dirty="0">
                <a:latin typeface="+mj-lt"/>
                <a:cs typeface="Calibri" panose="020F0502020204030204"/>
              </a:rPr>
              <a:t>Eg: 3 possible  tasks on 2  nodes</a:t>
            </a:r>
            <a:endParaRPr sz="2800">
              <a:latin typeface="+mj-lt"/>
              <a:cs typeface="Calibri" panose="020F0502020204030204"/>
            </a:endParaRPr>
          </a:p>
        </p:txBody>
      </p:sp>
      <p:sp>
        <p:nvSpPr>
          <p:cNvPr id="7" name="object 7"/>
          <p:cNvSpPr/>
          <p:nvPr/>
        </p:nvSpPr>
        <p:spPr>
          <a:xfrm>
            <a:off x="3197724" y="2334299"/>
            <a:ext cx="5719497" cy="3822525"/>
          </a:xfrm>
          <a:prstGeom prst="rect">
            <a:avLst/>
          </a:prstGeom>
          <a:blipFill>
            <a:blip r:embed="rId2" cstate="print"/>
            <a:stretch>
              <a:fillRect/>
            </a:stretch>
          </a:blipFill>
        </p:spPr>
        <p:txBody>
          <a:bodyPr wrap="square" lIns="0" tIns="0" rIns="0" bIns="0" rtlCol="0"/>
          <a:lstStyle/>
          <a:p>
            <a:endParaRPr>
              <a:latin typeface="+mj-lt"/>
            </a:endParaRPr>
          </a:p>
        </p:txBody>
      </p:sp>
      <p:sp>
        <p:nvSpPr>
          <p:cNvPr id="4" name="object 2"/>
          <p:cNvSpPr txBox="1">
            <a:spLocks noGrp="1"/>
          </p:cNvSpPr>
          <p:nvPr>
            <p:ph type="title"/>
          </p:nvPr>
        </p:nvSpPr>
        <p:spPr>
          <a:xfrm>
            <a:off x="3037501" y="132239"/>
            <a:ext cx="357021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Slurm tasks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6146" y="170195"/>
            <a:ext cx="7386067"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So what must I request for my job?</a:t>
            </a:r>
          </a:p>
        </p:txBody>
      </p:sp>
      <p:sp>
        <p:nvSpPr>
          <p:cNvPr id="3" name="object 3"/>
          <p:cNvSpPr txBox="1"/>
          <p:nvPr/>
        </p:nvSpPr>
        <p:spPr>
          <a:xfrm>
            <a:off x="535924" y="1374126"/>
            <a:ext cx="7501890" cy="3467100"/>
          </a:xfrm>
          <a:prstGeom prst="rect">
            <a:avLst/>
          </a:prstGeom>
        </p:spPr>
        <p:txBody>
          <a:bodyPr vert="horz" wrap="square" lIns="0" tIns="12700" rIns="0" bIns="0" rtlCol="0">
            <a:spAutoFit/>
          </a:bodyPr>
          <a:lstStyle/>
          <a:p>
            <a:pPr marL="190500">
              <a:lnSpc>
                <a:spcPts val="3330"/>
              </a:lnSpc>
              <a:spcBef>
                <a:spcPts val="100"/>
              </a:spcBef>
            </a:pPr>
            <a:r>
              <a:rPr sz="2800" b="1" dirty="0">
                <a:latin typeface="+mj-lt"/>
                <a:cs typeface="Calibri" panose="020F0502020204030204"/>
              </a:rPr>
              <a:t>What the batch system needs to know:</a:t>
            </a:r>
            <a:endParaRPr sz="2800" dirty="0">
              <a:latin typeface="+mj-lt"/>
              <a:cs typeface="Calibri" panose="020F0502020204030204"/>
            </a:endParaRPr>
          </a:p>
          <a:p>
            <a:pPr marL="469900" indent="-381000">
              <a:lnSpc>
                <a:spcPts val="2850"/>
              </a:lnSpc>
              <a:buFont typeface="Arial" panose="020B0604020202020204"/>
              <a:buChar char="•"/>
              <a:tabLst>
                <a:tab pos="469265" algn="l"/>
                <a:tab pos="469900" algn="l"/>
              </a:tabLst>
            </a:pPr>
            <a:r>
              <a:rPr sz="2400" b="1" dirty="0">
                <a:latin typeface="+mj-lt"/>
                <a:cs typeface="Calibri" panose="020F0502020204030204"/>
              </a:rPr>
              <a:t>How many nodes (or CPUs or tasks) does this job need?</a:t>
            </a:r>
            <a:endParaRPr sz="2400" dirty="0">
              <a:latin typeface="+mj-lt"/>
              <a:cs typeface="Calibri" panose="020F0502020204030204"/>
            </a:endParaRPr>
          </a:p>
          <a:p>
            <a:pPr marL="469900" indent="-381000">
              <a:lnSpc>
                <a:spcPct val="100000"/>
              </a:lnSpc>
              <a:spcBef>
                <a:spcPts val="20"/>
              </a:spcBef>
              <a:buFont typeface="Arial" panose="020B0604020202020204"/>
              <a:buChar char="•"/>
              <a:tabLst>
                <a:tab pos="469265" algn="l"/>
                <a:tab pos="469900" algn="l"/>
              </a:tabLst>
            </a:pPr>
            <a:r>
              <a:rPr sz="2400" b="1" dirty="0">
                <a:latin typeface="+mj-lt"/>
                <a:cs typeface="Calibri" panose="020F0502020204030204"/>
              </a:rPr>
              <a:t>For how long does it need them?</a:t>
            </a:r>
            <a:endParaRPr sz="2400" dirty="0">
              <a:latin typeface="+mj-lt"/>
              <a:cs typeface="Calibri" panose="020F0502020204030204"/>
            </a:endParaRPr>
          </a:p>
          <a:p>
            <a:pPr marL="927100" lvl="1" indent="-343535">
              <a:lnSpc>
                <a:spcPct val="100000"/>
              </a:lnSpc>
              <a:spcBef>
                <a:spcPts val="20"/>
              </a:spcBef>
              <a:buFont typeface="Arial" panose="020B0604020202020204"/>
              <a:buChar char="–"/>
              <a:tabLst>
                <a:tab pos="926465" algn="l"/>
                <a:tab pos="927100" algn="l"/>
              </a:tabLst>
            </a:pPr>
            <a:r>
              <a:rPr sz="1800" dirty="0">
                <a:latin typeface="+mj-lt"/>
                <a:cs typeface="Calibri" panose="020F0502020204030204"/>
              </a:rPr>
              <a:t>Wallclock time limit</a:t>
            </a:r>
          </a:p>
          <a:p>
            <a:pPr lvl="1">
              <a:lnSpc>
                <a:spcPct val="100000"/>
              </a:lnSpc>
              <a:buChar char="–"/>
            </a:pPr>
            <a:endParaRPr sz="1750" dirty="0">
              <a:latin typeface="+mj-lt"/>
              <a:cs typeface="Calibri" panose="020F0502020204030204"/>
            </a:endParaRPr>
          </a:p>
          <a:p>
            <a:pPr marL="12700">
              <a:lnSpc>
                <a:spcPct val="100000"/>
              </a:lnSpc>
            </a:pPr>
            <a:r>
              <a:rPr sz="2800" b="1" dirty="0">
                <a:latin typeface="+mj-lt"/>
                <a:cs typeface="Calibri" panose="020F0502020204030204"/>
              </a:rPr>
              <a:t>NERSC-speciﬁc extras:</a:t>
            </a:r>
            <a:endParaRPr sz="2800" dirty="0">
              <a:latin typeface="+mj-lt"/>
              <a:cs typeface="Calibri" panose="020F0502020204030204"/>
            </a:endParaRPr>
          </a:p>
          <a:p>
            <a:pPr marL="469900" indent="-381000">
              <a:lnSpc>
                <a:spcPts val="2840"/>
              </a:lnSpc>
              <a:spcBef>
                <a:spcPts val="40"/>
              </a:spcBef>
              <a:buFont typeface="Arial" panose="020B0604020202020204"/>
              <a:buChar char="•"/>
              <a:tabLst>
                <a:tab pos="469265" algn="l"/>
                <a:tab pos="469900" algn="l"/>
                <a:tab pos="3001010" algn="l"/>
              </a:tabLst>
            </a:pPr>
            <a:r>
              <a:rPr sz="2400" b="1" dirty="0">
                <a:latin typeface="+mj-lt"/>
                <a:cs typeface="Calibri" panose="020F0502020204030204"/>
              </a:rPr>
              <a:t>What type of CPU?	(-C …)</a:t>
            </a:r>
            <a:endParaRPr sz="2400" dirty="0">
              <a:latin typeface="+mj-lt"/>
              <a:cs typeface="Calibri" panose="020F0502020204030204"/>
            </a:endParaRPr>
          </a:p>
          <a:p>
            <a:pPr marL="927100" lvl="1" indent="-343535">
              <a:lnSpc>
                <a:spcPts val="2120"/>
              </a:lnSpc>
              <a:buClr>
                <a:srgbClr val="4FA556"/>
              </a:buClr>
              <a:buFont typeface="Arial" panose="020B0604020202020204"/>
              <a:buChar char="–"/>
              <a:tabLst>
                <a:tab pos="926465" algn="l"/>
                <a:tab pos="927100" algn="l"/>
              </a:tabLst>
            </a:pPr>
            <a:r>
              <a:rPr sz="1800" dirty="0">
                <a:solidFill>
                  <a:srgbClr val="5EB169"/>
                </a:solidFill>
                <a:latin typeface="+mj-lt"/>
                <a:cs typeface="Calibri" panose="020F0502020204030204"/>
              </a:rPr>
              <a:t>KNL </a:t>
            </a:r>
            <a:r>
              <a:rPr sz="1800" dirty="0">
                <a:latin typeface="+mj-lt"/>
                <a:cs typeface="Calibri" panose="020F0502020204030204"/>
              </a:rPr>
              <a:t>or Xeon (</a:t>
            </a:r>
            <a:r>
              <a:rPr sz="1800" dirty="0" err="1">
                <a:latin typeface="+mj-lt"/>
                <a:cs typeface="Calibri" panose="020F0502020204030204"/>
              </a:rPr>
              <a:t>haswell</a:t>
            </a:r>
            <a:r>
              <a:rPr sz="1800" dirty="0">
                <a:latin typeface="+mj-lt"/>
                <a:cs typeface="Calibri" panose="020F0502020204030204"/>
              </a:rPr>
              <a:t>/</a:t>
            </a:r>
            <a:r>
              <a:rPr sz="1800" dirty="0" err="1">
                <a:latin typeface="+mj-lt"/>
                <a:cs typeface="Calibri" panose="020F0502020204030204"/>
              </a:rPr>
              <a:t>ivybridge</a:t>
            </a:r>
            <a:r>
              <a:rPr sz="1800" dirty="0">
                <a:latin typeface="+mj-lt"/>
                <a:cs typeface="Calibri" panose="020F0502020204030204"/>
              </a:rPr>
              <a:t>)?</a:t>
            </a:r>
          </a:p>
          <a:p>
            <a:pPr marL="469900" indent="-381000">
              <a:lnSpc>
                <a:spcPct val="100000"/>
              </a:lnSpc>
              <a:spcBef>
                <a:spcPts val="40"/>
              </a:spcBef>
              <a:buFont typeface="Arial" panose="020B0604020202020204"/>
              <a:buChar char="•"/>
              <a:tabLst>
                <a:tab pos="469265" algn="l"/>
                <a:tab pos="469900" algn="l"/>
                <a:tab pos="5073650" algn="l"/>
              </a:tabLst>
            </a:pPr>
            <a:r>
              <a:rPr sz="2400" b="1" dirty="0">
                <a:latin typeface="+mj-lt"/>
                <a:cs typeface="Calibri" panose="020F0502020204030204"/>
              </a:rPr>
              <a:t>Which </a:t>
            </a:r>
            <a:r>
              <a:rPr sz="2400" b="1" dirty="0" err="1">
                <a:latin typeface="+mj-lt"/>
                <a:cs typeface="Calibri" panose="020F0502020204030204"/>
              </a:rPr>
              <a:t>ﬁlesystems</a:t>
            </a:r>
            <a:r>
              <a:rPr sz="2400" b="1" dirty="0">
                <a:latin typeface="+mj-lt"/>
                <a:cs typeface="Calibri" panose="020F0502020204030204"/>
              </a:rPr>
              <a:t> will this job use?	(-L …)</a:t>
            </a:r>
            <a:endParaRPr sz="2400" dirty="0">
              <a:latin typeface="+mj-lt"/>
              <a:cs typeface="Calibri" panose="020F0502020204030204"/>
            </a:endParaRPr>
          </a:p>
          <a:p>
            <a:pPr marL="863600" lvl="1" indent="-381635">
              <a:lnSpc>
                <a:spcPct val="100000"/>
              </a:lnSpc>
              <a:spcBef>
                <a:spcPts val="20"/>
              </a:spcBef>
              <a:buFont typeface="Arial" panose="020B0604020202020204"/>
              <a:buChar char="–"/>
              <a:tabLst>
                <a:tab pos="862965" algn="l"/>
                <a:tab pos="863600" algn="l"/>
              </a:tabLst>
            </a:pPr>
            <a:r>
              <a:rPr sz="2000" dirty="0">
                <a:latin typeface="+mj-lt"/>
                <a:cs typeface="Calibri" panose="020F0502020204030204"/>
              </a:rPr>
              <a:t>Usually </a:t>
            </a:r>
            <a:r>
              <a:rPr sz="2000" dirty="0">
                <a:solidFill>
                  <a:srgbClr val="4FA556"/>
                </a:solidFill>
                <a:latin typeface="+mj-lt"/>
                <a:cs typeface="Calibri" panose="020F0502020204030204"/>
              </a:rPr>
              <a:t>SCRATCH</a:t>
            </a:r>
            <a:endParaRPr sz="2000" dirty="0">
              <a:latin typeface="+mj-lt"/>
              <a:cs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24" y="1374126"/>
            <a:ext cx="2632075" cy="566420"/>
          </a:xfrm>
          <a:prstGeom prst="rect">
            <a:avLst/>
          </a:prstGeom>
        </p:spPr>
        <p:txBody>
          <a:bodyPr vert="horz" wrap="square" lIns="0" tIns="12700" rIns="0" bIns="0" rtlCol="0">
            <a:spAutoFit/>
          </a:bodyPr>
          <a:lstStyle/>
          <a:p>
            <a:pPr marL="12700">
              <a:lnSpc>
                <a:spcPts val="2130"/>
              </a:lnSpc>
              <a:spcBef>
                <a:spcPts val="100"/>
              </a:spcBef>
            </a:pPr>
            <a:r>
              <a:rPr sz="1800" dirty="0">
                <a:latin typeface="+mj-lt"/>
                <a:cs typeface="Courier New" panose="02070309020205020404"/>
              </a:rPr>
              <a:t>#SBATCH -N 64</a:t>
            </a:r>
            <a:endParaRPr sz="1800">
              <a:latin typeface="+mj-lt"/>
              <a:cs typeface="Courier New" panose="02070309020205020404"/>
            </a:endParaRPr>
          </a:p>
          <a:p>
            <a:pPr marL="12700">
              <a:lnSpc>
                <a:spcPts val="2130"/>
              </a:lnSpc>
            </a:pPr>
            <a:r>
              <a:rPr sz="1800" dirty="0">
                <a:latin typeface="+mj-lt"/>
                <a:cs typeface="Courier New" panose="02070309020205020404"/>
              </a:rPr>
              <a:t>srun -N 32 ./my_app</a:t>
            </a:r>
            <a:endParaRPr sz="1800">
              <a:latin typeface="+mj-lt"/>
              <a:cs typeface="Courier New" panose="02070309020205020404"/>
            </a:endParaRPr>
          </a:p>
        </p:txBody>
      </p:sp>
      <p:sp>
        <p:nvSpPr>
          <p:cNvPr id="3" name="object 3"/>
          <p:cNvSpPr txBox="1"/>
          <p:nvPr/>
        </p:nvSpPr>
        <p:spPr>
          <a:xfrm>
            <a:off x="3416407" y="1374126"/>
            <a:ext cx="4140835" cy="845819"/>
          </a:xfrm>
          <a:prstGeom prst="rect">
            <a:avLst/>
          </a:prstGeom>
        </p:spPr>
        <p:txBody>
          <a:bodyPr vert="horz" wrap="square" lIns="0" tIns="12700" rIns="0" bIns="0" rtlCol="0">
            <a:spAutoFit/>
          </a:bodyPr>
          <a:lstStyle/>
          <a:p>
            <a:pPr marL="12700">
              <a:lnSpc>
                <a:spcPts val="2130"/>
              </a:lnSpc>
              <a:spcBef>
                <a:spcPts val="100"/>
              </a:spcBef>
            </a:pPr>
            <a:r>
              <a:rPr sz="1800" dirty="0">
                <a:latin typeface="+mj-lt"/>
                <a:cs typeface="Courier New" panose="02070309020205020404"/>
              </a:rPr>
              <a:t># request 64 nodes</a:t>
            </a:r>
            <a:endParaRPr sz="1800">
              <a:latin typeface="+mj-lt"/>
              <a:cs typeface="Courier New" panose="02070309020205020404"/>
            </a:endParaRPr>
          </a:p>
          <a:p>
            <a:pPr marL="12700" marR="5080" indent="-635">
              <a:lnSpc>
                <a:spcPts val="2200"/>
              </a:lnSpc>
              <a:spcBef>
                <a:spcPts val="10"/>
              </a:spcBef>
            </a:pPr>
            <a:r>
              <a:rPr sz="1800" dirty="0">
                <a:latin typeface="+mj-lt"/>
                <a:cs typeface="Courier New" panose="02070309020205020404"/>
              </a:rPr>
              <a:t># start ./my_app on 32 of them  # (default: 1 per node)</a:t>
            </a:r>
            <a:endParaRPr sz="1800">
              <a:latin typeface="+mj-lt"/>
              <a:cs typeface="Courier New" panose="02070309020205020404"/>
            </a:endParaRPr>
          </a:p>
        </p:txBody>
      </p:sp>
      <p:sp>
        <p:nvSpPr>
          <p:cNvPr id="4" name="object 4"/>
          <p:cNvSpPr txBox="1"/>
          <p:nvPr/>
        </p:nvSpPr>
        <p:spPr>
          <a:xfrm>
            <a:off x="535924" y="2186926"/>
            <a:ext cx="7989240" cy="85408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ourier New" panose="02070309020205020404"/>
              </a:rPr>
              <a:t>srun -n 128 ./</a:t>
            </a:r>
            <a:r>
              <a:rPr sz="1800" dirty="0" err="1">
                <a:latin typeface="+mj-lt"/>
                <a:cs typeface="Courier New" panose="02070309020205020404"/>
              </a:rPr>
              <a:t>my_app</a:t>
            </a:r>
            <a:r>
              <a:rPr sz="1800" dirty="0">
                <a:latin typeface="+mj-lt"/>
                <a:cs typeface="Courier New" panose="02070309020205020404"/>
              </a:rPr>
              <a:t> </a:t>
            </a:r>
            <a:r>
              <a:rPr lang="en-US" sz="1800" dirty="0">
                <a:latin typeface="+mj-lt"/>
                <a:cs typeface="Courier New" panose="02070309020205020404"/>
              </a:rPr>
              <a:t>	   </a:t>
            </a:r>
            <a:r>
              <a:rPr sz="1800" dirty="0">
                <a:latin typeface="+mj-lt"/>
                <a:cs typeface="Courier New" panose="02070309020205020404"/>
              </a:rPr>
              <a:t># start 128 instances of ./my_app,</a:t>
            </a:r>
          </a:p>
          <a:p>
            <a:pPr marL="2893060" marR="278765">
              <a:lnSpc>
                <a:spcPts val="2100"/>
              </a:lnSpc>
              <a:spcBef>
                <a:spcPts val="160"/>
              </a:spcBef>
            </a:pPr>
            <a:r>
              <a:rPr sz="1800" dirty="0">
                <a:latin typeface="+mj-lt"/>
                <a:cs typeface="Courier New" panose="02070309020205020404"/>
              </a:rPr>
              <a:t># across my 64 nodes (default is  # to evenly distribute them in</a:t>
            </a:r>
            <a:r>
              <a:rPr lang="en-US" sz="1800" dirty="0">
                <a:latin typeface="+mj-lt"/>
                <a:cs typeface="Courier New" panose="02070309020205020404"/>
              </a:rPr>
              <a:t> </a:t>
            </a:r>
            <a:r>
              <a:rPr sz="1800" dirty="0">
                <a:latin typeface="+mj-lt"/>
                <a:cs typeface="Courier New" panose="02070309020205020404"/>
              </a:rPr>
              <a:t># block fashion)</a:t>
            </a:r>
          </a:p>
        </p:txBody>
      </p:sp>
      <p:sp>
        <p:nvSpPr>
          <p:cNvPr id="5" name="object 5"/>
          <p:cNvSpPr txBox="1"/>
          <p:nvPr/>
        </p:nvSpPr>
        <p:spPr>
          <a:xfrm>
            <a:off x="535924" y="5666724"/>
            <a:ext cx="698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j-lt"/>
                <a:cs typeface="Calibri" panose="020F0502020204030204"/>
              </a:rPr>
              <a:t>One MPI rank generally corresponds to one SLURM Task</a:t>
            </a:r>
            <a:endParaRPr sz="2400">
              <a:latin typeface="+mj-lt"/>
              <a:cs typeface="Calibri" panose="020F0502020204030204"/>
            </a:endParaRPr>
          </a:p>
        </p:txBody>
      </p:sp>
      <p:sp>
        <p:nvSpPr>
          <p:cNvPr id="6" name="object 6"/>
          <p:cNvSpPr txBox="1">
            <a:spLocks noGrp="1"/>
          </p:cNvSpPr>
          <p:nvPr>
            <p:ph type="title"/>
          </p:nvPr>
        </p:nvSpPr>
        <p:spPr>
          <a:xfrm>
            <a:off x="1366822" y="140350"/>
            <a:ext cx="641012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Requesting nodes or tasks</a:t>
            </a:r>
          </a:p>
        </p:txBody>
      </p:sp>
      <p:sp>
        <p:nvSpPr>
          <p:cNvPr id="7" name="object 7"/>
          <p:cNvSpPr/>
          <p:nvPr/>
        </p:nvSpPr>
        <p:spPr>
          <a:xfrm>
            <a:off x="601748" y="3881770"/>
            <a:ext cx="1884680" cy="429895"/>
          </a:xfrm>
          <a:custGeom>
            <a:avLst/>
            <a:gdLst/>
            <a:ahLst/>
            <a:cxnLst/>
            <a:rect l="l" t="t" r="r" b="b"/>
            <a:pathLst>
              <a:path w="1884680" h="429895">
                <a:moveTo>
                  <a:pt x="1812839" y="0"/>
                </a:moveTo>
                <a:lnTo>
                  <a:pt x="71550" y="0"/>
                </a:lnTo>
                <a:lnTo>
                  <a:pt x="43700" y="5622"/>
                </a:lnTo>
                <a:lnTo>
                  <a:pt x="20956" y="20956"/>
                </a:lnTo>
                <a:lnTo>
                  <a:pt x="5622" y="43699"/>
                </a:lnTo>
                <a:lnTo>
                  <a:pt x="0" y="71550"/>
                </a:lnTo>
                <a:lnTo>
                  <a:pt x="0" y="357748"/>
                </a:lnTo>
                <a:lnTo>
                  <a:pt x="5622" y="385599"/>
                </a:lnTo>
                <a:lnTo>
                  <a:pt x="20956" y="408342"/>
                </a:lnTo>
                <a:lnTo>
                  <a:pt x="43700" y="423676"/>
                </a:lnTo>
                <a:lnTo>
                  <a:pt x="71550" y="429299"/>
                </a:lnTo>
                <a:lnTo>
                  <a:pt x="1812839" y="429299"/>
                </a:lnTo>
                <a:lnTo>
                  <a:pt x="1840690" y="423676"/>
                </a:lnTo>
                <a:lnTo>
                  <a:pt x="1863433" y="408342"/>
                </a:lnTo>
                <a:lnTo>
                  <a:pt x="1878767" y="385599"/>
                </a:lnTo>
                <a:lnTo>
                  <a:pt x="1884390" y="357748"/>
                </a:lnTo>
                <a:lnTo>
                  <a:pt x="1884390" y="71550"/>
                </a:lnTo>
                <a:lnTo>
                  <a:pt x="1878767" y="43699"/>
                </a:lnTo>
                <a:lnTo>
                  <a:pt x="1863433" y="20956"/>
                </a:lnTo>
                <a:lnTo>
                  <a:pt x="1840690" y="5622"/>
                </a:lnTo>
                <a:lnTo>
                  <a:pt x="1812839" y="0"/>
                </a:lnTo>
                <a:close/>
              </a:path>
            </a:pathLst>
          </a:custGeom>
          <a:solidFill>
            <a:srgbClr val="FFECC1"/>
          </a:solidFill>
        </p:spPr>
        <p:txBody>
          <a:bodyPr wrap="square" lIns="0" tIns="0" rIns="0" bIns="0" rtlCol="0"/>
          <a:lstStyle/>
          <a:p>
            <a:endParaRPr>
              <a:latin typeface="+mj-lt"/>
            </a:endParaRPr>
          </a:p>
        </p:txBody>
      </p:sp>
      <p:sp>
        <p:nvSpPr>
          <p:cNvPr id="8" name="object 8"/>
          <p:cNvSpPr/>
          <p:nvPr/>
        </p:nvSpPr>
        <p:spPr>
          <a:xfrm>
            <a:off x="601749" y="3881770"/>
            <a:ext cx="1884680" cy="429895"/>
          </a:xfrm>
          <a:custGeom>
            <a:avLst/>
            <a:gdLst/>
            <a:ahLst/>
            <a:cxnLst/>
            <a:rect l="l" t="t" r="r" b="b"/>
            <a:pathLst>
              <a:path w="1884680" h="429895">
                <a:moveTo>
                  <a:pt x="0" y="71551"/>
                </a:moveTo>
                <a:lnTo>
                  <a:pt x="5622" y="43700"/>
                </a:lnTo>
                <a:lnTo>
                  <a:pt x="20956" y="20956"/>
                </a:lnTo>
                <a:lnTo>
                  <a:pt x="43700" y="5622"/>
                </a:lnTo>
                <a:lnTo>
                  <a:pt x="71550" y="0"/>
                </a:lnTo>
                <a:lnTo>
                  <a:pt x="1812839" y="0"/>
                </a:lnTo>
                <a:lnTo>
                  <a:pt x="1840690" y="5622"/>
                </a:lnTo>
                <a:lnTo>
                  <a:pt x="1863433" y="20956"/>
                </a:lnTo>
                <a:lnTo>
                  <a:pt x="1878767" y="43700"/>
                </a:lnTo>
                <a:lnTo>
                  <a:pt x="1884390" y="71551"/>
                </a:lnTo>
                <a:lnTo>
                  <a:pt x="1884390" y="357748"/>
                </a:lnTo>
                <a:lnTo>
                  <a:pt x="1878767" y="385599"/>
                </a:lnTo>
                <a:lnTo>
                  <a:pt x="1863433" y="408343"/>
                </a:lnTo>
                <a:lnTo>
                  <a:pt x="1840690" y="423677"/>
                </a:lnTo>
                <a:lnTo>
                  <a:pt x="1812839" y="429299"/>
                </a:lnTo>
                <a:lnTo>
                  <a:pt x="71550"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9" name="object 9"/>
          <p:cNvSpPr/>
          <p:nvPr/>
        </p:nvSpPr>
        <p:spPr>
          <a:xfrm>
            <a:off x="601749" y="4381195"/>
            <a:ext cx="1884680" cy="429895"/>
          </a:xfrm>
          <a:custGeom>
            <a:avLst/>
            <a:gdLst/>
            <a:ahLst/>
            <a:cxnLst/>
            <a:rect l="l" t="t" r="r" b="b"/>
            <a:pathLst>
              <a:path w="1884680" h="429895">
                <a:moveTo>
                  <a:pt x="1812838" y="0"/>
                </a:moveTo>
                <a:lnTo>
                  <a:pt x="71550" y="0"/>
                </a:lnTo>
                <a:lnTo>
                  <a:pt x="43700" y="5622"/>
                </a:lnTo>
                <a:lnTo>
                  <a:pt x="20956" y="20956"/>
                </a:lnTo>
                <a:lnTo>
                  <a:pt x="5622" y="43699"/>
                </a:lnTo>
                <a:lnTo>
                  <a:pt x="0" y="71550"/>
                </a:lnTo>
                <a:lnTo>
                  <a:pt x="0" y="357748"/>
                </a:lnTo>
                <a:lnTo>
                  <a:pt x="5622" y="385599"/>
                </a:lnTo>
                <a:lnTo>
                  <a:pt x="20956" y="408342"/>
                </a:lnTo>
                <a:lnTo>
                  <a:pt x="43700" y="423676"/>
                </a:lnTo>
                <a:lnTo>
                  <a:pt x="71550" y="429299"/>
                </a:lnTo>
                <a:lnTo>
                  <a:pt x="1812838" y="429299"/>
                </a:lnTo>
                <a:lnTo>
                  <a:pt x="1840689" y="423676"/>
                </a:lnTo>
                <a:lnTo>
                  <a:pt x="1863432" y="408342"/>
                </a:lnTo>
                <a:lnTo>
                  <a:pt x="1878766" y="385599"/>
                </a:lnTo>
                <a:lnTo>
                  <a:pt x="1884389" y="357748"/>
                </a:lnTo>
                <a:lnTo>
                  <a:pt x="1884389" y="71550"/>
                </a:lnTo>
                <a:lnTo>
                  <a:pt x="1878766" y="43699"/>
                </a:lnTo>
                <a:lnTo>
                  <a:pt x="1863432" y="20956"/>
                </a:lnTo>
                <a:lnTo>
                  <a:pt x="1840689" y="5622"/>
                </a:lnTo>
                <a:lnTo>
                  <a:pt x="1812838" y="0"/>
                </a:lnTo>
                <a:close/>
              </a:path>
            </a:pathLst>
          </a:custGeom>
          <a:solidFill>
            <a:srgbClr val="FFECC1"/>
          </a:solidFill>
        </p:spPr>
        <p:txBody>
          <a:bodyPr wrap="square" lIns="0" tIns="0" rIns="0" bIns="0" rtlCol="0"/>
          <a:lstStyle/>
          <a:p>
            <a:endParaRPr>
              <a:latin typeface="+mj-lt"/>
            </a:endParaRPr>
          </a:p>
        </p:txBody>
      </p:sp>
      <p:sp>
        <p:nvSpPr>
          <p:cNvPr id="10" name="object 10"/>
          <p:cNvSpPr/>
          <p:nvPr/>
        </p:nvSpPr>
        <p:spPr>
          <a:xfrm>
            <a:off x="601749" y="4381195"/>
            <a:ext cx="1884680" cy="429895"/>
          </a:xfrm>
          <a:custGeom>
            <a:avLst/>
            <a:gdLst/>
            <a:ahLst/>
            <a:cxnLst/>
            <a:rect l="l" t="t" r="r" b="b"/>
            <a:pathLst>
              <a:path w="1884680" h="429895">
                <a:moveTo>
                  <a:pt x="0" y="71551"/>
                </a:moveTo>
                <a:lnTo>
                  <a:pt x="5622" y="43700"/>
                </a:lnTo>
                <a:lnTo>
                  <a:pt x="20956" y="20956"/>
                </a:lnTo>
                <a:lnTo>
                  <a:pt x="43700" y="5622"/>
                </a:lnTo>
                <a:lnTo>
                  <a:pt x="71551" y="0"/>
                </a:lnTo>
                <a:lnTo>
                  <a:pt x="1812838" y="0"/>
                </a:lnTo>
                <a:lnTo>
                  <a:pt x="1840689" y="5622"/>
                </a:lnTo>
                <a:lnTo>
                  <a:pt x="1863432" y="20956"/>
                </a:lnTo>
                <a:lnTo>
                  <a:pt x="1878766" y="43700"/>
                </a:lnTo>
                <a:lnTo>
                  <a:pt x="1884389" y="71551"/>
                </a:lnTo>
                <a:lnTo>
                  <a:pt x="1884389" y="357748"/>
                </a:lnTo>
                <a:lnTo>
                  <a:pt x="1878766" y="385599"/>
                </a:lnTo>
                <a:lnTo>
                  <a:pt x="1863432" y="408343"/>
                </a:lnTo>
                <a:lnTo>
                  <a:pt x="1840689" y="423677"/>
                </a:lnTo>
                <a:lnTo>
                  <a:pt x="1812838"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1" name="object 11"/>
          <p:cNvSpPr/>
          <p:nvPr/>
        </p:nvSpPr>
        <p:spPr>
          <a:xfrm>
            <a:off x="2842168" y="3881770"/>
            <a:ext cx="1900555" cy="429895"/>
          </a:xfrm>
          <a:custGeom>
            <a:avLst/>
            <a:gdLst/>
            <a:ahLst/>
            <a:cxnLst/>
            <a:rect l="l" t="t" r="r" b="b"/>
            <a:pathLst>
              <a:path w="1900554" h="429895">
                <a:moveTo>
                  <a:pt x="1828863" y="0"/>
                </a:moveTo>
                <a:lnTo>
                  <a:pt x="71551" y="0"/>
                </a:lnTo>
                <a:lnTo>
                  <a:pt x="43700" y="5622"/>
                </a:lnTo>
                <a:lnTo>
                  <a:pt x="20956" y="20956"/>
                </a:lnTo>
                <a:lnTo>
                  <a:pt x="5622" y="43699"/>
                </a:lnTo>
                <a:lnTo>
                  <a:pt x="0" y="71550"/>
                </a:lnTo>
                <a:lnTo>
                  <a:pt x="0" y="357748"/>
                </a:lnTo>
                <a:lnTo>
                  <a:pt x="5622" y="385599"/>
                </a:lnTo>
                <a:lnTo>
                  <a:pt x="20956" y="408342"/>
                </a:lnTo>
                <a:lnTo>
                  <a:pt x="43700" y="423676"/>
                </a:lnTo>
                <a:lnTo>
                  <a:pt x="71551" y="429299"/>
                </a:lnTo>
                <a:lnTo>
                  <a:pt x="1828863" y="429299"/>
                </a:lnTo>
                <a:lnTo>
                  <a:pt x="1856714" y="423676"/>
                </a:lnTo>
                <a:lnTo>
                  <a:pt x="1879458" y="408342"/>
                </a:lnTo>
                <a:lnTo>
                  <a:pt x="1894792" y="385599"/>
                </a:lnTo>
                <a:lnTo>
                  <a:pt x="1900415" y="357748"/>
                </a:lnTo>
                <a:lnTo>
                  <a:pt x="1900415" y="71550"/>
                </a:lnTo>
                <a:lnTo>
                  <a:pt x="1894792" y="43699"/>
                </a:lnTo>
                <a:lnTo>
                  <a:pt x="1879458" y="20956"/>
                </a:lnTo>
                <a:lnTo>
                  <a:pt x="1856714" y="5622"/>
                </a:lnTo>
                <a:lnTo>
                  <a:pt x="1828863" y="0"/>
                </a:lnTo>
                <a:close/>
              </a:path>
            </a:pathLst>
          </a:custGeom>
          <a:solidFill>
            <a:srgbClr val="FFECC1"/>
          </a:solidFill>
        </p:spPr>
        <p:txBody>
          <a:bodyPr wrap="square" lIns="0" tIns="0" rIns="0" bIns="0" rtlCol="0"/>
          <a:lstStyle/>
          <a:p>
            <a:endParaRPr>
              <a:latin typeface="+mj-lt"/>
            </a:endParaRPr>
          </a:p>
        </p:txBody>
      </p:sp>
      <p:sp>
        <p:nvSpPr>
          <p:cNvPr id="12" name="object 12"/>
          <p:cNvSpPr/>
          <p:nvPr/>
        </p:nvSpPr>
        <p:spPr>
          <a:xfrm>
            <a:off x="2842168" y="3881770"/>
            <a:ext cx="1900555" cy="429895"/>
          </a:xfrm>
          <a:custGeom>
            <a:avLst/>
            <a:gdLst/>
            <a:ahLst/>
            <a:cxnLst/>
            <a:rect l="l" t="t" r="r" b="b"/>
            <a:pathLst>
              <a:path w="1900554" h="429895">
                <a:moveTo>
                  <a:pt x="0" y="71551"/>
                </a:moveTo>
                <a:lnTo>
                  <a:pt x="5622" y="43700"/>
                </a:lnTo>
                <a:lnTo>
                  <a:pt x="20956" y="20956"/>
                </a:lnTo>
                <a:lnTo>
                  <a:pt x="43700" y="5622"/>
                </a:lnTo>
                <a:lnTo>
                  <a:pt x="71551" y="0"/>
                </a:lnTo>
                <a:lnTo>
                  <a:pt x="1828863" y="0"/>
                </a:lnTo>
                <a:lnTo>
                  <a:pt x="1856714" y="5622"/>
                </a:lnTo>
                <a:lnTo>
                  <a:pt x="1879457" y="20956"/>
                </a:lnTo>
                <a:lnTo>
                  <a:pt x="1894791" y="43700"/>
                </a:lnTo>
                <a:lnTo>
                  <a:pt x="1900414" y="71551"/>
                </a:lnTo>
                <a:lnTo>
                  <a:pt x="1900414" y="357748"/>
                </a:lnTo>
                <a:lnTo>
                  <a:pt x="1894791" y="385599"/>
                </a:lnTo>
                <a:lnTo>
                  <a:pt x="1879457" y="408343"/>
                </a:lnTo>
                <a:lnTo>
                  <a:pt x="1856714" y="423677"/>
                </a:lnTo>
                <a:lnTo>
                  <a:pt x="1828863"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3" name="object 13"/>
          <p:cNvSpPr/>
          <p:nvPr/>
        </p:nvSpPr>
        <p:spPr>
          <a:xfrm>
            <a:off x="2841320" y="4381195"/>
            <a:ext cx="1901825" cy="429895"/>
          </a:xfrm>
          <a:custGeom>
            <a:avLst/>
            <a:gdLst/>
            <a:ahLst/>
            <a:cxnLst/>
            <a:rect l="l" t="t" r="r" b="b"/>
            <a:pathLst>
              <a:path w="1901825" h="429895">
                <a:moveTo>
                  <a:pt x="1829711" y="0"/>
                </a:moveTo>
                <a:lnTo>
                  <a:pt x="71551" y="0"/>
                </a:lnTo>
                <a:lnTo>
                  <a:pt x="43700" y="5622"/>
                </a:lnTo>
                <a:lnTo>
                  <a:pt x="20956" y="20956"/>
                </a:lnTo>
                <a:lnTo>
                  <a:pt x="5622" y="43699"/>
                </a:lnTo>
                <a:lnTo>
                  <a:pt x="0" y="71550"/>
                </a:lnTo>
                <a:lnTo>
                  <a:pt x="0" y="357748"/>
                </a:lnTo>
                <a:lnTo>
                  <a:pt x="5622" y="385599"/>
                </a:lnTo>
                <a:lnTo>
                  <a:pt x="20956" y="408342"/>
                </a:lnTo>
                <a:lnTo>
                  <a:pt x="43700" y="423676"/>
                </a:lnTo>
                <a:lnTo>
                  <a:pt x="71551" y="429299"/>
                </a:lnTo>
                <a:lnTo>
                  <a:pt x="1829711" y="429299"/>
                </a:lnTo>
                <a:lnTo>
                  <a:pt x="1857563" y="423676"/>
                </a:lnTo>
                <a:lnTo>
                  <a:pt x="1880306" y="408342"/>
                </a:lnTo>
                <a:lnTo>
                  <a:pt x="1895640" y="385599"/>
                </a:lnTo>
                <a:lnTo>
                  <a:pt x="1901263" y="357748"/>
                </a:lnTo>
                <a:lnTo>
                  <a:pt x="1901263" y="71550"/>
                </a:lnTo>
                <a:lnTo>
                  <a:pt x="1895640" y="43699"/>
                </a:lnTo>
                <a:lnTo>
                  <a:pt x="1880306" y="20956"/>
                </a:lnTo>
                <a:lnTo>
                  <a:pt x="1857563" y="5622"/>
                </a:lnTo>
                <a:lnTo>
                  <a:pt x="1829711" y="0"/>
                </a:lnTo>
                <a:close/>
              </a:path>
            </a:pathLst>
          </a:custGeom>
          <a:solidFill>
            <a:srgbClr val="FFECC1"/>
          </a:solidFill>
        </p:spPr>
        <p:txBody>
          <a:bodyPr wrap="square" lIns="0" tIns="0" rIns="0" bIns="0" rtlCol="0"/>
          <a:lstStyle/>
          <a:p>
            <a:endParaRPr>
              <a:latin typeface="+mj-lt"/>
            </a:endParaRPr>
          </a:p>
        </p:txBody>
      </p:sp>
      <p:sp>
        <p:nvSpPr>
          <p:cNvPr id="14" name="object 14"/>
          <p:cNvSpPr/>
          <p:nvPr/>
        </p:nvSpPr>
        <p:spPr>
          <a:xfrm>
            <a:off x="2841320" y="4381195"/>
            <a:ext cx="1901825" cy="429895"/>
          </a:xfrm>
          <a:custGeom>
            <a:avLst/>
            <a:gdLst/>
            <a:ahLst/>
            <a:cxnLst/>
            <a:rect l="l" t="t" r="r" b="b"/>
            <a:pathLst>
              <a:path w="1901825" h="429895">
                <a:moveTo>
                  <a:pt x="0" y="71551"/>
                </a:moveTo>
                <a:lnTo>
                  <a:pt x="5622" y="43700"/>
                </a:lnTo>
                <a:lnTo>
                  <a:pt x="20956" y="20956"/>
                </a:lnTo>
                <a:lnTo>
                  <a:pt x="43700" y="5622"/>
                </a:lnTo>
                <a:lnTo>
                  <a:pt x="71551" y="0"/>
                </a:lnTo>
                <a:lnTo>
                  <a:pt x="1829711" y="0"/>
                </a:lnTo>
                <a:lnTo>
                  <a:pt x="1857562" y="5622"/>
                </a:lnTo>
                <a:lnTo>
                  <a:pt x="1880305" y="20956"/>
                </a:lnTo>
                <a:lnTo>
                  <a:pt x="1895639" y="43700"/>
                </a:lnTo>
                <a:lnTo>
                  <a:pt x="1901262" y="71551"/>
                </a:lnTo>
                <a:lnTo>
                  <a:pt x="1901262" y="357748"/>
                </a:lnTo>
                <a:lnTo>
                  <a:pt x="1895639" y="385599"/>
                </a:lnTo>
                <a:lnTo>
                  <a:pt x="1880305" y="408343"/>
                </a:lnTo>
                <a:lnTo>
                  <a:pt x="1857562" y="423677"/>
                </a:lnTo>
                <a:lnTo>
                  <a:pt x="1829711"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5" name="object 15"/>
          <p:cNvSpPr/>
          <p:nvPr/>
        </p:nvSpPr>
        <p:spPr>
          <a:xfrm>
            <a:off x="6120770" y="3881770"/>
            <a:ext cx="2115185" cy="429895"/>
          </a:xfrm>
          <a:custGeom>
            <a:avLst/>
            <a:gdLst/>
            <a:ahLst/>
            <a:cxnLst/>
            <a:rect l="l" t="t" r="r" b="b"/>
            <a:pathLst>
              <a:path w="2115184" h="429895">
                <a:moveTo>
                  <a:pt x="2043551" y="0"/>
                </a:moveTo>
                <a:lnTo>
                  <a:pt x="71551" y="0"/>
                </a:lnTo>
                <a:lnTo>
                  <a:pt x="43700" y="5622"/>
                </a:lnTo>
                <a:lnTo>
                  <a:pt x="20956" y="20956"/>
                </a:lnTo>
                <a:lnTo>
                  <a:pt x="5622" y="43699"/>
                </a:lnTo>
                <a:lnTo>
                  <a:pt x="0" y="71550"/>
                </a:lnTo>
                <a:lnTo>
                  <a:pt x="0" y="357748"/>
                </a:lnTo>
                <a:lnTo>
                  <a:pt x="5622" y="385599"/>
                </a:lnTo>
                <a:lnTo>
                  <a:pt x="20956" y="408342"/>
                </a:lnTo>
                <a:lnTo>
                  <a:pt x="43700" y="423676"/>
                </a:lnTo>
                <a:lnTo>
                  <a:pt x="71551" y="429299"/>
                </a:lnTo>
                <a:lnTo>
                  <a:pt x="2043551" y="429299"/>
                </a:lnTo>
                <a:lnTo>
                  <a:pt x="2071403" y="423676"/>
                </a:lnTo>
                <a:lnTo>
                  <a:pt x="2094146" y="408342"/>
                </a:lnTo>
                <a:lnTo>
                  <a:pt x="2109480" y="385599"/>
                </a:lnTo>
                <a:lnTo>
                  <a:pt x="2115103" y="357748"/>
                </a:lnTo>
                <a:lnTo>
                  <a:pt x="2115103" y="71550"/>
                </a:lnTo>
                <a:lnTo>
                  <a:pt x="2109480" y="43699"/>
                </a:lnTo>
                <a:lnTo>
                  <a:pt x="2094146" y="20956"/>
                </a:lnTo>
                <a:lnTo>
                  <a:pt x="2071403" y="5622"/>
                </a:lnTo>
                <a:lnTo>
                  <a:pt x="2043551" y="0"/>
                </a:lnTo>
                <a:close/>
              </a:path>
            </a:pathLst>
          </a:custGeom>
          <a:solidFill>
            <a:srgbClr val="FFECC1"/>
          </a:solidFill>
        </p:spPr>
        <p:txBody>
          <a:bodyPr wrap="square" lIns="0" tIns="0" rIns="0" bIns="0" rtlCol="0"/>
          <a:lstStyle/>
          <a:p>
            <a:endParaRPr>
              <a:latin typeface="+mj-lt"/>
            </a:endParaRPr>
          </a:p>
        </p:txBody>
      </p:sp>
      <p:sp>
        <p:nvSpPr>
          <p:cNvPr id="16" name="object 16"/>
          <p:cNvSpPr/>
          <p:nvPr/>
        </p:nvSpPr>
        <p:spPr>
          <a:xfrm>
            <a:off x="6120770" y="3881770"/>
            <a:ext cx="2115185" cy="429895"/>
          </a:xfrm>
          <a:custGeom>
            <a:avLst/>
            <a:gdLst/>
            <a:ahLst/>
            <a:cxnLst/>
            <a:rect l="l" t="t" r="r" b="b"/>
            <a:pathLst>
              <a:path w="2115184" h="429895">
                <a:moveTo>
                  <a:pt x="0" y="71551"/>
                </a:moveTo>
                <a:lnTo>
                  <a:pt x="5622" y="43700"/>
                </a:lnTo>
                <a:lnTo>
                  <a:pt x="20956" y="20956"/>
                </a:lnTo>
                <a:lnTo>
                  <a:pt x="43700" y="5622"/>
                </a:lnTo>
                <a:lnTo>
                  <a:pt x="71551" y="0"/>
                </a:lnTo>
                <a:lnTo>
                  <a:pt x="2043552" y="0"/>
                </a:lnTo>
                <a:lnTo>
                  <a:pt x="2071403" y="5622"/>
                </a:lnTo>
                <a:lnTo>
                  <a:pt x="2094146" y="20956"/>
                </a:lnTo>
                <a:lnTo>
                  <a:pt x="2109480" y="43700"/>
                </a:lnTo>
                <a:lnTo>
                  <a:pt x="2115103" y="71551"/>
                </a:lnTo>
                <a:lnTo>
                  <a:pt x="2115103" y="357748"/>
                </a:lnTo>
                <a:lnTo>
                  <a:pt x="2109480" y="385599"/>
                </a:lnTo>
                <a:lnTo>
                  <a:pt x="2094146" y="408343"/>
                </a:lnTo>
                <a:lnTo>
                  <a:pt x="2071403" y="423677"/>
                </a:lnTo>
                <a:lnTo>
                  <a:pt x="2043552"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7" name="object 17"/>
          <p:cNvSpPr/>
          <p:nvPr/>
        </p:nvSpPr>
        <p:spPr>
          <a:xfrm>
            <a:off x="6120770" y="4381195"/>
            <a:ext cx="2115185" cy="429895"/>
          </a:xfrm>
          <a:custGeom>
            <a:avLst/>
            <a:gdLst/>
            <a:ahLst/>
            <a:cxnLst/>
            <a:rect l="l" t="t" r="r" b="b"/>
            <a:pathLst>
              <a:path w="2115184" h="429895">
                <a:moveTo>
                  <a:pt x="2043551" y="0"/>
                </a:moveTo>
                <a:lnTo>
                  <a:pt x="71551" y="0"/>
                </a:lnTo>
                <a:lnTo>
                  <a:pt x="43700" y="5622"/>
                </a:lnTo>
                <a:lnTo>
                  <a:pt x="20956" y="20956"/>
                </a:lnTo>
                <a:lnTo>
                  <a:pt x="5622" y="43699"/>
                </a:lnTo>
                <a:lnTo>
                  <a:pt x="0" y="71550"/>
                </a:lnTo>
                <a:lnTo>
                  <a:pt x="0" y="357748"/>
                </a:lnTo>
                <a:lnTo>
                  <a:pt x="5622" y="385599"/>
                </a:lnTo>
                <a:lnTo>
                  <a:pt x="20956" y="408342"/>
                </a:lnTo>
                <a:lnTo>
                  <a:pt x="43700" y="423676"/>
                </a:lnTo>
                <a:lnTo>
                  <a:pt x="71551" y="429299"/>
                </a:lnTo>
                <a:lnTo>
                  <a:pt x="2043551" y="429299"/>
                </a:lnTo>
                <a:lnTo>
                  <a:pt x="2071403" y="423676"/>
                </a:lnTo>
                <a:lnTo>
                  <a:pt x="2094146" y="408342"/>
                </a:lnTo>
                <a:lnTo>
                  <a:pt x="2109480" y="385599"/>
                </a:lnTo>
                <a:lnTo>
                  <a:pt x="2115103" y="357748"/>
                </a:lnTo>
                <a:lnTo>
                  <a:pt x="2115103" y="71550"/>
                </a:lnTo>
                <a:lnTo>
                  <a:pt x="2109480" y="43699"/>
                </a:lnTo>
                <a:lnTo>
                  <a:pt x="2094146" y="20956"/>
                </a:lnTo>
                <a:lnTo>
                  <a:pt x="2071403" y="5622"/>
                </a:lnTo>
                <a:lnTo>
                  <a:pt x="2043551" y="0"/>
                </a:lnTo>
                <a:close/>
              </a:path>
            </a:pathLst>
          </a:custGeom>
          <a:solidFill>
            <a:srgbClr val="FFECC1"/>
          </a:solidFill>
        </p:spPr>
        <p:txBody>
          <a:bodyPr wrap="square" lIns="0" tIns="0" rIns="0" bIns="0" rtlCol="0"/>
          <a:lstStyle/>
          <a:p>
            <a:endParaRPr>
              <a:latin typeface="+mj-lt"/>
            </a:endParaRPr>
          </a:p>
        </p:txBody>
      </p:sp>
      <p:sp>
        <p:nvSpPr>
          <p:cNvPr id="18" name="object 18"/>
          <p:cNvSpPr/>
          <p:nvPr/>
        </p:nvSpPr>
        <p:spPr>
          <a:xfrm>
            <a:off x="6120770" y="4381195"/>
            <a:ext cx="2115185" cy="429895"/>
          </a:xfrm>
          <a:custGeom>
            <a:avLst/>
            <a:gdLst/>
            <a:ahLst/>
            <a:cxnLst/>
            <a:rect l="l" t="t" r="r" b="b"/>
            <a:pathLst>
              <a:path w="2115184" h="429895">
                <a:moveTo>
                  <a:pt x="0" y="71551"/>
                </a:moveTo>
                <a:lnTo>
                  <a:pt x="5622" y="43700"/>
                </a:lnTo>
                <a:lnTo>
                  <a:pt x="20956" y="20956"/>
                </a:lnTo>
                <a:lnTo>
                  <a:pt x="43700" y="5622"/>
                </a:lnTo>
                <a:lnTo>
                  <a:pt x="71551" y="0"/>
                </a:lnTo>
                <a:lnTo>
                  <a:pt x="2043552" y="0"/>
                </a:lnTo>
                <a:lnTo>
                  <a:pt x="2071403" y="5622"/>
                </a:lnTo>
                <a:lnTo>
                  <a:pt x="2094146" y="20956"/>
                </a:lnTo>
                <a:lnTo>
                  <a:pt x="2109480" y="43700"/>
                </a:lnTo>
                <a:lnTo>
                  <a:pt x="2115103" y="71551"/>
                </a:lnTo>
                <a:lnTo>
                  <a:pt x="2115103" y="357748"/>
                </a:lnTo>
                <a:lnTo>
                  <a:pt x="2109480" y="385599"/>
                </a:lnTo>
                <a:lnTo>
                  <a:pt x="2094146" y="408343"/>
                </a:lnTo>
                <a:lnTo>
                  <a:pt x="2071403" y="423677"/>
                </a:lnTo>
                <a:lnTo>
                  <a:pt x="2043552" y="429299"/>
                </a:lnTo>
                <a:lnTo>
                  <a:pt x="71551" y="429299"/>
                </a:lnTo>
                <a:lnTo>
                  <a:pt x="43700" y="423677"/>
                </a:lnTo>
                <a:lnTo>
                  <a:pt x="20956" y="408343"/>
                </a:lnTo>
                <a:lnTo>
                  <a:pt x="5622" y="385599"/>
                </a:lnTo>
                <a:lnTo>
                  <a:pt x="0" y="357748"/>
                </a:lnTo>
                <a:lnTo>
                  <a:pt x="0" y="71551"/>
                </a:lnTo>
                <a:close/>
              </a:path>
            </a:pathLst>
          </a:custGeom>
          <a:ln w="9524">
            <a:solidFill>
              <a:srgbClr val="1E5C76"/>
            </a:solidFill>
          </a:ln>
        </p:spPr>
        <p:txBody>
          <a:bodyPr wrap="square" lIns="0" tIns="0" rIns="0" bIns="0" rtlCol="0"/>
          <a:lstStyle/>
          <a:p>
            <a:endParaRPr>
              <a:latin typeface="+mj-lt"/>
            </a:endParaRPr>
          </a:p>
        </p:txBody>
      </p:sp>
      <p:sp>
        <p:nvSpPr>
          <p:cNvPr id="19" name="object 19"/>
          <p:cNvSpPr/>
          <p:nvPr/>
        </p:nvSpPr>
        <p:spPr>
          <a:xfrm>
            <a:off x="5022435" y="4311070"/>
            <a:ext cx="830580" cy="19050"/>
          </a:xfrm>
          <a:custGeom>
            <a:avLst/>
            <a:gdLst/>
            <a:ahLst/>
            <a:cxnLst/>
            <a:rect l="l" t="t" r="r" b="b"/>
            <a:pathLst>
              <a:path w="830579" h="19050">
                <a:moveTo>
                  <a:pt x="-38099" y="9300"/>
                </a:moveTo>
                <a:lnTo>
                  <a:pt x="868199" y="9300"/>
                </a:lnTo>
              </a:path>
            </a:pathLst>
          </a:custGeom>
          <a:ln w="94800">
            <a:solidFill>
              <a:srgbClr val="1E5C76"/>
            </a:solidFill>
          </a:ln>
        </p:spPr>
        <p:txBody>
          <a:bodyPr wrap="square" lIns="0" tIns="0" rIns="0" bIns="0" rtlCol="0"/>
          <a:lstStyle/>
          <a:p>
            <a:endParaRPr>
              <a:latin typeface="+mj-lt"/>
            </a:endParaRPr>
          </a:p>
        </p:txBody>
      </p:sp>
      <p:sp>
        <p:nvSpPr>
          <p:cNvPr id="20" name="object 20"/>
          <p:cNvSpPr txBox="1"/>
          <p:nvPr/>
        </p:nvSpPr>
        <p:spPr>
          <a:xfrm>
            <a:off x="510424" y="3717395"/>
            <a:ext cx="2118360" cy="1698542"/>
          </a:xfrm>
          <a:prstGeom prst="rect">
            <a:avLst/>
          </a:prstGeom>
          <a:ln w="19049">
            <a:solidFill>
              <a:srgbClr val="1E5C76"/>
            </a:solidFill>
          </a:ln>
        </p:spPr>
        <p:txBody>
          <a:bodyPr vert="horz" wrap="square" lIns="0" tIns="241935" rIns="0" bIns="0" rtlCol="0">
            <a:spAutoFit/>
          </a:bodyPr>
          <a:lstStyle/>
          <a:p>
            <a:pPr marL="203200">
              <a:lnSpc>
                <a:spcPct val="100000"/>
              </a:lnSpc>
              <a:spcBef>
                <a:spcPts val="1905"/>
              </a:spcBef>
            </a:pPr>
            <a:r>
              <a:rPr sz="1800" dirty="0">
                <a:latin typeface="+mj-lt"/>
                <a:cs typeface="Calibri" panose="020F0502020204030204"/>
              </a:rPr>
              <a:t>Task 0: ./my_app</a:t>
            </a:r>
            <a:endParaRPr sz="1800">
              <a:latin typeface="+mj-lt"/>
              <a:cs typeface="Calibri" panose="020F0502020204030204"/>
            </a:endParaRPr>
          </a:p>
          <a:p>
            <a:pPr marL="203200">
              <a:lnSpc>
                <a:spcPct val="100000"/>
              </a:lnSpc>
              <a:spcBef>
                <a:spcPts val="1770"/>
              </a:spcBef>
            </a:pPr>
            <a:r>
              <a:rPr sz="1800" dirty="0">
                <a:latin typeface="+mj-lt"/>
                <a:cs typeface="Calibri" panose="020F0502020204030204"/>
              </a:rPr>
              <a:t>Task 1: ./my_app</a:t>
            </a:r>
            <a:endParaRPr sz="1800">
              <a:latin typeface="+mj-lt"/>
              <a:cs typeface="Calibri" panose="020F0502020204030204"/>
            </a:endParaRPr>
          </a:p>
          <a:p>
            <a:pPr>
              <a:lnSpc>
                <a:spcPct val="100000"/>
              </a:lnSpc>
              <a:spcBef>
                <a:spcPts val="30"/>
              </a:spcBef>
            </a:pPr>
            <a:endParaRPr sz="2550">
              <a:latin typeface="+mj-lt"/>
              <a:cs typeface="Calibri" panose="020F0502020204030204"/>
            </a:endParaRPr>
          </a:p>
          <a:p>
            <a:pPr marL="5080" algn="ctr">
              <a:lnSpc>
                <a:spcPct val="100000"/>
              </a:lnSpc>
              <a:spcBef>
                <a:spcPts val="5"/>
              </a:spcBef>
            </a:pPr>
            <a:r>
              <a:rPr sz="1800" dirty="0">
                <a:latin typeface="+mj-lt"/>
                <a:cs typeface="Calibri" panose="020F0502020204030204"/>
              </a:rPr>
              <a:t>Node 0</a:t>
            </a:r>
            <a:endParaRPr sz="1800">
              <a:latin typeface="+mj-lt"/>
              <a:cs typeface="Calibri" panose="020F0502020204030204"/>
            </a:endParaRPr>
          </a:p>
        </p:txBody>
      </p:sp>
      <p:sp>
        <p:nvSpPr>
          <p:cNvPr id="21" name="object 21"/>
          <p:cNvSpPr txBox="1"/>
          <p:nvPr/>
        </p:nvSpPr>
        <p:spPr>
          <a:xfrm>
            <a:off x="2761096" y="3705444"/>
            <a:ext cx="2103120" cy="1781175"/>
          </a:xfrm>
          <a:prstGeom prst="rect">
            <a:avLst/>
          </a:prstGeom>
          <a:ln w="19049">
            <a:solidFill>
              <a:srgbClr val="1E5C76"/>
            </a:solidFill>
          </a:ln>
        </p:spPr>
        <p:txBody>
          <a:bodyPr vert="horz" wrap="square" lIns="0" tIns="5080" rIns="0" bIns="0" rtlCol="0">
            <a:spAutoFit/>
          </a:bodyPr>
          <a:lstStyle/>
          <a:p>
            <a:pPr>
              <a:lnSpc>
                <a:spcPct val="100000"/>
              </a:lnSpc>
              <a:spcBef>
                <a:spcPts val="40"/>
              </a:spcBef>
            </a:pPr>
            <a:endParaRPr sz="1700">
              <a:latin typeface="+mj-lt"/>
              <a:cs typeface="Times New Roman" panose="02020603050405020304"/>
            </a:endParaRPr>
          </a:p>
          <a:p>
            <a:pPr marL="193040">
              <a:lnSpc>
                <a:spcPct val="100000"/>
              </a:lnSpc>
            </a:pPr>
            <a:r>
              <a:rPr sz="1800" dirty="0">
                <a:latin typeface="+mj-lt"/>
                <a:cs typeface="Calibri" panose="020F0502020204030204"/>
              </a:rPr>
              <a:t>Task 2: ./my_app</a:t>
            </a:r>
            <a:endParaRPr sz="1800">
              <a:latin typeface="+mj-lt"/>
              <a:cs typeface="Calibri" panose="020F0502020204030204"/>
            </a:endParaRPr>
          </a:p>
          <a:p>
            <a:pPr marL="192405">
              <a:lnSpc>
                <a:spcPct val="100000"/>
              </a:lnSpc>
              <a:spcBef>
                <a:spcPts val="1775"/>
              </a:spcBef>
            </a:pPr>
            <a:r>
              <a:rPr sz="1800" dirty="0">
                <a:latin typeface="+mj-lt"/>
                <a:cs typeface="Calibri" panose="020F0502020204030204"/>
              </a:rPr>
              <a:t>Task 3: ./my_app</a:t>
            </a:r>
            <a:endParaRPr sz="1800">
              <a:latin typeface="+mj-lt"/>
              <a:cs typeface="Calibri" panose="020F0502020204030204"/>
            </a:endParaRPr>
          </a:p>
          <a:p>
            <a:pPr>
              <a:lnSpc>
                <a:spcPct val="100000"/>
              </a:lnSpc>
            </a:pPr>
            <a:endParaRPr sz="2500">
              <a:latin typeface="+mj-lt"/>
              <a:cs typeface="Calibri" panose="020F0502020204030204"/>
            </a:endParaRPr>
          </a:p>
          <a:p>
            <a:pPr marL="5715" algn="ctr">
              <a:lnSpc>
                <a:spcPct val="100000"/>
              </a:lnSpc>
            </a:pPr>
            <a:r>
              <a:rPr sz="1800" dirty="0">
                <a:latin typeface="+mj-lt"/>
                <a:cs typeface="Calibri" panose="020F0502020204030204"/>
              </a:rPr>
              <a:t>Node 1</a:t>
            </a:r>
            <a:endParaRPr sz="1800">
              <a:latin typeface="+mj-lt"/>
              <a:cs typeface="Calibri" panose="020F0502020204030204"/>
            </a:endParaRPr>
          </a:p>
        </p:txBody>
      </p:sp>
      <p:sp>
        <p:nvSpPr>
          <p:cNvPr id="22" name="object 22"/>
          <p:cNvSpPr txBox="1"/>
          <p:nvPr/>
        </p:nvSpPr>
        <p:spPr>
          <a:xfrm>
            <a:off x="5985653" y="3717395"/>
            <a:ext cx="2392045" cy="1698542"/>
          </a:xfrm>
          <a:prstGeom prst="rect">
            <a:avLst/>
          </a:prstGeom>
          <a:ln w="19049">
            <a:solidFill>
              <a:srgbClr val="1E5C76"/>
            </a:solidFill>
          </a:ln>
        </p:spPr>
        <p:txBody>
          <a:bodyPr vert="horz" wrap="square" lIns="0" tIns="241935" rIns="0" bIns="0" rtlCol="0">
            <a:spAutoFit/>
          </a:bodyPr>
          <a:lstStyle/>
          <a:p>
            <a:pPr marL="247015">
              <a:lnSpc>
                <a:spcPct val="100000"/>
              </a:lnSpc>
              <a:spcBef>
                <a:spcPts val="1905"/>
              </a:spcBef>
            </a:pPr>
            <a:r>
              <a:rPr sz="1800" dirty="0">
                <a:latin typeface="+mj-lt"/>
                <a:cs typeface="Calibri" panose="020F0502020204030204"/>
              </a:rPr>
              <a:t>Task 126: ./my_app</a:t>
            </a:r>
            <a:endParaRPr sz="1800">
              <a:latin typeface="+mj-lt"/>
              <a:cs typeface="Calibri" panose="020F0502020204030204"/>
            </a:endParaRPr>
          </a:p>
          <a:p>
            <a:pPr marL="247015">
              <a:lnSpc>
                <a:spcPct val="100000"/>
              </a:lnSpc>
              <a:spcBef>
                <a:spcPts val="1770"/>
              </a:spcBef>
            </a:pPr>
            <a:r>
              <a:rPr sz="1800" dirty="0">
                <a:latin typeface="+mj-lt"/>
                <a:cs typeface="Calibri" panose="020F0502020204030204"/>
              </a:rPr>
              <a:t>Task 127: ./my_app</a:t>
            </a:r>
            <a:endParaRPr sz="1800">
              <a:latin typeface="+mj-lt"/>
              <a:cs typeface="Calibri" panose="020F0502020204030204"/>
            </a:endParaRPr>
          </a:p>
          <a:p>
            <a:pPr>
              <a:lnSpc>
                <a:spcPct val="100000"/>
              </a:lnSpc>
              <a:spcBef>
                <a:spcPts val="30"/>
              </a:spcBef>
            </a:pPr>
            <a:endParaRPr sz="2550">
              <a:latin typeface="+mj-lt"/>
              <a:cs typeface="Calibri" panose="020F0502020204030204"/>
            </a:endParaRPr>
          </a:p>
          <a:p>
            <a:pPr marL="5715" algn="ctr">
              <a:lnSpc>
                <a:spcPct val="100000"/>
              </a:lnSpc>
              <a:spcBef>
                <a:spcPts val="5"/>
              </a:spcBef>
            </a:pPr>
            <a:r>
              <a:rPr sz="1800" dirty="0">
                <a:latin typeface="+mj-lt"/>
                <a:cs typeface="Calibri" panose="020F0502020204030204"/>
              </a:rPr>
              <a:t>Node 63</a:t>
            </a:r>
            <a:endParaRPr sz="1800">
              <a:latin typeface="+mj-lt"/>
              <a:cs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49497" y="110505"/>
            <a:ext cx="5012144"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Requesting time</a:t>
            </a:r>
          </a:p>
        </p:txBody>
      </p:sp>
      <p:graphicFrame>
        <p:nvGraphicFramePr>
          <p:cNvPr id="3" name="object 3"/>
          <p:cNvGraphicFramePr>
            <a:graphicFrameLocks noGrp="1"/>
          </p:cNvGraphicFramePr>
          <p:nvPr/>
        </p:nvGraphicFramePr>
        <p:xfrm>
          <a:off x="516874" y="1437874"/>
          <a:ext cx="5915658" cy="1805780"/>
        </p:xfrm>
        <a:graphic>
          <a:graphicData uri="http://schemas.openxmlformats.org/drawingml/2006/table">
            <a:tbl>
              <a:tblPr firstRow="1" bandRow="1">
                <a:tableStyleId>{2D5ABB26-0587-4C30-8999-92F81FD0307C}</a:tableStyleId>
              </a:tblPr>
              <a:tblGrid>
                <a:gridCol w="1403350">
                  <a:extLst>
                    <a:ext uri="{9D8B030D-6E8A-4147-A177-3AD203B41FA5}">
                      <a16:colId xmlns:a16="http://schemas.microsoft.com/office/drawing/2014/main" val="20000"/>
                    </a:ext>
                  </a:extLst>
                </a:gridCol>
                <a:gridCol w="548639">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1951989">
                  <a:extLst>
                    <a:ext uri="{9D8B030D-6E8A-4147-A177-3AD203B41FA5}">
                      <a16:colId xmlns:a16="http://schemas.microsoft.com/office/drawing/2014/main" val="20004"/>
                    </a:ext>
                  </a:extLst>
                </a:gridCol>
              </a:tblGrid>
              <a:tr h="350440">
                <a:tc>
                  <a:txBody>
                    <a:bodyPr/>
                    <a:lstStyle/>
                    <a:p>
                      <a:pPr marL="31750">
                        <a:lnSpc>
                          <a:spcPts val="248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48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480"/>
                        </a:lnSpc>
                      </a:pPr>
                      <a:r>
                        <a:rPr sz="2400" spc="-5" dirty="0">
                          <a:latin typeface="Courier New" panose="02070309020205020404"/>
                          <a:cs typeface="Courier New" panose="02070309020205020404"/>
                        </a:rPr>
                        <a:t>30</a:t>
                      </a:r>
                      <a:endParaRPr sz="2400">
                        <a:latin typeface="Courier New" panose="02070309020205020404"/>
                        <a:cs typeface="Courier New" panose="02070309020205020404"/>
                      </a:endParaRPr>
                    </a:p>
                  </a:txBody>
                  <a:tcPr marL="0" marR="0" marT="0" marB="0"/>
                </a:tc>
                <a:tc>
                  <a:txBody>
                    <a:bodyPr/>
                    <a:lstStyle/>
                    <a:p>
                      <a:pPr marR="83185" algn="r">
                        <a:lnSpc>
                          <a:spcPts val="248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1440">
                        <a:lnSpc>
                          <a:spcPts val="2480"/>
                        </a:lnSpc>
                      </a:pPr>
                      <a:r>
                        <a:rPr sz="2400" spc="-5" dirty="0">
                          <a:latin typeface="Courier New" panose="02070309020205020404"/>
                          <a:cs typeface="Courier New" panose="02070309020205020404"/>
                        </a:rPr>
                        <a:t>30</a:t>
                      </a:r>
                      <a:r>
                        <a:rPr sz="2400" spc="-85" dirty="0">
                          <a:latin typeface="Courier New" panose="02070309020205020404"/>
                          <a:cs typeface="Courier New" panose="02070309020205020404"/>
                        </a:rPr>
                        <a:t> </a:t>
                      </a:r>
                      <a:r>
                        <a:rPr sz="2400" spc="-5" dirty="0">
                          <a:latin typeface="Courier New" panose="02070309020205020404"/>
                          <a:cs typeface="Courier New" panose="02070309020205020404"/>
                        </a:rPr>
                        <a:t>minutes</a:t>
                      </a:r>
                      <a:endParaRPr sz="2400">
                        <a:latin typeface="Courier New" panose="02070309020205020404"/>
                        <a:cs typeface="Courier New" panose="02070309020205020404"/>
                      </a:endParaRPr>
                    </a:p>
                  </a:txBody>
                  <a:tcPr marL="0" marR="0" marT="0" marB="0"/>
                </a:tc>
                <a:extLst>
                  <a:ext uri="{0D108BD9-81ED-4DB2-BD59-A6C34878D82A}">
                    <a16:rowId xmlns:a16="http://schemas.microsoft.com/office/drawing/2014/main" val="10000"/>
                  </a:ext>
                </a:extLst>
              </a:tr>
              <a:tr h="361950">
                <a:tc>
                  <a:txBody>
                    <a:bodyPr/>
                    <a:lstStyle/>
                    <a:p>
                      <a:pPr marL="31750">
                        <a:lnSpc>
                          <a:spcPts val="252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52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520"/>
                        </a:lnSpc>
                      </a:pPr>
                      <a:r>
                        <a:rPr sz="2400" spc="-5" dirty="0">
                          <a:latin typeface="Courier New" panose="02070309020205020404"/>
                          <a:cs typeface="Courier New" panose="02070309020205020404"/>
                        </a:rPr>
                        <a:t>30:00</a:t>
                      </a:r>
                      <a:endParaRPr sz="2400">
                        <a:latin typeface="Courier New" panose="02070309020205020404"/>
                        <a:cs typeface="Courier New" panose="02070309020205020404"/>
                      </a:endParaRPr>
                    </a:p>
                  </a:txBody>
                  <a:tcPr marL="0" marR="0" marT="0" marB="0"/>
                </a:tc>
                <a:tc>
                  <a:txBody>
                    <a:bodyPr/>
                    <a:lstStyle/>
                    <a:p>
                      <a:pPr marR="83820" algn="r">
                        <a:lnSpc>
                          <a:spcPts val="252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0805">
                        <a:lnSpc>
                          <a:spcPts val="2520"/>
                        </a:lnSpc>
                      </a:pPr>
                      <a:r>
                        <a:rPr sz="2400" spc="-5" dirty="0">
                          <a:latin typeface="Courier New" panose="02070309020205020404"/>
                          <a:cs typeface="Courier New" panose="02070309020205020404"/>
                        </a:rPr>
                        <a:t>30</a:t>
                      </a:r>
                      <a:r>
                        <a:rPr sz="2400" spc="-85" dirty="0">
                          <a:latin typeface="Courier New" panose="02070309020205020404"/>
                          <a:cs typeface="Courier New" panose="02070309020205020404"/>
                        </a:rPr>
                        <a:t> </a:t>
                      </a:r>
                      <a:r>
                        <a:rPr sz="2400" spc="-5" dirty="0">
                          <a:latin typeface="Courier New" panose="02070309020205020404"/>
                          <a:cs typeface="Courier New" panose="02070309020205020404"/>
                        </a:rPr>
                        <a:t>minutes</a:t>
                      </a:r>
                      <a:endParaRPr sz="2400">
                        <a:latin typeface="Courier New" panose="02070309020205020404"/>
                        <a:cs typeface="Courier New" panose="02070309020205020404"/>
                      </a:endParaRPr>
                    </a:p>
                  </a:txBody>
                  <a:tcPr marL="0" marR="0" marT="0" marB="0"/>
                </a:tc>
                <a:extLst>
                  <a:ext uri="{0D108BD9-81ED-4DB2-BD59-A6C34878D82A}">
                    <a16:rowId xmlns:a16="http://schemas.microsoft.com/office/drawing/2014/main" val="10001"/>
                  </a:ext>
                </a:extLst>
              </a:tr>
              <a:tr h="368300">
                <a:tc>
                  <a:txBody>
                    <a:bodyPr/>
                    <a:lstStyle/>
                    <a:p>
                      <a:pPr marL="31750">
                        <a:lnSpc>
                          <a:spcPts val="257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57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spc="-5" dirty="0">
                          <a:latin typeface="Courier New" panose="02070309020205020404"/>
                          <a:cs typeface="Courier New" panose="02070309020205020404"/>
                        </a:rPr>
                        <a:t>1:00:00</a:t>
                      </a:r>
                      <a:endParaRPr sz="2400">
                        <a:latin typeface="Courier New" panose="02070309020205020404"/>
                        <a:cs typeface="Courier New" panose="02070309020205020404"/>
                      </a:endParaRPr>
                    </a:p>
                  </a:txBody>
                  <a:tcPr marL="0" marR="0" marT="0" marB="0"/>
                </a:tc>
                <a:tc>
                  <a:txBody>
                    <a:bodyPr/>
                    <a:lstStyle/>
                    <a:p>
                      <a:pPr marR="83820" algn="r">
                        <a:lnSpc>
                          <a:spcPts val="257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0805">
                        <a:lnSpc>
                          <a:spcPts val="2570"/>
                        </a:lnSpc>
                      </a:pPr>
                      <a:r>
                        <a:rPr sz="2400" dirty="0">
                          <a:latin typeface="Courier New" panose="02070309020205020404"/>
                          <a:cs typeface="Courier New" panose="02070309020205020404"/>
                        </a:rPr>
                        <a:t>1</a:t>
                      </a:r>
                      <a:r>
                        <a:rPr sz="2400" spc="-25" dirty="0">
                          <a:latin typeface="Courier New" panose="02070309020205020404"/>
                          <a:cs typeface="Courier New" panose="02070309020205020404"/>
                        </a:rPr>
                        <a:t> </a:t>
                      </a:r>
                      <a:r>
                        <a:rPr sz="2400" spc="-5" dirty="0">
                          <a:latin typeface="Courier New" panose="02070309020205020404"/>
                          <a:cs typeface="Courier New" panose="02070309020205020404"/>
                        </a:rPr>
                        <a:t>hour</a:t>
                      </a:r>
                      <a:endParaRPr sz="2400">
                        <a:latin typeface="Courier New" panose="02070309020205020404"/>
                        <a:cs typeface="Courier New" panose="02070309020205020404"/>
                      </a:endParaRPr>
                    </a:p>
                  </a:txBody>
                  <a:tcPr marL="0" marR="0" marT="0" marB="0"/>
                </a:tc>
                <a:extLst>
                  <a:ext uri="{0D108BD9-81ED-4DB2-BD59-A6C34878D82A}">
                    <a16:rowId xmlns:a16="http://schemas.microsoft.com/office/drawing/2014/main" val="10002"/>
                  </a:ext>
                </a:extLst>
              </a:tr>
              <a:tr h="368300">
                <a:tc>
                  <a:txBody>
                    <a:bodyPr/>
                    <a:lstStyle/>
                    <a:p>
                      <a:pPr marL="31750">
                        <a:lnSpc>
                          <a:spcPts val="257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57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spc="-5" dirty="0">
                          <a:latin typeface="Courier New" panose="02070309020205020404"/>
                          <a:cs typeface="Courier New" panose="02070309020205020404"/>
                        </a:rPr>
                        <a:t>1-0</a:t>
                      </a:r>
                      <a:endParaRPr sz="2400">
                        <a:latin typeface="Courier New" panose="02070309020205020404"/>
                        <a:cs typeface="Courier New" panose="02070309020205020404"/>
                      </a:endParaRPr>
                    </a:p>
                  </a:txBody>
                  <a:tcPr marL="0" marR="0" marT="0" marB="0"/>
                </a:tc>
                <a:tc>
                  <a:txBody>
                    <a:bodyPr/>
                    <a:lstStyle/>
                    <a:p>
                      <a:pPr marR="83185" algn="r">
                        <a:lnSpc>
                          <a:spcPts val="257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dirty="0">
                          <a:latin typeface="Courier New" panose="02070309020205020404"/>
                          <a:cs typeface="Courier New" panose="02070309020205020404"/>
                        </a:rPr>
                        <a:t>1</a:t>
                      </a:r>
                      <a:r>
                        <a:rPr sz="2400" spc="-25" dirty="0">
                          <a:latin typeface="Courier New" panose="02070309020205020404"/>
                          <a:cs typeface="Courier New" panose="02070309020205020404"/>
                        </a:rPr>
                        <a:t> </a:t>
                      </a:r>
                      <a:r>
                        <a:rPr sz="2400" spc="-5" dirty="0">
                          <a:latin typeface="Courier New" panose="02070309020205020404"/>
                          <a:cs typeface="Courier New" panose="02070309020205020404"/>
                        </a:rPr>
                        <a:t>day</a:t>
                      </a:r>
                      <a:endParaRPr sz="2400">
                        <a:latin typeface="Courier New" panose="02070309020205020404"/>
                        <a:cs typeface="Courier New" panose="02070309020205020404"/>
                      </a:endParaRPr>
                    </a:p>
                  </a:txBody>
                  <a:tcPr marL="0" marR="0" marT="0" marB="0"/>
                </a:tc>
                <a:extLst>
                  <a:ext uri="{0D108BD9-81ED-4DB2-BD59-A6C34878D82A}">
                    <a16:rowId xmlns:a16="http://schemas.microsoft.com/office/drawing/2014/main" val="10003"/>
                  </a:ext>
                </a:extLst>
              </a:tr>
              <a:tr h="356790">
                <a:tc>
                  <a:txBody>
                    <a:bodyPr/>
                    <a:lstStyle/>
                    <a:p>
                      <a:pPr marL="31750">
                        <a:lnSpc>
                          <a:spcPts val="2570"/>
                        </a:lnSpc>
                      </a:pPr>
                      <a:r>
                        <a:rPr sz="2400" spc="-5" dirty="0">
                          <a:latin typeface="Courier New" panose="02070309020205020404"/>
                          <a:cs typeface="Courier New" panose="02070309020205020404"/>
                        </a:rPr>
                        <a:t>#SBATCH</a:t>
                      </a:r>
                      <a:endParaRPr sz="2400">
                        <a:latin typeface="Courier New" panose="02070309020205020404"/>
                        <a:cs typeface="Courier New" panose="02070309020205020404"/>
                      </a:endParaRPr>
                    </a:p>
                  </a:txBody>
                  <a:tcPr marL="0" marR="0" marT="0" marB="0"/>
                </a:tc>
                <a:tc>
                  <a:txBody>
                    <a:bodyPr/>
                    <a:lstStyle/>
                    <a:p>
                      <a:pPr algn="ctr">
                        <a:lnSpc>
                          <a:spcPts val="2570"/>
                        </a:lnSpc>
                      </a:pPr>
                      <a:r>
                        <a:rPr sz="2400" spc="-5" dirty="0">
                          <a:latin typeface="Courier New" panose="02070309020205020404"/>
                          <a:cs typeface="Courier New" panose="02070309020205020404"/>
                        </a:rPr>
                        <a:t>-t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spc="-5" dirty="0">
                          <a:latin typeface="Courier New" panose="02070309020205020404"/>
                          <a:cs typeface="Courier New" panose="02070309020205020404"/>
                        </a:rPr>
                        <a:t>1-12</a:t>
                      </a:r>
                      <a:endParaRPr sz="2400">
                        <a:latin typeface="Courier New" panose="02070309020205020404"/>
                        <a:cs typeface="Courier New" panose="02070309020205020404"/>
                      </a:endParaRPr>
                    </a:p>
                  </a:txBody>
                  <a:tcPr marL="0" marR="0" marT="0" marB="0"/>
                </a:tc>
                <a:tc>
                  <a:txBody>
                    <a:bodyPr/>
                    <a:lstStyle/>
                    <a:p>
                      <a:pPr marR="83185" algn="r">
                        <a:lnSpc>
                          <a:spcPts val="2570"/>
                        </a:lnSpc>
                      </a:pPr>
                      <a:r>
                        <a:rPr sz="2400" dirty="0">
                          <a:latin typeface="Courier New" panose="02070309020205020404"/>
                          <a:cs typeface="Courier New" panose="02070309020205020404"/>
                        </a:rPr>
                        <a:t>#</a:t>
                      </a:r>
                      <a:endParaRPr sz="2400">
                        <a:latin typeface="Courier New" panose="02070309020205020404"/>
                        <a:cs typeface="Courier New" panose="02070309020205020404"/>
                      </a:endParaRPr>
                    </a:p>
                  </a:txBody>
                  <a:tcPr marL="0" marR="0" marT="0" marB="0"/>
                </a:tc>
                <a:tc>
                  <a:txBody>
                    <a:bodyPr/>
                    <a:lstStyle/>
                    <a:p>
                      <a:pPr marL="91440">
                        <a:lnSpc>
                          <a:spcPts val="2570"/>
                        </a:lnSpc>
                      </a:pPr>
                      <a:r>
                        <a:rPr sz="2400" spc="-5" dirty="0">
                          <a:latin typeface="Courier New" panose="02070309020205020404"/>
                          <a:cs typeface="Courier New" panose="02070309020205020404"/>
                        </a:rPr>
                        <a:t>1.5</a:t>
                      </a:r>
                      <a:r>
                        <a:rPr sz="2400" spc="-35" dirty="0">
                          <a:latin typeface="Courier New" panose="02070309020205020404"/>
                          <a:cs typeface="Courier New" panose="02070309020205020404"/>
                        </a:rPr>
                        <a:t> </a:t>
                      </a:r>
                      <a:r>
                        <a:rPr sz="2400" spc="-5" dirty="0">
                          <a:latin typeface="Courier New" panose="02070309020205020404"/>
                          <a:cs typeface="Courier New" panose="02070309020205020404"/>
                        </a:rPr>
                        <a:t>days</a:t>
                      </a:r>
                      <a:endParaRPr sz="2400">
                        <a:latin typeface="Courier New" panose="02070309020205020404"/>
                        <a:cs typeface="Courier New" panose="02070309020205020404"/>
                      </a:endParaRPr>
                    </a:p>
                  </a:txBody>
                  <a:tcPr marL="0" marR="0" marT="0" marB="0"/>
                </a:tc>
                <a:extLst>
                  <a:ext uri="{0D108BD9-81ED-4DB2-BD59-A6C34878D82A}">
                    <a16:rowId xmlns:a16="http://schemas.microsoft.com/office/drawing/2014/main" val="10004"/>
                  </a:ext>
                </a:extLst>
              </a:tr>
            </a:tbl>
          </a:graphicData>
        </a:graphic>
      </p:graphicFrame>
      <p:sp>
        <p:nvSpPr>
          <p:cNvPr id="4" name="object 4"/>
          <p:cNvSpPr txBox="1"/>
          <p:nvPr/>
        </p:nvSpPr>
        <p:spPr>
          <a:xfrm>
            <a:off x="764524" y="3558526"/>
            <a:ext cx="6800850" cy="883919"/>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b="1" dirty="0">
                <a:latin typeface="+mj-lt"/>
                <a:cs typeface="Calibri" panose="020F0502020204030204"/>
              </a:rPr>
              <a:t>Wallclock time, ie real elapsed time</a:t>
            </a:r>
            <a:endParaRPr sz="2800">
              <a:latin typeface="+mj-lt"/>
              <a:cs typeface="Calibri" panose="020F0502020204030204"/>
            </a:endParaRPr>
          </a:p>
          <a:p>
            <a:pPr marL="241300" indent="-228600">
              <a:lnSpc>
                <a:spcPct val="100000"/>
              </a:lnSpc>
              <a:spcBef>
                <a:spcPts val="40"/>
              </a:spcBef>
              <a:buFont typeface="Arial" panose="020B0604020202020204"/>
              <a:buChar char="•"/>
              <a:tabLst>
                <a:tab pos="241300" algn="l"/>
              </a:tabLst>
            </a:pPr>
            <a:r>
              <a:rPr sz="2800" b="1" dirty="0">
                <a:latin typeface="+mj-lt"/>
                <a:cs typeface="Calibri" panose="020F0502020204030204"/>
              </a:rPr>
              <a:t>Aper this much time, SLURM can kill this job</a:t>
            </a:r>
            <a:endParaRPr sz="2800">
              <a:latin typeface="+mj-lt"/>
              <a:cs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9687" y="140350"/>
            <a:ext cx="7254182"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Hands-on exercise: My first job</a:t>
            </a:r>
          </a:p>
        </p:txBody>
      </p:sp>
      <p:sp>
        <p:nvSpPr>
          <p:cNvPr id="3" name="object 3"/>
          <p:cNvSpPr txBox="1"/>
          <p:nvPr/>
        </p:nvSpPr>
        <p:spPr>
          <a:xfrm>
            <a:off x="535924" y="1374126"/>
            <a:ext cx="7917180" cy="939800"/>
          </a:xfrm>
          <a:prstGeom prst="rect">
            <a:avLst/>
          </a:prstGeom>
        </p:spPr>
        <p:txBody>
          <a:bodyPr vert="horz" wrap="square" lIns="0" tIns="12700" rIns="0" bIns="0" rtlCol="0">
            <a:spAutoFit/>
          </a:bodyPr>
          <a:lstStyle/>
          <a:p>
            <a:pPr marL="12700">
              <a:lnSpc>
                <a:spcPct val="100000"/>
              </a:lnSpc>
              <a:spcBef>
                <a:spcPts val="100"/>
              </a:spcBef>
            </a:pPr>
            <a:r>
              <a:rPr sz="2000" b="1" dirty="0">
                <a:latin typeface="+mj-lt"/>
                <a:cs typeface="Calibri" panose="020F0502020204030204"/>
              </a:rPr>
              <a:t>A SLURM job script has two sections:</a:t>
            </a:r>
            <a:endParaRPr sz="2000">
              <a:latin typeface="+mj-lt"/>
              <a:cs typeface="Calibri" panose="020F0502020204030204"/>
            </a:endParaRPr>
          </a:p>
          <a:p>
            <a:pPr marL="891540" indent="-321310">
              <a:lnSpc>
                <a:spcPct val="100000"/>
              </a:lnSpc>
              <a:buAutoNum type="arabicPeriod"/>
              <a:tabLst>
                <a:tab pos="892175" algn="l"/>
              </a:tabLst>
            </a:pPr>
            <a:r>
              <a:rPr sz="2000" b="1" dirty="0">
                <a:latin typeface="+mj-lt"/>
                <a:cs typeface="Calibri" panose="020F0502020204030204"/>
              </a:rPr>
              <a:t>Directives telling SLURM what you would like it to do with this job</a:t>
            </a:r>
            <a:endParaRPr sz="2000">
              <a:latin typeface="+mj-lt"/>
              <a:cs typeface="Calibri" panose="020F0502020204030204"/>
            </a:endParaRPr>
          </a:p>
          <a:p>
            <a:pPr marL="891540" indent="-321310">
              <a:lnSpc>
                <a:spcPct val="100000"/>
              </a:lnSpc>
              <a:buAutoNum type="arabicPeriod"/>
              <a:tabLst>
                <a:tab pos="892175" algn="l"/>
              </a:tabLst>
            </a:pPr>
            <a:r>
              <a:rPr sz="2000" b="1" dirty="0">
                <a:latin typeface="+mj-lt"/>
                <a:cs typeface="Calibri" panose="020F0502020204030204"/>
              </a:rPr>
              <a:t>The script itself - shell commands to run on the ﬁrst compute node</a:t>
            </a:r>
            <a:endParaRPr sz="2000">
              <a:latin typeface="+mj-lt"/>
              <a:cs typeface="Calibri" panose="020F0502020204030204"/>
            </a:endParaRPr>
          </a:p>
        </p:txBody>
      </p:sp>
      <p:sp>
        <p:nvSpPr>
          <p:cNvPr id="4" name="object 4"/>
          <p:cNvSpPr/>
          <p:nvPr/>
        </p:nvSpPr>
        <p:spPr>
          <a:xfrm>
            <a:off x="1791661" y="2734767"/>
            <a:ext cx="5174349" cy="405301"/>
          </a:xfrm>
          <a:prstGeom prst="rect">
            <a:avLst/>
          </a:prstGeom>
          <a:blipFill>
            <a:blip r:embed="rId2" cstate="print"/>
            <a:stretch>
              <a:fillRect/>
            </a:stretch>
          </a:blipFill>
        </p:spPr>
        <p:txBody>
          <a:bodyPr wrap="square" lIns="0" tIns="0" rIns="0" bIns="0" rtlCol="0"/>
          <a:lstStyle/>
          <a:p>
            <a:endParaRPr>
              <a:latin typeface="+mj-lt"/>
            </a:endParaRPr>
          </a:p>
        </p:txBody>
      </p:sp>
      <p:sp>
        <p:nvSpPr>
          <p:cNvPr id="5" name="object 5"/>
          <p:cNvSpPr/>
          <p:nvPr/>
        </p:nvSpPr>
        <p:spPr>
          <a:xfrm>
            <a:off x="1761224" y="3180588"/>
            <a:ext cx="5256349" cy="2943989"/>
          </a:xfrm>
          <a:prstGeom prst="rect">
            <a:avLst/>
          </a:prstGeom>
          <a:blipFill>
            <a:blip r:embed="rId3" cstate="print"/>
            <a:stretch>
              <a:fillRect/>
            </a:stretch>
          </a:blipFill>
        </p:spPr>
        <p:txBody>
          <a:bodyPr wrap="square" lIns="0" tIns="0" rIns="0" bIns="0" rtlCol="0"/>
          <a:lstStyle/>
          <a:p>
            <a:endParaRPr>
              <a:latin typeface="+mj-lt"/>
            </a:endParaRPr>
          </a:p>
        </p:txBody>
      </p:sp>
      <p:sp>
        <p:nvSpPr>
          <p:cNvPr id="6" name="object 6"/>
          <p:cNvSpPr/>
          <p:nvPr/>
        </p:nvSpPr>
        <p:spPr>
          <a:xfrm>
            <a:off x="1561124" y="3875624"/>
            <a:ext cx="1583055" cy="180975"/>
          </a:xfrm>
          <a:custGeom>
            <a:avLst/>
            <a:gdLst/>
            <a:ahLst/>
            <a:cxnLst/>
            <a:rect l="l" t="t" r="r" b="b"/>
            <a:pathLst>
              <a:path w="1583055" h="180975">
                <a:moveTo>
                  <a:pt x="0" y="90299"/>
                </a:moveTo>
                <a:lnTo>
                  <a:pt x="31604" y="64949"/>
                </a:lnTo>
                <a:lnTo>
                  <a:pt x="85026" y="49534"/>
                </a:lnTo>
                <a:lnTo>
                  <a:pt x="161236" y="35660"/>
                </a:lnTo>
                <a:lnTo>
                  <a:pt x="207057" y="29395"/>
                </a:lnTo>
                <a:lnTo>
                  <a:pt x="257580" y="23630"/>
                </a:lnTo>
                <a:lnTo>
                  <a:pt x="312473" y="18400"/>
                </a:lnTo>
                <a:lnTo>
                  <a:pt x="371406" y="13746"/>
                </a:lnTo>
                <a:lnTo>
                  <a:pt x="434046" y="9703"/>
                </a:lnTo>
                <a:lnTo>
                  <a:pt x="500061" y="6311"/>
                </a:lnTo>
                <a:lnTo>
                  <a:pt x="569121" y="3606"/>
                </a:lnTo>
                <a:lnTo>
                  <a:pt x="640893" y="1628"/>
                </a:lnTo>
                <a:lnTo>
                  <a:pt x="715047" y="413"/>
                </a:lnTo>
                <a:lnTo>
                  <a:pt x="791249" y="0"/>
                </a:lnTo>
                <a:lnTo>
                  <a:pt x="867452" y="413"/>
                </a:lnTo>
                <a:lnTo>
                  <a:pt x="941605" y="1628"/>
                </a:lnTo>
                <a:lnTo>
                  <a:pt x="1013377" y="3606"/>
                </a:lnTo>
                <a:lnTo>
                  <a:pt x="1082437" y="6311"/>
                </a:lnTo>
                <a:lnTo>
                  <a:pt x="1148453" y="9703"/>
                </a:lnTo>
                <a:lnTo>
                  <a:pt x="1211092" y="13746"/>
                </a:lnTo>
                <a:lnTo>
                  <a:pt x="1270025" y="18400"/>
                </a:lnTo>
                <a:lnTo>
                  <a:pt x="1324919" y="23630"/>
                </a:lnTo>
                <a:lnTo>
                  <a:pt x="1375442" y="29395"/>
                </a:lnTo>
                <a:lnTo>
                  <a:pt x="1421263" y="35660"/>
                </a:lnTo>
                <a:lnTo>
                  <a:pt x="1462050" y="42386"/>
                </a:lnTo>
                <a:lnTo>
                  <a:pt x="1527198" y="57068"/>
                </a:lnTo>
                <a:lnTo>
                  <a:pt x="1568232" y="73140"/>
                </a:lnTo>
                <a:lnTo>
                  <a:pt x="1582499" y="90299"/>
                </a:lnTo>
                <a:lnTo>
                  <a:pt x="1578877" y="98996"/>
                </a:lnTo>
                <a:lnTo>
                  <a:pt x="1527198" y="123531"/>
                </a:lnTo>
                <a:lnTo>
                  <a:pt x="1462050" y="138213"/>
                </a:lnTo>
                <a:lnTo>
                  <a:pt x="1421263" y="144939"/>
                </a:lnTo>
                <a:lnTo>
                  <a:pt x="1375442" y="151204"/>
                </a:lnTo>
                <a:lnTo>
                  <a:pt x="1324919" y="156969"/>
                </a:lnTo>
                <a:lnTo>
                  <a:pt x="1270025" y="162199"/>
                </a:lnTo>
                <a:lnTo>
                  <a:pt x="1211092" y="166854"/>
                </a:lnTo>
                <a:lnTo>
                  <a:pt x="1148453" y="170896"/>
                </a:lnTo>
                <a:lnTo>
                  <a:pt x="1082437" y="174288"/>
                </a:lnTo>
                <a:lnTo>
                  <a:pt x="1013377" y="176993"/>
                </a:lnTo>
                <a:lnTo>
                  <a:pt x="941605" y="178971"/>
                </a:lnTo>
                <a:lnTo>
                  <a:pt x="867452" y="180186"/>
                </a:lnTo>
                <a:lnTo>
                  <a:pt x="791249" y="180600"/>
                </a:lnTo>
                <a:lnTo>
                  <a:pt x="715047" y="180186"/>
                </a:lnTo>
                <a:lnTo>
                  <a:pt x="640893" y="178971"/>
                </a:lnTo>
                <a:lnTo>
                  <a:pt x="569121" y="176993"/>
                </a:lnTo>
                <a:lnTo>
                  <a:pt x="500061" y="174288"/>
                </a:lnTo>
                <a:lnTo>
                  <a:pt x="434046" y="170896"/>
                </a:lnTo>
                <a:lnTo>
                  <a:pt x="371406" y="166854"/>
                </a:lnTo>
                <a:lnTo>
                  <a:pt x="312473" y="162199"/>
                </a:lnTo>
                <a:lnTo>
                  <a:pt x="257580" y="156969"/>
                </a:lnTo>
                <a:lnTo>
                  <a:pt x="207057" y="151204"/>
                </a:lnTo>
                <a:lnTo>
                  <a:pt x="161236" y="144939"/>
                </a:lnTo>
                <a:lnTo>
                  <a:pt x="120448" y="138213"/>
                </a:lnTo>
                <a:lnTo>
                  <a:pt x="55301" y="123531"/>
                </a:lnTo>
                <a:lnTo>
                  <a:pt x="14267" y="107459"/>
                </a:lnTo>
                <a:lnTo>
                  <a:pt x="0" y="90299"/>
                </a:lnTo>
                <a:close/>
              </a:path>
            </a:pathLst>
          </a:custGeom>
          <a:ln w="19049">
            <a:solidFill>
              <a:srgbClr val="FF2600"/>
            </a:solidFill>
          </a:ln>
        </p:spPr>
        <p:txBody>
          <a:bodyPr wrap="square" lIns="0" tIns="0" rIns="0" bIns="0" rtlCol="0"/>
          <a:lstStyle/>
          <a:p>
            <a:endParaRPr>
              <a:latin typeface="+mj-lt"/>
            </a:endParaRPr>
          </a:p>
        </p:txBody>
      </p:sp>
      <p:sp>
        <p:nvSpPr>
          <p:cNvPr id="7" name="object 7"/>
          <p:cNvSpPr/>
          <p:nvPr/>
        </p:nvSpPr>
        <p:spPr>
          <a:xfrm>
            <a:off x="1609699" y="3695025"/>
            <a:ext cx="2006600" cy="180975"/>
          </a:xfrm>
          <a:custGeom>
            <a:avLst/>
            <a:gdLst/>
            <a:ahLst/>
            <a:cxnLst/>
            <a:rect l="l" t="t" r="r" b="b"/>
            <a:pathLst>
              <a:path w="2006600" h="180975">
                <a:moveTo>
                  <a:pt x="0" y="90299"/>
                </a:moveTo>
                <a:lnTo>
                  <a:pt x="46500" y="63043"/>
                </a:lnTo>
                <a:lnTo>
                  <a:pt x="101951" y="50588"/>
                </a:lnTo>
                <a:lnTo>
                  <a:pt x="176489" y="39128"/>
                </a:lnTo>
                <a:lnTo>
                  <a:pt x="220358" y="33821"/>
                </a:lnTo>
                <a:lnTo>
                  <a:pt x="268331" y="28824"/>
                </a:lnTo>
                <a:lnTo>
                  <a:pt x="320183" y="24156"/>
                </a:lnTo>
                <a:lnTo>
                  <a:pt x="375693" y="19837"/>
                </a:lnTo>
                <a:lnTo>
                  <a:pt x="434636" y="15888"/>
                </a:lnTo>
                <a:lnTo>
                  <a:pt x="496791" y="12328"/>
                </a:lnTo>
                <a:lnTo>
                  <a:pt x="561933" y="9178"/>
                </a:lnTo>
                <a:lnTo>
                  <a:pt x="629841" y="6457"/>
                </a:lnTo>
                <a:lnTo>
                  <a:pt x="700291" y="4186"/>
                </a:lnTo>
                <a:lnTo>
                  <a:pt x="773059" y="2384"/>
                </a:lnTo>
                <a:lnTo>
                  <a:pt x="847924" y="1073"/>
                </a:lnTo>
                <a:lnTo>
                  <a:pt x="924662" y="271"/>
                </a:lnTo>
                <a:lnTo>
                  <a:pt x="1003049" y="0"/>
                </a:lnTo>
                <a:lnTo>
                  <a:pt x="1081437" y="271"/>
                </a:lnTo>
                <a:lnTo>
                  <a:pt x="1158175" y="1073"/>
                </a:lnTo>
                <a:lnTo>
                  <a:pt x="1233039" y="2384"/>
                </a:lnTo>
                <a:lnTo>
                  <a:pt x="1305808" y="4186"/>
                </a:lnTo>
                <a:lnTo>
                  <a:pt x="1376257" y="6457"/>
                </a:lnTo>
                <a:lnTo>
                  <a:pt x="1444165" y="9178"/>
                </a:lnTo>
                <a:lnTo>
                  <a:pt x="1509308" y="12328"/>
                </a:lnTo>
                <a:lnTo>
                  <a:pt x="1571462" y="15888"/>
                </a:lnTo>
                <a:lnTo>
                  <a:pt x="1630406" y="19837"/>
                </a:lnTo>
                <a:lnTo>
                  <a:pt x="1685915" y="24156"/>
                </a:lnTo>
                <a:lnTo>
                  <a:pt x="1737768" y="28824"/>
                </a:lnTo>
                <a:lnTo>
                  <a:pt x="1785740" y="33821"/>
                </a:lnTo>
                <a:lnTo>
                  <a:pt x="1829610" y="39128"/>
                </a:lnTo>
                <a:lnTo>
                  <a:pt x="1869153" y="44723"/>
                </a:lnTo>
                <a:lnTo>
                  <a:pt x="1934370" y="56701"/>
                </a:lnTo>
                <a:lnTo>
                  <a:pt x="1979608" y="69594"/>
                </a:lnTo>
                <a:lnTo>
                  <a:pt x="2006099" y="90299"/>
                </a:lnTo>
                <a:lnTo>
                  <a:pt x="2003081" y="97356"/>
                </a:lnTo>
                <a:lnTo>
                  <a:pt x="1959598" y="117555"/>
                </a:lnTo>
                <a:lnTo>
                  <a:pt x="1904148" y="130011"/>
                </a:lnTo>
                <a:lnTo>
                  <a:pt x="1829610" y="141471"/>
                </a:lnTo>
                <a:lnTo>
                  <a:pt x="1785740" y="146777"/>
                </a:lnTo>
                <a:lnTo>
                  <a:pt x="1737768" y="151775"/>
                </a:lnTo>
                <a:lnTo>
                  <a:pt x="1685915" y="156443"/>
                </a:lnTo>
                <a:lnTo>
                  <a:pt x="1630406" y="160762"/>
                </a:lnTo>
                <a:lnTo>
                  <a:pt x="1571462" y="164711"/>
                </a:lnTo>
                <a:lnTo>
                  <a:pt x="1509308" y="168271"/>
                </a:lnTo>
                <a:lnTo>
                  <a:pt x="1444165" y="171421"/>
                </a:lnTo>
                <a:lnTo>
                  <a:pt x="1376257" y="174142"/>
                </a:lnTo>
                <a:lnTo>
                  <a:pt x="1305808" y="176413"/>
                </a:lnTo>
                <a:lnTo>
                  <a:pt x="1233039" y="178215"/>
                </a:lnTo>
                <a:lnTo>
                  <a:pt x="1158175" y="179526"/>
                </a:lnTo>
                <a:lnTo>
                  <a:pt x="1081437" y="180328"/>
                </a:lnTo>
                <a:lnTo>
                  <a:pt x="1003049" y="180599"/>
                </a:lnTo>
                <a:lnTo>
                  <a:pt x="924662" y="180328"/>
                </a:lnTo>
                <a:lnTo>
                  <a:pt x="847924" y="179526"/>
                </a:lnTo>
                <a:lnTo>
                  <a:pt x="773059" y="178215"/>
                </a:lnTo>
                <a:lnTo>
                  <a:pt x="700291" y="176413"/>
                </a:lnTo>
                <a:lnTo>
                  <a:pt x="629841" y="174142"/>
                </a:lnTo>
                <a:lnTo>
                  <a:pt x="561933" y="171421"/>
                </a:lnTo>
                <a:lnTo>
                  <a:pt x="496791" y="168271"/>
                </a:lnTo>
                <a:lnTo>
                  <a:pt x="434636" y="164711"/>
                </a:lnTo>
                <a:lnTo>
                  <a:pt x="375693" y="160762"/>
                </a:lnTo>
                <a:lnTo>
                  <a:pt x="320183" y="156443"/>
                </a:lnTo>
                <a:lnTo>
                  <a:pt x="268331" y="151775"/>
                </a:lnTo>
                <a:lnTo>
                  <a:pt x="220358" y="146777"/>
                </a:lnTo>
                <a:lnTo>
                  <a:pt x="176489" y="141471"/>
                </a:lnTo>
                <a:lnTo>
                  <a:pt x="136945" y="135876"/>
                </a:lnTo>
                <a:lnTo>
                  <a:pt x="71728" y="123898"/>
                </a:lnTo>
                <a:lnTo>
                  <a:pt x="26491" y="111004"/>
                </a:lnTo>
                <a:lnTo>
                  <a:pt x="0" y="90299"/>
                </a:lnTo>
                <a:close/>
              </a:path>
            </a:pathLst>
          </a:custGeom>
          <a:ln w="19049">
            <a:solidFill>
              <a:srgbClr val="FF2600"/>
            </a:solidFill>
          </a:ln>
        </p:spPr>
        <p:txBody>
          <a:bodyPr wrap="square" lIns="0" tIns="0" rIns="0" bIns="0" rtlCol="0"/>
          <a:lstStyle/>
          <a:p>
            <a:endParaRPr>
              <a:latin typeface="+mj-lt"/>
            </a:endParaRPr>
          </a:p>
        </p:txBody>
      </p:sp>
      <p:sp>
        <p:nvSpPr>
          <p:cNvPr id="8" name="object 8"/>
          <p:cNvSpPr txBox="1"/>
          <p:nvPr/>
        </p:nvSpPr>
        <p:spPr>
          <a:xfrm>
            <a:off x="78724" y="3513599"/>
            <a:ext cx="1019810" cy="1188085"/>
          </a:xfrm>
          <a:prstGeom prst="rect">
            <a:avLst/>
          </a:prstGeom>
        </p:spPr>
        <p:txBody>
          <a:bodyPr vert="horz" wrap="square" lIns="0" tIns="27939" rIns="0" bIns="0" rtlCol="0">
            <a:spAutoFit/>
          </a:bodyPr>
          <a:lstStyle/>
          <a:p>
            <a:pPr marL="75565" marR="174625">
              <a:lnSpc>
                <a:spcPts val="2100"/>
              </a:lnSpc>
              <a:spcBef>
                <a:spcPts val="220"/>
              </a:spcBef>
            </a:pPr>
            <a:r>
              <a:rPr sz="1800" dirty="0">
                <a:latin typeface="+mj-lt"/>
                <a:cs typeface="Calibri" panose="020F0502020204030204"/>
              </a:rPr>
              <a:t>For how  long?</a:t>
            </a:r>
            <a:endParaRPr sz="1800">
              <a:latin typeface="+mj-lt"/>
              <a:cs typeface="Calibri" panose="020F0502020204030204"/>
            </a:endParaRPr>
          </a:p>
          <a:p>
            <a:pPr marL="12700" marR="5080">
              <a:lnSpc>
                <a:spcPts val="2100"/>
              </a:lnSpc>
              <a:spcBef>
                <a:spcPts val="690"/>
              </a:spcBef>
            </a:pPr>
            <a:r>
              <a:rPr sz="1800" dirty="0">
                <a:latin typeface="+mj-lt"/>
                <a:cs typeface="Calibri" panose="020F0502020204030204"/>
              </a:rPr>
              <a:t>How many  nodes?</a:t>
            </a:r>
            <a:endParaRPr sz="1800">
              <a:latin typeface="+mj-lt"/>
              <a:cs typeface="Calibri" panose="020F0502020204030204"/>
            </a:endParaRPr>
          </a:p>
        </p:txBody>
      </p:sp>
      <p:sp>
        <p:nvSpPr>
          <p:cNvPr id="9" name="object 9"/>
          <p:cNvSpPr txBox="1"/>
          <p:nvPr/>
        </p:nvSpPr>
        <p:spPr>
          <a:xfrm>
            <a:off x="7150923" y="3443625"/>
            <a:ext cx="1000760" cy="566420"/>
          </a:xfrm>
          <a:prstGeom prst="rect">
            <a:avLst/>
          </a:prstGeom>
        </p:spPr>
        <p:txBody>
          <a:bodyPr vert="horz" wrap="square" lIns="0" tIns="12700" rIns="0" bIns="0" rtlCol="0">
            <a:spAutoFit/>
          </a:bodyPr>
          <a:lstStyle/>
          <a:p>
            <a:pPr marL="12700">
              <a:lnSpc>
                <a:spcPts val="2130"/>
              </a:lnSpc>
              <a:spcBef>
                <a:spcPts val="100"/>
              </a:spcBef>
            </a:pPr>
            <a:r>
              <a:rPr sz="1800" dirty="0">
                <a:latin typeface="+mj-lt"/>
                <a:cs typeface="Calibri" panose="020F0502020204030204"/>
              </a:rPr>
              <a:t>$SCRATCH</a:t>
            </a:r>
            <a:endParaRPr sz="1800">
              <a:latin typeface="+mj-lt"/>
              <a:cs typeface="Calibri" panose="020F0502020204030204"/>
            </a:endParaRPr>
          </a:p>
          <a:p>
            <a:pPr marL="12700">
              <a:lnSpc>
                <a:spcPts val="2130"/>
              </a:lnSpc>
            </a:pPr>
            <a:r>
              <a:rPr sz="1800" dirty="0">
                <a:latin typeface="+mj-lt"/>
                <a:cs typeface="Calibri" panose="020F0502020204030204"/>
              </a:rPr>
              <a:t>ﬁlesystem</a:t>
            </a:r>
            <a:endParaRPr sz="1800">
              <a:latin typeface="+mj-lt"/>
              <a:cs typeface="Calibri" panose="020F0502020204030204"/>
            </a:endParaRPr>
          </a:p>
        </p:txBody>
      </p:sp>
      <p:sp>
        <p:nvSpPr>
          <p:cNvPr id="10" name="object 10"/>
          <p:cNvSpPr txBox="1"/>
          <p:nvPr/>
        </p:nvSpPr>
        <p:spPr>
          <a:xfrm>
            <a:off x="7019324" y="4283650"/>
            <a:ext cx="2068830" cy="1391920"/>
          </a:xfrm>
          <a:prstGeom prst="rect">
            <a:avLst/>
          </a:prstGeom>
        </p:spPr>
        <p:txBody>
          <a:bodyPr vert="horz" wrap="square" lIns="0" tIns="13970" rIns="0" bIns="0" rtlCol="0">
            <a:spAutoFit/>
          </a:bodyPr>
          <a:lstStyle/>
          <a:p>
            <a:pPr marL="12700" marR="5080">
              <a:lnSpc>
                <a:spcPct val="100000"/>
              </a:lnSpc>
              <a:spcBef>
                <a:spcPts val="110"/>
              </a:spcBef>
            </a:pPr>
            <a:r>
              <a:rPr sz="1800" dirty="0">
                <a:latin typeface="+mj-lt"/>
                <a:cs typeface="Calibri" panose="020F0502020204030204"/>
              </a:rPr>
              <a:t>Xeon nodes on  current cluster (set by  craype-</a:t>
            </a:r>
          </a:p>
          <a:p>
            <a:pPr marL="12700">
              <a:lnSpc>
                <a:spcPts val="2100"/>
              </a:lnSpc>
            </a:pPr>
            <a:r>
              <a:rPr sz="1800" dirty="0">
                <a:latin typeface="+mj-lt"/>
                <a:cs typeface="Calibri" panose="020F0502020204030204"/>
              </a:rPr>
              <a:t>{haswell,ivybridge}</a:t>
            </a:r>
          </a:p>
          <a:p>
            <a:pPr marL="12700">
              <a:lnSpc>
                <a:spcPct val="100000"/>
              </a:lnSpc>
              <a:spcBef>
                <a:spcPts val="40"/>
              </a:spcBef>
            </a:pPr>
            <a:r>
              <a:rPr sz="1800" dirty="0">
                <a:latin typeface="+mj-lt"/>
                <a:cs typeface="Calibri" panose="020F0502020204030204"/>
              </a:rPr>
              <a:t>module)</a:t>
            </a:r>
          </a:p>
        </p:txBody>
      </p:sp>
      <p:sp>
        <p:nvSpPr>
          <p:cNvPr id="11" name="object 11"/>
          <p:cNvSpPr txBox="1"/>
          <p:nvPr/>
        </p:nvSpPr>
        <p:spPr>
          <a:xfrm>
            <a:off x="7019324" y="5921949"/>
            <a:ext cx="2070100" cy="845819"/>
          </a:xfrm>
          <a:prstGeom prst="rect">
            <a:avLst/>
          </a:prstGeom>
        </p:spPr>
        <p:txBody>
          <a:bodyPr vert="horz" wrap="square" lIns="0" tIns="13970" rIns="0" bIns="0" rtlCol="0">
            <a:spAutoFit/>
          </a:bodyPr>
          <a:lstStyle/>
          <a:p>
            <a:pPr marL="12700" marR="5080" algn="just">
              <a:lnSpc>
                <a:spcPct val="100000"/>
              </a:lnSpc>
              <a:spcBef>
                <a:spcPts val="110"/>
              </a:spcBef>
            </a:pPr>
            <a:r>
              <a:rPr sz="1800" dirty="0">
                <a:latin typeface="+mj-lt"/>
                <a:cs typeface="Calibri" panose="020F0502020204030204"/>
              </a:rPr>
              <a:t>Note: cannot use env  vars in directives - but  directives have</a:t>
            </a:r>
            <a:endParaRPr sz="1800">
              <a:latin typeface="+mj-lt"/>
              <a:cs typeface="Calibri" panose="020F0502020204030204"/>
            </a:endParaRPr>
          </a:p>
        </p:txBody>
      </p:sp>
      <p:sp>
        <p:nvSpPr>
          <p:cNvPr id="12" name="object 12"/>
          <p:cNvSpPr/>
          <p:nvPr/>
        </p:nvSpPr>
        <p:spPr>
          <a:xfrm>
            <a:off x="1685749" y="4056225"/>
            <a:ext cx="2252345" cy="180975"/>
          </a:xfrm>
          <a:custGeom>
            <a:avLst/>
            <a:gdLst/>
            <a:ahLst/>
            <a:cxnLst/>
            <a:rect l="l" t="t" r="r" b="b"/>
            <a:pathLst>
              <a:path w="2252345" h="180975">
                <a:moveTo>
                  <a:pt x="0" y="90299"/>
                </a:moveTo>
                <a:lnTo>
                  <a:pt x="43712" y="65299"/>
                </a:lnTo>
                <a:lnTo>
                  <a:pt x="96066" y="53748"/>
                </a:lnTo>
                <a:lnTo>
                  <a:pt x="166720" y="42991"/>
                </a:lnTo>
                <a:lnTo>
                  <a:pt x="208433" y="37949"/>
                </a:lnTo>
                <a:lnTo>
                  <a:pt x="254149" y="33152"/>
                </a:lnTo>
                <a:lnTo>
                  <a:pt x="303677" y="28614"/>
                </a:lnTo>
                <a:lnTo>
                  <a:pt x="356828" y="24352"/>
                </a:lnTo>
                <a:lnTo>
                  <a:pt x="413410" y="20380"/>
                </a:lnTo>
                <a:lnTo>
                  <a:pt x="473234" y="16714"/>
                </a:lnTo>
                <a:lnTo>
                  <a:pt x="536107" y="13369"/>
                </a:lnTo>
                <a:lnTo>
                  <a:pt x="601841" y="10360"/>
                </a:lnTo>
                <a:lnTo>
                  <a:pt x="670244" y="7703"/>
                </a:lnTo>
                <a:lnTo>
                  <a:pt x="741126" y="5413"/>
                </a:lnTo>
                <a:lnTo>
                  <a:pt x="814296" y="3505"/>
                </a:lnTo>
                <a:lnTo>
                  <a:pt x="889564" y="1994"/>
                </a:lnTo>
                <a:lnTo>
                  <a:pt x="966740" y="896"/>
                </a:lnTo>
                <a:lnTo>
                  <a:pt x="1045631" y="226"/>
                </a:lnTo>
                <a:lnTo>
                  <a:pt x="1126049" y="0"/>
                </a:lnTo>
                <a:lnTo>
                  <a:pt x="1206467" y="226"/>
                </a:lnTo>
                <a:lnTo>
                  <a:pt x="1285359" y="896"/>
                </a:lnTo>
                <a:lnTo>
                  <a:pt x="1362534" y="1994"/>
                </a:lnTo>
                <a:lnTo>
                  <a:pt x="1437802" y="3505"/>
                </a:lnTo>
                <a:lnTo>
                  <a:pt x="1510972" y="5413"/>
                </a:lnTo>
                <a:lnTo>
                  <a:pt x="1581854" y="7703"/>
                </a:lnTo>
                <a:lnTo>
                  <a:pt x="1650257" y="10360"/>
                </a:lnTo>
                <a:lnTo>
                  <a:pt x="1715991" y="13369"/>
                </a:lnTo>
                <a:lnTo>
                  <a:pt x="1778865" y="16714"/>
                </a:lnTo>
                <a:lnTo>
                  <a:pt x="1838688" y="20380"/>
                </a:lnTo>
                <a:lnTo>
                  <a:pt x="1895270" y="24352"/>
                </a:lnTo>
                <a:lnTo>
                  <a:pt x="1948421" y="28614"/>
                </a:lnTo>
                <a:lnTo>
                  <a:pt x="1997950" y="33152"/>
                </a:lnTo>
                <a:lnTo>
                  <a:pt x="2043666" y="37949"/>
                </a:lnTo>
                <a:lnTo>
                  <a:pt x="2085378" y="42991"/>
                </a:lnTo>
                <a:lnTo>
                  <a:pt x="2156032" y="53748"/>
                </a:lnTo>
                <a:lnTo>
                  <a:pt x="2208386" y="65299"/>
                </a:lnTo>
                <a:lnTo>
                  <a:pt x="2249272" y="83851"/>
                </a:lnTo>
                <a:lnTo>
                  <a:pt x="2252099" y="90299"/>
                </a:lnTo>
                <a:lnTo>
                  <a:pt x="2249272" y="96748"/>
                </a:lnTo>
                <a:lnTo>
                  <a:pt x="2208386" y="115299"/>
                </a:lnTo>
                <a:lnTo>
                  <a:pt x="2156032" y="126851"/>
                </a:lnTo>
                <a:lnTo>
                  <a:pt x="2085378" y="137608"/>
                </a:lnTo>
                <a:lnTo>
                  <a:pt x="2043666" y="142650"/>
                </a:lnTo>
                <a:lnTo>
                  <a:pt x="1997950" y="147447"/>
                </a:lnTo>
                <a:lnTo>
                  <a:pt x="1948421" y="151985"/>
                </a:lnTo>
                <a:lnTo>
                  <a:pt x="1895270" y="156247"/>
                </a:lnTo>
                <a:lnTo>
                  <a:pt x="1838688" y="160219"/>
                </a:lnTo>
                <a:lnTo>
                  <a:pt x="1778865" y="163885"/>
                </a:lnTo>
                <a:lnTo>
                  <a:pt x="1715991" y="167230"/>
                </a:lnTo>
                <a:lnTo>
                  <a:pt x="1650257" y="170239"/>
                </a:lnTo>
                <a:lnTo>
                  <a:pt x="1581854" y="172896"/>
                </a:lnTo>
                <a:lnTo>
                  <a:pt x="1510972" y="175186"/>
                </a:lnTo>
                <a:lnTo>
                  <a:pt x="1437802" y="177094"/>
                </a:lnTo>
                <a:lnTo>
                  <a:pt x="1362534" y="178605"/>
                </a:lnTo>
                <a:lnTo>
                  <a:pt x="1285359" y="179703"/>
                </a:lnTo>
                <a:lnTo>
                  <a:pt x="1206467" y="180373"/>
                </a:lnTo>
                <a:lnTo>
                  <a:pt x="1126049" y="180600"/>
                </a:lnTo>
                <a:lnTo>
                  <a:pt x="1045631" y="180373"/>
                </a:lnTo>
                <a:lnTo>
                  <a:pt x="966740" y="179703"/>
                </a:lnTo>
                <a:lnTo>
                  <a:pt x="889564" y="178605"/>
                </a:lnTo>
                <a:lnTo>
                  <a:pt x="814296" y="177094"/>
                </a:lnTo>
                <a:lnTo>
                  <a:pt x="741126" y="175186"/>
                </a:lnTo>
                <a:lnTo>
                  <a:pt x="670244" y="172896"/>
                </a:lnTo>
                <a:lnTo>
                  <a:pt x="601841" y="170239"/>
                </a:lnTo>
                <a:lnTo>
                  <a:pt x="536107" y="167230"/>
                </a:lnTo>
                <a:lnTo>
                  <a:pt x="473234" y="163885"/>
                </a:lnTo>
                <a:lnTo>
                  <a:pt x="413410" y="160219"/>
                </a:lnTo>
                <a:lnTo>
                  <a:pt x="356828" y="156247"/>
                </a:lnTo>
                <a:lnTo>
                  <a:pt x="303677" y="151985"/>
                </a:lnTo>
                <a:lnTo>
                  <a:pt x="254149" y="147447"/>
                </a:lnTo>
                <a:lnTo>
                  <a:pt x="208433" y="142650"/>
                </a:lnTo>
                <a:lnTo>
                  <a:pt x="166720" y="137608"/>
                </a:lnTo>
                <a:lnTo>
                  <a:pt x="96066" y="126851"/>
                </a:lnTo>
                <a:lnTo>
                  <a:pt x="43712" y="115299"/>
                </a:lnTo>
                <a:lnTo>
                  <a:pt x="2827" y="96748"/>
                </a:lnTo>
                <a:lnTo>
                  <a:pt x="0" y="90299"/>
                </a:lnTo>
                <a:close/>
              </a:path>
            </a:pathLst>
          </a:custGeom>
          <a:ln w="19049">
            <a:solidFill>
              <a:srgbClr val="5EB169"/>
            </a:solidFill>
          </a:ln>
        </p:spPr>
        <p:txBody>
          <a:bodyPr wrap="square" lIns="0" tIns="0" rIns="0" bIns="0" rtlCol="0"/>
          <a:lstStyle/>
          <a:p>
            <a:endParaRPr>
              <a:latin typeface="+mj-lt"/>
            </a:endParaRPr>
          </a:p>
        </p:txBody>
      </p:sp>
      <p:sp>
        <p:nvSpPr>
          <p:cNvPr id="13" name="object 13"/>
          <p:cNvSpPr/>
          <p:nvPr/>
        </p:nvSpPr>
        <p:spPr>
          <a:xfrm>
            <a:off x="3476924" y="5548325"/>
            <a:ext cx="1499870" cy="327025"/>
          </a:xfrm>
          <a:custGeom>
            <a:avLst/>
            <a:gdLst/>
            <a:ahLst/>
            <a:cxnLst/>
            <a:rect l="l" t="t" r="r" b="b"/>
            <a:pathLst>
              <a:path w="1499870" h="327025">
                <a:moveTo>
                  <a:pt x="0" y="163199"/>
                </a:moveTo>
                <a:lnTo>
                  <a:pt x="29944" y="117384"/>
                </a:lnTo>
                <a:lnTo>
                  <a:pt x="80561" y="89524"/>
                </a:lnTo>
                <a:lnTo>
                  <a:pt x="152769" y="64449"/>
                </a:lnTo>
                <a:lnTo>
                  <a:pt x="196184" y="53127"/>
                </a:lnTo>
                <a:lnTo>
                  <a:pt x="244054" y="42706"/>
                </a:lnTo>
                <a:lnTo>
                  <a:pt x="296065" y="33255"/>
                </a:lnTo>
                <a:lnTo>
                  <a:pt x="351903" y="24843"/>
                </a:lnTo>
                <a:lnTo>
                  <a:pt x="411253" y="17537"/>
                </a:lnTo>
                <a:lnTo>
                  <a:pt x="473802" y="11406"/>
                </a:lnTo>
                <a:lnTo>
                  <a:pt x="539236" y="6518"/>
                </a:lnTo>
                <a:lnTo>
                  <a:pt x="607239" y="2942"/>
                </a:lnTo>
                <a:lnTo>
                  <a:pt x="677498" y="747"/>
                </a:lnTo>
                <a:lnTo>
                  <a:pt x="749699" y="0"/>
                </a:lnTo>
                <a:lnTo>
                  <a:pt x="821901" y="747"/>
                </a:lnTo>
                <a:lnTo>
                  <a:pt x="892160" y="2942"/>
                </a:lnTo>
                <a:lnTo>
                  <a:pt x="960163" y="6518"/>
                </a:lnTo>
                <a:lnTo>
                  <a:pt x="1025597" y="11406"/>
                </a:lnTo>
                <a:lnTo>
                  <a:pt x="1088146" y="17537"/>
                </a:lnTo>
                <a:lnTo>
                  <a:pt x="1147496" y="24843"/>
                </a:lnTo>
                <a:lnTo>
                  <a:pt x="1203334" y="33255"/>
                </a:lnTo>
                <a:lnTo>
                  <a:pt x="1255345" y="42706"/>
                </a:lnTo>
                <a:lnTo>
                  <a:pt x="1303215" y="53127"/>
                </a:lnTo>
                <a:lnTo>
                  <a:pt x="1346630" y="64449"/>
                </a:lnTo>
                <a:lnTo>
                  <a:pt x="1385276" y="76604"/>
                </a:lnTo>
                <a:lnTo>
                  <a:pt x="1447002" y="103140"/>
                </a:lnTo>
                <a:lnTo>
                  <a:pt x="1485881" y="132188"/>
                </a:lnTo>
                <a:lnTo>
                  <a:pt x="1499399" y="163199"/>
                </a:lnTo>
                <a:lnTo>
                  <a:pt x="1495967" y="178917"/>
                </a:lnTo>
                <a:lnTo>
                  <a:pt x="1469455" y="209015"/>
                </a:lnTo>
                <a:lnTo>
                  <a:pt x="1418838" y="236875"/>
                </a:lnTo>
                <a:lnTo>
                  <a:pt x="1346630" y="261950"/>
                </a:lnTo>
                <a:lnTo>
                  <a:pt x="1303215" y="273272"/>
                </a:lnTo>
                <a:lnTo>
                  <a:pt x="1255345" y="283693"/>
                </a:lnTo>
                <a:lnTo>
                  <a:pt x="1203334" y="293144"/>
                </a:lnTo>
                <a:lnTo>
                  <a:pt x="1147496" y="301556"/>
                </a:lnTo>
                <a:lnTo>
                  <a:pt x="1088146" y="308862"/>
                </a:lnTo>
                <a:lnTo>
                  <a:pt x="1025597" y="314993"/>
                </a:lnTo>
                <a:lnTo>
                  <a:pt x="960163" y="319881"/>
                </a:lnTo>
                <a:lnTo>
                  <a:pt x="892160" y="323457"/>
                </a:lnTo>
                <a:lnTo>
                  <a:pt x="821901" y="325652"/>
                </a:lnTo>
                <a:lnTo>
                  <a:pt x="749699" y="326399"/>
                </a:lnTo>
                <a:lnTo>
                  <a:pt x="677498" y="325652"/>
                </a:lnTo>
                <a:lnTo>
                  <a:pt x="607239" y="323457"/>
                </a:lnTo>
                <a:lnTo>
                  <a:pt x="539236" y="319881"/>
                </a:lnTo>
                <a:lnTo>
                  <a:pt x="473802" y="314993"/>
                </a:lnTo>
                <a:lnTo>
                  <a:pt x="411253" y="308862"/>
                </a:lnTo>
                <a:lnTo>
                  <a:pt x="351903" y="301556"/>
                </a:lnTo>
                <a:lnTo>
                  <a:pt x="296065" y="293144"/>
                </a:lnTo>
                <a:lnTo>
                  <a:pt x="244054" y="283693"/>
                </a:lnTo>
                <a:lnTo>
                  <a:pt x="196184" y="273272"/>
                </a:lnTo>
                <a:lnTo>
                  <a:pt x="152769" y="261950"/>
                </a:lnTo>
                <a:lnTo>
                  <a:pt x="114123" y="249795"/>
                </a:lnTo>
                <a:lnTo>
                  <a:pt x="52397" y="223259"/>
                </a:lnTo>
                <a:lnTo>
                  <a:pt x="13518" y="194211"/>
                </a:lnTo>
                <a:lnTo>
                  <a:pt x="0" y="163199"/>
                </a:lnTo>
                <a:close/>
              </a:path>
            </a:pathLst>
          </a:custGeom>
          <a:ln w="19049">
            <a:solidFill>
              <a:srgbClr val="5EB169"/>
            </a:solidFill>
          </a:ln>
        </p:spPr>
        <p:txBody>
          <a:bodyPr wrap="square" lIns="0" tIns="0" rIns="0" bIns="0" rtlCol="0"/>
          <a:lstStyle/>
          <a:p>
            <a:endParaRPr>
              <a:latin typeface="+mj-lt"/>
            </a:endParaRPr>
          </a:p>
        </p:txBody>
      </p:sp>
      <p:sp>
        <p:nvSpPr>
          <p:cNvPr id="14" name="object 14"/>
          <p:cNvSpPr/>
          <p:nvPr/>
        </p:nvSpPr>
        <p:spPr>
          <a:xfrm>
            <a:off x="1429224" y="3611874"/>
            <a:ext cx="292100" cy="132080"/>
          </a:xfrm>
          <a:custGeom>
            <a:avLst/>
            <a:gdLst/>
            <a:ahLst/>
            <a:cxnLst/>
            <a:rect l="l" t="t" r="r" b="b"/>
            <a:pathLst>
              <a:path w="292100" h="132079">
                <a:moveTo>
                  <a:pt x="0" y="0"/>
                </a:moveTo>
                <a:lnTo>
                  <a:pt x="291599" y="131999"/>
                </a:lnTo>
              </a:path>
            </a:pathLst>
          </a:custGeom>
          <a:ln w="19049">
            <a:solidFill>
              <a:srgbClr val="FF2600"/>
            </a:solidFill>
          </a:ln>
        </p:spPr>
        <p:txBody>
          <a:bodyPr wrap="square" lIns="0" tIns="0" rIns="0" bIns="0" rtlCol="0"/>
          <a:lstStyle/>
          <a:p>
            <a:endParaRPr>
              <a:latin typeface="+mj-lt"/>
            </a:endParaRPr>
          </a:p>
        </p:txBody>
      </p:sp>
      <p:sp>
        <p:nvSpPr>
          <p:cNvPr id="15" name="object 15"/>
          <p:cNvSpPr/>
          <p:nvPr/>
        </p:nvSpPr>
        <p:spPr>
          <a:xfrm>
            <a:off x="1262624" y="3965924"/>
            <a:ext cx="299085" cy="104139"/>
          </a:xfrm>
          <a:custGeom>
            <a:avLst/>
            <a:gdLst/>
            <a:ahLst/>
            <a:cxnLst/>
            <a:rect l="l" t="t" r="r" b="b"/>
            <a:pathLst>
              <a:path w="299084" h="104139">
                <a:moveTo>
                  <a:pt x="0" y="104100"/>
                </a:moveTo>
                <a:lnTo>
                  <a:pt x="298499" y="0"/>
                </a:lnTo>
              </a:path>
            </a:pathLst>
          </a:custGeom>
          <a:ln w="19049">
            <a:solidFill>
              <a:srgbClr val="FF2600"/>
            </a:solidFill>
          </a:ln>
        </p:spPr>
        <p:txBody>
          <a:bodyPr wrap="square" lIns="0" tIns="0" rIns="0" bIns="0" rtlCol="0"/>
          <a:lstStyle/>
          <a:p>
            <a:endParaRPr>
              <a:latin typeface="+mj-lt"/>
            </a:endParaRPr>
          </a:p>
        </p:txBody>
      </p:sp>
      <p:sp>
        <p:nvSpPr>
          <p:cNvPr id="16" name="object 16"/>
          <p:cNvSpPr/>
          <p:nvPr/>
        </p:nvSpPr>
        <p:spPr>
          <a:xfrm>
            <a:off x="3937849" y="3649724"/>
            <a:ext cx="3134995" cy="497205"/>
          </a:xfrm>
          <a:custGeom>
            <a:avLst/>
            <a:gdLst/>
            <a:ahLst/>
            <a:cxnLst/>
            <a:rect l="l" t="t" r="r" b="b"/>
            <a:pathLst>
              <a:path w="3134995" h="497204">
                <a:moveTo>
                  <a:pt x="0" y="496799"/>
                </a:moveTo>
                <a:lnTo>
                  <a:pt x="3134399" y="0"/>
                </a:lnTo>
              </a:path>
            </a:pathLst>
          </a:custGeom>
          <a:ln w="19049">
            <a:solidFill>
              <a:srgbClr val="5EB169"/>
            </a:solidFill>
          </a:ln>
        </p:spPr>
        <p:txBody>
          <a:bodyPr wrap="square" lIns="0" tIns="0" rIns="0" bIns="0" rtlCol="0"/>
          <a:lstStyle/>
          <a:p>
            <a:endParaRPr>
              <a:latin typeface="+mj-lt"/>
            </a:endParaRPr>
          </a:p>
        </p:txBody>
      </p:sp>
      <p:sp>
        <p:nvSpPr>
          <p:cNvPr id="17" name="object 17"/>
          <p:cNvSpPr/>
          <p:nvPr/>
        </p:nvSpPr>
        <p:spPr>
          <a:xfrm>
            <a:off x="4756741" y="5194425"/>
            <a:ext cx="2489835" cy="401955"/>
          </a:xfrm>
          <a:custGeom>
            <a:avLst/>
            <a:gdLst/>
            <a:ahLst/>
            <a:cxnLst/>
            <a:rect l="l" t="t" r="r" b="b"/>
            <a:pathLst>
              <a:path w="2489834" h="401954">
                <a:moveTo>
                  <a:pt x="0" y="401699"/>
                </a:moveTo>
                <a:lnTo>
                  <a:pt x="2489399" y="0"/>
                </a:lnTo>
              </a:path>
            </a:pathLst>
          </a:custGeom>
          <a:ln w="19049">
            <a:solidFill>
              <a:srgbClr val="5EB169"/>
            </a:solidFill>
          </a:ln>
        </p:spPr>
        <p:txBody>
          <a:bodyPr wrap="square" lIns="0" tIns="0" rIns="0" bIns="0" rtlCol="0"/>
          <a:lstStyle/>
          <a:p>
            <a:endParaRPr>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4142" y="150510"/>
            <a:ext cx="680577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Hands-on exercise: My first job</a:t>
            </a:r>
          </a:p>
        </p:txBody>
      </p:sp>
      <p:sp>
        <p:nvSpPr>
          <p:cNvPr id="3" name="object 3"/>
          <p:cNvSpPr txBox="1"/>
          <p:nvPr/>
        </p:nvSpPr>
        <p:spPr>
          <a:xfrm>
            <a:off x="535924" y="1374126"/>
            <a:ext cx="7917180" cy="939800"/>
          </a:xfrm>
          <a:prstGeom prst="rect">
            <a:avLst/>
          </a:prstGeom>
        </p:spPr>
        <p:txBody>
          <a:bodyPr vert="horz" wrap="square" lIns="0" tIns="12700" rIns="0" bIns="0" rtlCol="0">
            <a:spAutoFit/>
          </a:bodyPr>
          <a:lstStyle/>
          <a:p>
            <a:pPr marL="12700">
              <a:lnSpc>
                <a:spcPct val="100000"/>
              </a:lnSpc>
              <a:spcBef>
                <a:spcPts val="100"/>
              </a:spcBef>
            </a:pPr>
            <a:r>
              <a:rPr sz="2000" b="1" dirty="0">
                <a:latin typeface="+mj-lt"/>
                <a:cs typeface="Calibri" panose="020F0502020204030204"/>
              </a:rPr>
              <a:t>A SLURM job script has two sections:</a:t>
            </a:r>
            <a:endParaRPr sz="2000">
              <a:latin typeface="+mj-lt"/>
              <a:cs typeface="Calibri" panose="020F0502020204030204"/>
            </a:endParaRPr>
          </a:p>
          <a:p>
            <a:pPr marL="891540" indent="-321310">
              <a:lnSpc>
                <a:spcPct val="100000"/>
              </a:lnSpc>
              <a:buAutoNum type="arabicPeriod"/>
              <a:tabLst>
                <a:tab pos="892175" algn="l"/>
              </a:tabLst>
            </a:pPr>
            <a:r>
              <a:rPr sz="2000" b="1" dirty="0">
                <a:latin typeface="+mj-lt"/>
                <a:cs typeface="Calibri" panose="020F0502020204030204"/>
              </a:rPr>
              <a:t>Directives telling SLURM what you would like it to do with this job</a:t>
            </a:r>
            <a:endParaRPr sz="2000">
              <a:latin typeface="+mj-lt"/>
              <a:cs typeface="Calibri" panose="020F0502020204030204"/>
            </a:endParaRPr>
          </a:p>
          <a:p>
            <a:pPr marL="891540" indent="-321310">
              <a:lnSpc>
                <a:spcPct val="100000"/>
              </a:lnSpc>
              <a:buAutoNum type="arabicPeriod"/>
              <a:tabLst>
                <a:tab pos="892175" algn="l"/>
              </a:tabLst>
            </a:pPr>
            <a:r>
              <a:rPr sz="2000" b="1" dirty="0">
                <a:latin typeface="+mj-lt"/>
                <a:cs typeface="Calibri" panose="020F0502020204030204"/>
              </a:rPr>
              <a:t>The script itself - shell commands to run on the ﬁrst compute node</a:t>
            </a:r>
            <a:endParaRPr sz="2000">
              <a:latin typeface="+mj-lt"/>
              <a:cs typeface="Calibri" panose="020F0502020204030204"/>
            </a:endParaRPr>
          </a:p>
        </p:txBody>
      </p:sp>
      <p:sp>
        <p:nvSpPr>
          <p:cNvPr id="4" name="object 4"/>
          <p:cNvSpPr/>
          <p:nvPr/>
        </p:nvSpPr>
        <p:spPr>
          <a:xfrm>
            <a:off x="1791661" y="2734767"/>
            <a:ext cx="5174349" cy="405301"/>
          </a:xfrm>
          <a:prstGeom prst="rect">
            <a:avLst/>
          </a:prstGeom>
          <a:blipFill>
            <a:blip r:embed="rId2" cstate="print"/>
            <a:stretch>
              <a:fillRect/>
            </a:stretch>
          </a:blipFill>
        </p:spPr>
        <p:txBody>
          <a:bodyPr wrap="square" lIns="0" tIns="0" rIns="0" bIns="0" rtlCol="0"/>
          <a:lstStyle/>
          <a:p>
            <a:endParaRPr>
              <a:latin typeface="+mj-lt"/>
            </a:endParaRPr>
          </a:p>
        </p:txBody>
      </p:sp>
      <p:sp>
        <p:nvSpPr>
          <p:cNvPr id="5" name="object 5"/>
          <p:cNvSpPr/>
          <p:nvPr/>
        </p:nvSpPr>
        <p:spPr>
          <a:xfrm>
            <a:off x="1761224" y="3180588"/>
            <a:ext cx="5256349" cy="2943989"/>
          </a:xfrm>
          <a:prstGeom prst="rect">
            <a:avLst/>
          </a:prstGeom>
          <a:blipFill>
            <a:blip r:embed="rId3" cstate="print"/>
            <a:stretch>
              <a:fillRect/>
            </a:stretch>
          </a:blipFill>
        </p:spPr>
        <p:txBody>
          <a:bodyPr wrap="square" lIns="0" tIns="0" rIns="0" bIns="0" rtlCol="0"/>
          <a:lstStyle/>
          <a:p>
            <a:endParaRPr>
              <a:latin typeface="+mj-lt"/>
            </a:endParaRPr>
          </a:p>
        </p:txBody>
      </p:sp>
      <p:sp>
        <p:nvSpPr>
          <p:cNvPr id="6" name="object 6"/>
          <p:cNvSpPr/>
          <p:nvPr/>
        </p:nvSpPr>
        <p:spPr>
          <a:xfrm>
            <a:off x="1609699" y="3324825"/>
            <a:ext cx="2006600" cy="180975"/>
          </a:xfrm>
          <a:custGeom>
            <a:avLst/>
            <a:gdLst/>
            <a:ahLst/>
            <a:cxnLst/>
            <a:rect l="l" t="t" r="r" b="b"/>
            <a:pathLst>
              <a:path w="2006600" h="180975">
                <a:moveTo>
                  <a:pt x="0" y="90299"/>
                </a:moveTo>
                <a:lnTo>
                  <a:pt x="46500" y="63043"/>
                </a:lnTo>
                <a:lnTo>
                  <a:pt x="101951" y="50588"/>
                </a:lnTo>
                <a:lnTo>
                  <a:pt x="176489" y="39128"/>
                </a:lnTo>
                <a:lnTo>
                  <a:pt x="220358" y="33821"/>
                </a:lnTo>
                <a:lnTo>
                  <a:pt x="268331" y="28824"/>
                </a:lnTo>
                <a:lnTo>
                  <a:pt x="320183" y="24156"/>
                </a:lnTo>
                <a:lnTo>
                  <a:pt x="375693" y="19837"/>
                </a:lnTo>
                <a:lnTo>
                  <a:pt x="434636" y="15888"/>
                </a:lnTo>
                <a:lnTo>
                  <a:pt x="496791" y="12328"/>
                </a:lnTo>
                <a:lnTo>
                  <a:pt x="561933" y="9178"/>
                </a:lnTo>
                <a:lnTo>
                  <a:pt x="629841" y="6457"/>
                </a:lnTo>
                <a:lnTo>
                  <a:pt x="700291" y="4186"/>
                </a:lnTo>
                <a:lnTo>
                  <a:pt x="773059" y="2384"/>
                </a:lnTo>
                <a:lnTo>
                  <a:pt x="847924" y="1073"/>
                </a:lnTo>
                <a:lnTo>
                  <a:pt x="924662" y="271"/>
                </a:lnTo>
                <a:lnTo>
                  <a:pt x="1003049" y="0"/>
                </a:lnTo>
                <a:lnTo>
                  <a:pt x="1081437" y="271"/>
                </a:lnTo>
                <a:lnTo>
                  <a:pt x="1158175" y="1073"/>
                </a:lnTo>
                <a:lnTo>
                  <a:pt x="1233039" y="2384"/>
                </a:lnTo>
                <a:lnTo>
                  <a:pt x="1305808" y="4186"/>
                </a:lnTo>
                <a:lnTo>
                  <a:pt x="1376257" y="6457"/>
                </a:lnTo>
                <a:lnTo>
                  <a:pt x="1444165" y="9178"/>
                </a:lnTo>
                <a:lnTo>
                  <a:pt x="1509308" y="12328"/>
                </a:lnTo>
                <a:lnTo>
                  <a:pt x="1571462" y="15888"/>
                </a:lnTo>
                <a:lnTo>
                  <a:pt x="1630406" y="19837"/>
                </a:lnTo>
                <a:lnTo>
                  <a:pt x="1685915" y="24156"/>
                </a:lnTo>
                <a:lnTo>
                  <a:pt x="1737768" y="28824"/>
                </a:lnTo>
                <a:lnTo>
                  <a:pt x="1785740" y="33821"/>
                </a:lnTo>
                <a:lnTo>
                  <a:pt x="1829610" y="39128"/>
                </a:lnTo>
                <a:lnTo>
                  <a:pt x="1869153" y="44723"/>
                </a:lnTo>
                <a:lnTo>
                  <a:pt x="1934370" y="56701"/>
                </a:lnTo>
                <a:lnTo>
                  <a:pt x="1979608" y="69594"/>
                </a:lnTo>
                <a:lnTo>
                  <a:pt x="2006099" y="90299"/>
                </a:lnTo>
                <a:lnTo>
                  <a:pt x="2003081" y="97356"/>
                </a:lnTo>
                <a:lnTo>
                  <a:pt x="1959598" y="117555"/>
                </a:lnTo>
                <a:lnTo>
                  <a:pt x="1904148" y="130011"/>
                </a:lnTo>
                <a:lnTo>
                  <a:pt x="1829610" y="141471"/>
                </a:lnTo>
                <a:lnTo>
                  <a:pt x="1785740" y="146777"/>
                </a:lnTo>
                <a:lnTo>
                  <a:pt x="1737768" y="151775"/>
                </a:lnTo>
                <a:lnTo>
                  <a:pt x="1685915" y="156443"/>
                </a:lnTo>
                <a:lnTo>
                  <a:pt x="1630406" y="160761"/>
                </a:lnTo>
                <a:lnTo>
                  <a:pt x="1571462" y="164711"/>
                </a:lnTo>
                <a:lnTo>
                  <a:pt x="1509308" y="168271"/>
                </a:lnTo>
                <a:lnTo>
                  <a:pt x="1444165" y="171421"/>
                </a:lnTo>
                <a:lnTo>
                  <a:pt x="1376257" y="174142"/>
                </a:lnTo>
                <a:lnTo>
                  <a:pt x="1305808" y="176413"/>
                </a:lnTo>
                <a:lnTo>
                  <a:pt x="1233039" y="178214"/>
                </a:lnTo>
                <a:lnTo>
                  <a:pt x="1158175" y="179526"/>
                </a:lnTo>
                <a:lnTo>
                  <a:pt x="1081437" y="180328"/>
                </a:lnTo>
                <a:lnTo>
                  <a:pt x="1003049" y="180599"/>
                </a:lnTo>
                <a:lnTo>
                  <a:pt x="924662" y="180328"/>
                </a:lnTo>
                <a:lnTo>
                  <a:pt x="847924" y="179526"/>
                </a:lnTo>
                <a:lnTo>
                  <a:pt x="773059" y="178214"/>
                </a:lnTo>
                <a:lnTo>
                  <a:pt x="700291" y="176413"/>
                </a:lnTo>
                <a:lnTo>
                  <a:pt x="629841" y="174142"/>
                </a:lnTo>
                <a:lnTo>
                  <a:pt x="561933" y="171421"/>
                </a:lnTo>
                <a:lnTo>
                  <a:pt x="496791" y="168271"/>
                </a:lnTo>
                <a:lnTo>
                  <a:pt x="434636" y="164711"/>
                </a:lnTo>
                <a:lnTo>
                  <a:pt x="375693" y="160761"/>
                </a:lnTo>
                <a:lnTo>
                  <a:pt x="320183" y="156443"/>
                </a:lnTo>
                <a:lnTo>
                  <a:pt x="268331" y="151775"/>
                </a:lnTo>
                <a:lnTo>
                  <a:pt x="220358" y="146777"/>
                </a:lnTo>
                <a:lnTo>
                  <a:pt x="176489" y="141471"/>
                </a:lnTo>
                <a:lnTo>
                  <a:pt x="136945" y="135876"/>
                </a:lnTo>
                <a:lnTo>
                  <a:pt x="71728" y="123898"/>
                </a:lnTo>
                <a:lnTo>
                  <a:pt x="26491" y="111004"/>
                </a:lnTo>
                <a:lnTo>
                  <a:pt x="0" y="90299"/>
                </a:lnTo>
                <a:close/>
              </a:path>
            </a:pathLst>
          </a:custGeom>
          <a:ln w="19049">
            <a:solidFill>
              <a:srgbClr val="A13B2A"/>
            </a:solidFill>
          </a:ln>
        </p:spPr>
        <p:txBody>
          <a:bodyPr wrap="square" lIns="0" tIns="0" rIns="0" bIns="0" rtlCol="0"/>
          <a:lstStyle/>
          <a:p>
            <a:endParaRPr>
              <a:latin typeface="+mj-lt"/>
            </a:endParaRPr>
          </a:p>
        </p:txBody>
      </p:sp>
      <p:sp>
        <p:nvSpPr>
          <p:cNvPr id="7" name="object 7"/>
          <p:cNvSpPr/>
          <p:nvPr/>
        </p:nvSpPr>
        <p:spPr>
          <a:xfrm>
            <a:off x="1434999" y="4294200"/>
            <a:ext cx="3659504" cy="770255"/>
          </a:xfrm>
          <a:custGeom>
            <a:avLst/>
            <a:gdLst/>
            <a:ahLst/>
            <a:cxnLst/>
            <a:rect l="l" t="t" r="r" b="b"/>
            <a:pathLst>
              <a:path w="3659504" h="770254">
                <a:moveTo>
                  <a:pt x="0" y="384899"/>
                </a:moveTo>
                <a:lnTo>
                  <a:pt x="12910" y="338935"/>
                </a:lnTo>
                <a:lnTo>
                  <a:pt x="50658" y="294574"/>
                </a:lnTo>
                <a:lnTo>
                  <a:pt x="88893" y="266044"/>
                </a:lnTo>
                <a:lnTo>
                  <a:pt x="137074" y="238457"/>
                </a:lnTo>
                <a:lnTo>
                  <a:pt x="194764" y="211904"/>
                </a:lnTo>
                <a:lnTo>
                  <a:pt x="261525" y="186477"/>
                </a:lnTo>
                <a:lnTo>
                  <a:pt x="298170" y="174216"/>
                </a:lnTo>
                <a:lnTo>
                  <a:pt x="336920" y="162270"/>
                </a:lnTo>
                <a:lnTo>
                  <a:pt x="377718" y="150652"/>
                </a:lnTo>
                <a:lnTo>
                  <a:pt x="420512" y="139373"/>
                </a:lnTo>
                <a:lnTo>
                  <a:pt x="465245" y="128444"/>
                </a:lnTo>
                <a:lnTo>
                  <a:pt x="511863" y="117878"/>
                </a:lnTo>
                <a:lnTo>
                  <a:pt x="560312" y="107685"/>
                </a:lnTo>
                <a:lnTo>
                  <a:pt x="610537" y="97878"/>
                </a:lnTo>
                <a:lnTo>
                  <a:pt x="662483" y="88467"/>
                </a:lnTo>
                <a:lnTo>
                  <a:pt x="716096" y="79464"/>
                </a:lnTo>
                <a:lnTo>
                  <a:pt x="771321" y="70881"/>
                </a:lnTo>
                <a:lnTo>
                  <a:pt x="828103" y="62729"/>
                </a:lnTo>
                <a:lnTo>
                  <a:pt x="886388" y="55019"/>
                </a:lnTo>
                <a:lnTo>
                  <a:pt x="946120" y="47764"/>
                </a:lnTo>
                <a:lnTo>
                  <a:pt x="1007247" y="40974"/>
                </a:lnTo>
                <a:lnTo>
                  <a:pt x="1069711" y="34661"/>
                </a:lnTo>
                <a:lnTo>
                  <a:pt x="1133460" y="28837"/>
                </a:lnTo>
                <a:lnTo>
                  <a:pt x="1198439" y="23513"/>
                </a:lnTo>
                <a:lnTo>
                  <a:pt x="1264592" y="18701"/>
                </a:lnTo>
                <a:lnTo>
                  <a:pt x="1331865" y="14412"/>
                </a:lnTo>
                <a:lnTo>
                  <a:pt x="1400204" y="10657"/>
                </a:lnTo>
                <a:lnTo>
                  <a:pt x="1469553" y="7448"/>
                </a:lnTo>
                <a:lnTo>
                  <a:pt x="1539859" y="4798"/>
                </a:lnTo>
                <a:lnTo>
                  <a:pt x="1611066" y="2716"/>
                </a:lnTo>
                <a:lnTo>
                  <a:pt x="1683119" y="1214"/>
                </a:lnTo>
                <a:lnTo>
                  <a:pt x="1755965" y="305"/>
                </a:lnTo>
                <a:lnTo>
                  <a:pt x="1829549" y="0"/>
                </a:lnTo>
                <a:lnTo>
                  <a:pt x="1903132" y="305"/>
                </a:lnTo>
                <a:lnTo>
                  <a:pt x="1975978" y="1214"/>
                </a:lnTo>
                <a:lnTo>
                  <a:pt x="2048032" y="2716"/>
                </a:lnTo>
                <a:lnTo>
                  <a:pt x="2119239" y="4798"/>
                </a:lnTo>
                <a:lnTo>
                  <a:pt x="2189545" y="7448"/>
                </a:lnTo>
                <a:lnTo>
                  <a:pt x="2258894" y="10657"/>
                </a:lnTo>
                <a:lnTo>
                  <a:pt x="2327233" y="14412"/>
                </a:lnTo>
                <a:lnTo>
                  <a:pt x="2394506" y="18701"/>
                </a:lnTo>
                <a:lnTo>
                  <a:pt x="2460659" y="23513"/>
                </a:lnTo>
                <a:lnTo>
                  <a:pt x="2525637" y="28837"/>
                </a:lnTo>
                <a:lnTo>
                  <a:pt x="2589386" y="34661"/>
                </a:lnTo>
                <a:lnTo>
                  <a:pt x="2651851" y="40974"/>
                </a:lnTo>
                <a:lnTo>
                  <a:pt x="2712977" y="47764"/>
                </a:lnTo>
                <a:lnTo>
                  <a:pt x="2772710" y="55019"/>
                </a:lnTo>
                <a:lnTo>
                  <a:pt x="2830995" y="62729"/>
                </a:lnTo>
                <a:lnTo>
                  <a:pt x="2887777" y="70881"/>
                </a:lnTo>
                <a:lnTo>
                  <a:pt x="2943002" y="79464"/>
                </a:lnTo>
                <a:lnTo>
                  <a:pt x="2996615" y="88467"/>
                </a:lnTo>
                <a:lnTo>
                  <a:pt x="3048561" y="97878"/>
                </a:lnTo>
                <a:lnTo>
                  <a:pt x="3098786" y="107685"/>
                </a:lnTo>
                <a:lnTo>
                  <a:pt x="3147235" y="117878"/>
                </a:lnTo>
                <a:lnTo>
                  <a:pt x="3193853" y="128444"/>
                </a:lnTo>
                <a:lnTo>
                  <a:pt x="3238586" y="139373"/>
                </a:lnTo>
                <a:lnTo>
                  <a:pt x="3281379" y="150652"/>
                </a:lnTo>
                <a:lnTo>
                  <a:pt x="3322178" y="162270"/>
                </a:lnTo>
                <a:lnTo>
                  <a:pt x="3360927" y="174216"/>
                </a:lnTo>
                <a:lnTo>
                  <a:pt x="3397573" y="186477"/>
                </a:lnTo>
                <a:lnTo>
                  <a:pt x="3464334" y="211904"/>
                </a:lnTo>
                <a:lnTo>
                  <a:pt x="3522024" y="238457"/>
                </a:lnTo>
                <a:lnTo>
                  <a:pt x="3570205" y="266044"/>
                </a:lnTo>
                <a:lnTo>
                  <a:pt x="3608440" y="294574"/>
                </a:lnTo>
                <a:lnTo>
                  <a:pt x="3636292" y="323954"/>
                </a:lnTo>
                <a:lnTo>
                  <a:pt x="3657646" y="369419"/>
                </a:lnTo>
                <a:lnTo>
                  <a:pt x="3659099" y="384899"/>
                </a:lnTo>
                <a:lnTo>
                  <a:pt x="3657646" y="400380"/>
                </a:lnTo>
                <a:lnTo>
                  <a:pt x="3636292" y="445844"/>
                </a:lnTo>
                <a:lnTo>
                  <a:pt x="3608440" y="475225"/>
                </a:lnTo>
                <a:lnTo>
                  <a:pt x="3570205" y="503755"/>
                </a:lnTo>
                <a:lnTo>
                  <a:pt x="3522024" y="531342"/>
                </a:lnTo>
                <a:lnTo>
                  <a:pt x="3464334" y="557895"/>
                </a:lnTo>
                <a:lnTo>
                  <a:pt x="3397573" y="583321"/>
                </a:lnTo>
                <a:lnTo>
                  <a:pt x="3360927" y="595583"/>
                </a:lnTo>
                <a:lnTo>
                  <a:pt x="3322178" y="607529"/>
                </a:lnTo>
                <a:lnTo>
                  <a:pt x="3281379" y="619147"/>
                </a:lnTo>
                <a:lnTo>
                  <a:pt x="3238586" y="630426"/>
                </a:lnTo>
                <a:lnTo>
                  <a:pt x="3193853" y="641355"/>
                </a:lnTo>
                <a:lnTo>
                  <a:pt x="3147235" y="651921"/>
                </a:lnTo>
                <a:lnTo>
                  <a:pt x="3098786" y="662114"/>
                </a:lnTo>
                <a:lnTo>
                  <a:pt x="3048561" y="671921"/>
                </a:lnTo>
                <a:lnTo>
                  <a:pt x="2996615" y="681332"/>
                </a:lnTo>
                <a:lnTo>
                  <a:pt x="2943002" y="690335"/>
                </a:lnTo>
                <a:lnTo>
                  <a:pt x="2887777" y="698918"/>
                </a:lnTo>
                <a:lnTo>
                  <a:pt x="2830995" y="707070"/>
                </a:lnTo>
                <a:lnTo>
                  <a:pt x="2772710" y="714780"/>
                </a:lnTo>
                <a:lnTo>
                  <a:pt x="2712977" y="722035"/>
                </a:lnTo>
                <a:lnTo>
                  <a:pt x="2651851" y="728825"/>
                </a:lnTo>
                <a:lnTo>
                  <a:pt x="2589386" y="735137"/>
                </a:lnTo>
                <a:lnTo>
                  <a:pt x="2525637" y="740962"/>
                </a:lnTo>
                <a:lnTo>
                  <a:pt x="2460659" y="746286"/>
                </a:lnTo>
                <a:lnTo>
                  <a:pt x="2394506" y="751098"/>
                </a:lnTo>
                <a:lnTo>
                  <a:pt x="2327233" y="755387"/>
                </a:lnTo>
                <a:lnTo>
                  <a:pt x="2258894" y="759142"/>
                </a:lnTo>
                <a:lnTo>
                  <a:pt x="2189545" y="762350"/>
                </a:lnTo>
                <a:lnTo>
                  <a:pt x="2119239" y="765001"/>
                </a:lnTo>
                <a:lnTo>
                  <a:pt x="2048032" y="767083"/>
                </a:lnTo>
                <a:lnTo>
                  <a:pt x="1975978" y="768585"/>
                </a:lnTo>
                <a:lnTo>
                  <a:pt x="1903132" y="769494"/>
                </a:lnTo>
                <a:lnTo>
                  <a:pt x="1829549" y="769799"/>
                </a:lnTo>
                <a:lnTo>
                  <a:pt x="1755965" y="769494"/>
                </a:lnTo>
                <a:lnTo>
                  <a:pt x="1683119" y="768585"/>
                </a:lnTo>
                <a:lnTo>
                  <a:pt x="1611066" y="767083"/>
                </a:lnTo>
                <a:lnTo>
                  <a:pt x="1539859" y="765001"/>
                </a:lnTo>
                <a:lnTo>
                  <a:pt x="1469553" y="762350"/>
                </a:lnTo>
                <a:lnTo>
                  <a:pt x="1400204" y="759142"/>
                </a:lnTo>
                <a:lnTo>
                  <a:pt x="1331865" y="755387"/>
                </a:lnTo>
                <a:lnTo>
                  <a:pt x="1264592" y="751098"/>
                </a:lnTo>
                <a:lnTo>
                  <a:pt x="1198439" y="746286"/>
                </a:lnTo>
                <a:lnTo>
                  <a:pt x="1133460" y="740962"/>
                </a:lnTo>
                <a:lnTo>
                  <a:pt x="1069711" y="735137"/>
                </a:lnTo>
                <a:lnTo>
                  <a:pt x="1007247" y="728825"/>
                </a:lnTo>
                <a:lnTo>
                  <a:pt x="946120" y="722035"/>
                </a:lnTo>
                <a:lnTo>
                  <a:pt x="886388" y="714780"/>
                </a:lnTo>
                <a:lnTo>
                  <a:pt x="828103" y="707070"/>
                </a:lnTo>
                <a:lnTo>
                  <a:pt x="771321" y="698918"/>
                </a:lnTo>
                <a:lnTo>
                  <a:pt x="716096" y="690335"/>
                </a:lnTo>
                <a:lnTo>
                  <a:pt x="662483" y="681332"/>
                </a:lnTo>
                <a:lnTo>
                  <a:pt x="610537" y="671921"/>
                </a:lnTo>
                <a:lnTo>
                  <a:pt x="560312" y="662114"/>
                </a:lnTo>
                <a:lnTo>
                  <a:pt x="511863" y="651921"/>
                </a:lnTo>
                <a:lnTo>
                  <a:pt x="465245" y="641355"/>
                </a:lnTo>
                <a:lnTo>
                  <a:pt x="420512" y="630426"/>
                </a:lnTo>
                <a:lnTo>
                  <a:pt x="377718" y="619147"/>
                </a:lnTo>
                <a:lnTo>
                  <a:pt x="336920" y="607529"/>
                </a:lnTo>
                <a:lnTo>
                  <a:pt x="298170" y="595583"/>
                </a:lnTo>
                <a:lnTo>
                  <a:pt x="261525" y="583321"/>
                </a:lnTo>
                <a:lnTo>
                  <a:pt x="194764" y="557895"/>
                </a:lnTo>
                <a:lnTo>
                  <a:pt x="137074" y="531342"/>
                </a:lnTo>
                <a:lnTo>
                  <a:pt x="88893" y="503755"/>
                </a:lnTo>
                <a:lnTo>
                  <a:pt x="50658" y="475225"/>
                </a:lnTo>
                <a:lnTo>
                  <a:pt x="22806" y="445844"/>
                </a:lnTo>
                <a:lnTo>
                  <a:pt x="1452" y="400380"/>
                </a:lnTo>
                <a:lnTo>
                  <a:pt x="0" y="384899"/>
                </a:lnTo>
                <a:close/>
              </a:path>
            </a:pathLst>
          </a:custGeom>
          <a:ln w="19049">
            <a:solidFill>
              <a:srgbClr val="A13B2A"/>
            </a:solidFill>
          </a:ln>
        </p:spPr>
        <p:txBody>
          <a:bodyPr wrap="square" lIns="0" tIns="0" rIns="0" bIns="0" rtlCol="0"/>
          <a:lstStyle/>
          <a:p>
            <a:endParaRPr>
              <a:latin typeface="+mj-lt"/>
            </a:endParaRPr>
          </a:p>
        </p:txBody>
      </p:sp>
      <p:sp>
        <p:nvSpPr>
          <p:cNvPr id="8" name="object 8"/>
          <p:cNvSpPr/>
          <p:nvPr/>
        </p:nvSpPr>
        <p:spPr>
          <a:xfrm>
            <a:off x="1761224" y="5016100"/>
            <a:ext cx="854075" cy="410209"/>
          </a:xfrm>
          <a:custGeom>
            <a:avLst/>
            <a:gdLst/>
            <a:ahLst/>
            <a:cxnLst/>
            <a:rect l="l" t="t" r="r" b="b"/>
            <a:pathLst>
              <a:path w="854075" h="410210">
                <a:moveTo>
                  <a:pt x="0" y="205049"/>
                </a:moveTo>
                <a:lnTo>
                  <a:pt x="18068" y="145828"/>
                </a:lnTo>
                <a:lnTo>
                  <a:pt x="68752" y="93398"/>
                </a:lnTo>
                <a:lnTo>
                  <a:pt x="104674" y="70522"/>
                </a:lnTo>
                <a:lnTo>
                  <a:pt x="146770" y="50295"/>
                </a:lnTo>
                <a:lnTo>
                  <a:pt x="194380" y="33034"/>
                </a:lnTo>
                <a:lnTo>
                  <a:pt x="246842" y="19057"/>
                </a:lnTo>
                <a:lnTo>
                  <a:pt x="303498" y="8681"/>
                </a:lnTo>
                <a:lnTo>
                  <a:pt x="363687" y="2223"/>
                </a:lnTo>
                <a:lnTo>
                  <a:pt x="426749" y="0"/>
                </a:lnTo>
                <a:lnTo>
                  <a:pt x="489811" y="2223"/>
                </a:lnTo>
                <a:lnTo>
                  <a:pt x="550000" y="8681"/>
                </a:lnTo>
                <a:lnTo>
                  <a:pt x="606656" y="19057"/>
                </a:lnTo>
                <a:lnTo>
                  <a:pt x="659119" y="33034"/>
                </a:lnTo>
                <a:lnTo>
                  <a:pt x="706729" y="50295"/>
                </a:lnTo>
                <a:lnTo>
                  <a:pt x="748825" y="70522"/>
                </a:lnTo>
                <a:lnTo>
                  <a:pt x="784747" y="93398"/>
                </a:lnTo>
                <a:lnTo>
                  <a:pt x="813836" y="118606"/>
                </a:lnTo>
                <a:lnTo>
                  <a:pt x="848872" y="174749"/>
                </a:lnTo>
                <a:lnTo>
                  <a:pt x="853499" y="205049"/>
                </a:lnTo>
                <a:lnTo>
                  <a:pt x="848872" y="235350"/>
                </a:lnTo>
                <a:lnTo>
                  <a:pt x="813836" y="291493"/>
                </a:lnTo>
                <a:lnTo>
                  <a:pt x="784747" y="316701"/>
                </a:lnTo>
                <a:lnTo>
                  <a:pt x="748825" y="339577"/>
                </a:lnTo>
                <a:lnTo>
                  <a:pt x="706729" y="359804"/>
                </a:lnTo>
                <a:lnTo>
                  <a:pt x="659119" y="377065"/>
                </a:lnTo>
                <a:lnTo>
                  <a:pt x="606656" y="391042"/>
                </a:lnTo>
                <a:lnTo>
                  <a:pt x="550000" y="401418"/>
                </a:lnTo>
                <a:lnTo>
                  <a:pt x="489811" y="407876"/>
                </a:lnTo>
                <a:lnTo>
                  <a:pt x="426749" y="410099"/>
                </a:lnTo>
                <a:lnTo>
                  <a:pt x="363687" y="407876"/>
                </a:lnTo>
                <a:lnTo>
                  <a:pt x="303498" y="401418"/>
                </a:lnTo>
                <a:lnTo>
                  <a:pt x="246842" y="391042"/>
                </a:lnTo>
                <a:lnTo>
                  <a:pt x="194380" y="377065"/>
                </a:lnTo>
                <a:lnTo>
                  <a:pt x="146770" y="359804"/>
                </a:lnTo>
                <a:lnTo>
                  <a:pt x="104674" y="339577"/>
                </a:lnTo>
                <a:lnTo>
                  <a:pt x="68752" y="316701"/>
                </a:lnTo>
                <a:lnTo>
                  <a:pt x="39663" y="291493"/>
                </a:lnTo>
                <a:lnTo>
                  <a:pt x="4627" y="235350"/>
                </a:lnTo>
                <a:lnTo>
                  <a:pt x="0" y="205049"/>
                </a:lnTo>
                <a:close/>
              </a:path>
            </a:pathLst>
          </a:custGeom>
          <a:ln w="19049">
            <a:solidFill>
              <a:srgbClr val="A13B2A"/>
            </a:solidFill>
          </a:ln>
        </p:spPr>
        <p:txBody>
          <a:bodyPr wrap="square" lIns="0" tIns="0" rIns="0" bIns="0" rtlCol="0"/>
          <a:lstStyle/>
          <a:p>
            <a:endParaRPr>
              <a:latin typeface="+mj-lt"/>
            </a:endParaRPr>
          </a:p>
        </p:txBody>
      </p:sp>
      <p:sp>
        <p:nvSpPr>
          <p:cNvPr id="9" name="object 9"/>
          <p:cNvSpPr txBox="1"/>
          <p:nvPr/>
        </p:nvSpPr>
        <p:spPr>
          <a:xfrm>
            <a:off x="133674" y="2974925"/>
            <a:ext cx="1310005" cy="2845435"/>
          </a:xfrm>
          <a:prstGeom prst="rect">
            <a:avLst/>
          </a:prstGeom>
        </p:spPr>
        <p:txBody>
          <a:bodyPr vert="horz" wrap="square" lIns="0" tIns="15875" rIns="0" bIns="0" rtlCol="0">
            <a:spAutoFit/>
          </a:bodyPr>
          <a:lstStyle/>
          <a:p>
            <a:pPr marL="12700" marR="5080">
              <a:lnSpc>
                <a:spcPct val="99000"/>
              </a:lnSpc>
              <a:spcBef>
                <a:spcPts val="125"/>
              </a:spcBef>
            </a:pPr>
            <a:r>
              <a:rPr sz="1800" dirty="0">
                <a:latin typeface="+mj-lt"/>
                <a:cs typeface="Calibri" panose="020F0502020204030204"/>
              </a:rPr>
              <a:t>Make starting  environment  like my login  environment</a:t>
            </a:r>
            <a:endParaRPr sz="1800">
              <a:latin typeface="+mj-lt"/>
              <a:cs typeface="Calibri" panose="020F0502020204030204"/>
            </a:endParaRPr>
          </a:p>
          <a:p>
            <a:pPr marL="12700">
              <a:lnSpc>
                <a:spcPts val="2130"/>
              </a:lnSpc>
              <a:spcBef>
                <a:spcPts val="1790"/>
              </a:spcBef>
            </a:pPr>
            <a:r>
              <a:rPr sz="1800" dirty="0">
                <a:latin typeface="+mj-lt"/>
                <a:cs typeface="Calibri" panose="020F0502020204030204"/>
              </a:rPr>
              <a:t>Run from</a:t>
            </a:r>
            <a:endParaRPr sz="1800">
              <a:latin typeface="+mj-lt"/>
              <a:cs typeface="Calibri" panose="020F0502020204030204"/>
            </a:endParaRPr>
          </a:p>
          <a:p>
            <a:pPr marL="12700">
              <a:lnSpc>
                <a:spcPts val="2130"/>
              </a:lnSpc>
            </a:pPr>
            <a:r>
              <a:rPr sz="1800" dirty="0">
                <a:latin typeface="+mj-lt"/>
                <a:cs typeface="Calibri" panose="020F0502020204030204"/>
              </a:rPr>
              <a:t>$SCRATCH</a:t>
            </a:r>
            <a:endParaRPr sz="1800">
              <a:latin typeface="+mj-lt"/>
              <a:cs typeface="Calibri" panose="020F0502020204030204"/>
            </a:endParaRPr>
          </a:p>
          <a:p>
            <a:pPr marL="12700" marR="153670">
              <a:lnSpc>
                <a:spcPct val="100000"/>
              </a:lnSpc>
              <a:spcBef>
                <a:spcPts val="1145"/>
              </a:spcBef>
            </a:pPr>
            <a:r>
              <a:rPr sz="1800" dirty="0">
                <a:latin typeface="+mj-lt"/>
                <a:cs typeface="Calibri" panose="020F0502020204030204"/>
              </a:rPr>
              <a:t>Start 4 tasks  across my  nodes</a:t>
            </a:r>
            <a:endParaRPr sz="1800">
              <a:latin typeface="+mj-lt"/>
              <a:cs typeface="Calibri" panose="020F0502020204030204"/>
            </a:endParaRPr>
          </a:p>
        </p:txBody>
      </p:sp>
      <p:sp>
        <p:nvSpPr>
          <p:cNvPr id="10" name="object 10"/>
          <p:cNvSpPr/>
          <p:nvPr/>
        </p:nvSpPr>
        <p:spPr>
          <a:xfrm>
            <a:off x="2928524" y="5515550"/>
            <a:ext cx="562610" cy="410209"/>
          </a:xfrm>
          <a:custGeom>
            <a:avLst/>
            <a:gdLst/>
            <a:ahLst/>
            <a:cxnLst/>
            <a:rect l="l" t="t" r="r" b="b"/>
            <a:pathLst>
              <a:path w="562610" h="410210">
                <a:moveTo>
                  <a:pt x="0" y="205049"/>
                </a:moveTo>
                <a:lnTo>
                  <a:pt x="5710" y="163725"/>
                </a:lnTo>
                <a:lnTo>
                  <a:pt x="22090" y="125235"/>
                </a:lnTo>
                <a:lnTo>
                  <a:pt x="48007" y="90404"/>
                </a:lnTo>
                <a:lnTo>
                  <a:pt x="82332" y="60057"/>
                </a:lnTo>
                <a:lnTo>
                  <a:pt x="123934" y="35019"/>
                </a:lnTo>
                <a:lnTo>
                  <a:pt x="171683" y="16113"/>
                </a:lnTo>
                <a:lnTo>
                  <a:pt x="224448" y="4165"/>
                </a:lnTo>
                <a:lnTo>
                  <a:pt x="281099" y="0"/>
                </a:lnTo>
                <a:lnTo>
                  <a:pt x="337751" y="4165"/>
                </a:lnTo>
                <a:lnTo>
                  <a:pt x="390516" y="16113"/>
                </a:lnTo>
                <a:lnTo>
                  <a:pt x="438265" y="35019"/>
                </a:lnTo>
                <a:lnTo>
                  <a:pt x="479867" y="60057"/>
                </a:lnTo>
                <a:lnTo>
                  <a:pt x="514192" y="90404"/>
                </a:lnTo>
                <a:lnTo>
                  <a:pt x="540109" y="125235"/>
                </a:lnTo>
                <a:lnTo>
                  <a:pt x="556489" y="163725"/>
                </a:lnTo>
                <a:lnTo>
                  <a:pt x="562199" y="205049"/>
                </a:lnTo>
                <a:lnTo>
                  <a:pt x="556489" y="246374"/>
                </a:lnTo>
                <a:lnTo>
                  <a:pt x="540109" y="284864"/>
                </a:lnTo>
                <a:lnTo>
                  <a:pt x="514192" y="319695"/>
                </a:lnTo>
                <a:lnTo>
                  <a:pt x="479867" y="350042"/>
                </a:lnTo>
                <a:lnTo>
                  <a:pt x="438265" y="375080"/>
                </a:lnTo>
                <a:lnTo>
                  <a:pt x="390516" y="393986"/>
                </a:lnTo>
                <a:lnTo>
                  <a:pt x="337751" y="405934"/>
                </a:lnTo>
                <a:lnTo>
                  <a:pt x="281099" y="410099"/>
                </a:lnTo>
                <a:lnTo>
                  <a:pt x="224448" y="405934"/>
                </a:lnTo>
                <a:lnTo>
                  <a:pt x="171683" y="393986"/>
                </a:lnTo>
                <a:lnTo>
                  <a:pt x="123934" y="375080"/>
                </a:lnTo>
                <a:lnTo>
                  <a:pt x="82332" y="350042"/>
                </a:lnTo>
                <a:lnTo>
                  <a:pt x="48007" y="319695"/>
                </a:lnTo>
                <a:lnTo>
                  <a:pt x="22090" y="284864"/>
                </a:lnTo>
                <a:lnTo>
                  <a:pt x="5710" y="246374"/>
                </a:lnTo>
                <a:lnTo>
                  <a:pt x="0" y="205049"/>
                </a:lnTo>
                <a:close/>
              </a:path>
            </a:pathLst>
          </a:custGeom>
          <a:ln w="19049">
            <a:solidFill>
              <a:srgbClr val="A13B2A"/>
            </a:solidFill>
          </a:ln>
        </p:spPr>
        <p:txBody>
          <a:bodyPr wrap="square" lIns="0" tIns="0" rIns="0" bIns="0" rtlCol="0"/>
          <a:lstStyle/>
          <a:p>
            <a:endParaRPr>
              <a:latin typeface="+mj-lt"/>
            </a:endParaRPr>
          </a:p>
        </p:txBody>
      </p:sp>
      <p:sp>
        <p:nvSpPr>
          <p:cNvPr id="11" name="object 11"/>
          <p:cNvSpPr txBox="1"/>
          <p:nvPr/>
        </p:nvSpPr>
        <p:spPr>
          <a:xfrm>
            <a:off x="7132899" y="5552611"/>
            <a:ext cx="1264920" cy="845819"/>
          </a:xfrm>
          <a:prstGeom prst="rect">
            <a:avLst/>
          </a:prstGeom>
        </p:spPr>
        <p:txBody>
          <a:bodyPr vert="horz" wrap="square" lIns="0" tIns="13970" rIns="0" bIns="0" rtlCol="0">
            <a:spAutoFit/>
          </a:bodyPr>
          <a:lstStyle/>
          <a:p>
            <a:pPr marL="12700" marR="5080">
              <a:lnSpc>
                <a:spcPct val="100000"/>
              </a:lnSpc>
              <a:spcBef>
                <a:spcPts val="110"/>
              </a:spcBef>
            </a:pPr>
            <a:r>
              <a:rPr sz="1800" dirty="0">
                <a:latin typeface="+mj-lt"/>
                <a:cs typeface="Calibri" panose="020F0502020204030204"/>
              </a:rPr>
              <a:t>“sbatch”  submits a job  script</a:t>
            </a:r>
            <a:endParaRPr sz="1800">
              <a:latin typeface="+mj-lt"/>
              <a:cs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3367" y="130190"/>
            <a:ext cx="6454082"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Running jobs – key points</a:t>
            </a:r>
          </a:p>
        </p:txBody>
      </p:sp>
      <p:sp>
        <p:nvSpPr>
          <p:cNvPr id="3" name="object 3"/>
          <p:cNvSpPr txBox="1"/>
          <p:nvPr/>
        </p:nvSpPr>
        <p:spPr>
          <a:xfrm>
            <a:off x="535924" y="1221726"/>
            <a:ext cx="8051800" cy="3382977"/>
          </a:xfrm>
          <a:prstGeom prst="rect">
            <a:avLst/>
          </a:prstGeom>
        </p:spPr>
        <p:txBody>
          <a:bodyPr vert="horz" wrap="square" lIns="0" tIns="12700" rIns="0" bIns="0" rtlCol="0">
            <a:spAutoFit/>
          </a:bodyPr>
          <a:lstStyle/>
          <a:p>
            <a:pPr marL="463550" indent="-387350">
              <a:lnSpc>
                <a:spcPct val="100000"/>
              </a:lnSpc>
              <a:spcBef>
                <a:spcPts val="100"/>
              </a:spcBef>
              <a:buClr>
                <a:srgbClr val="A6A6A6"/>
              </a:buClr>
              <a:buFont typeface="Arial" panose="020B0604020202020204"/>
              <a:buChar char="•"/>
              <a:tabLst>
                <a:tab pos="462915" algn="l"/>
                <a:tab pos="463550" algn="l"/>
              </a:tabLst>
            </a:pPr>
            <a:r>
              <a:rPr sz="2500" b="1" dirty="0">
                <a:solidFill>
                  <a:srgbClr val="B5B5B5"/>
                </a:solidFill>
                <a:latin typeface="+mj-lt"/>
                <a:cs typeface="Calibri" panose="020F0502020204030204"/>
              </a:rPr>
              <a:t>HPC work is via batch system</a:t>
            </a:r>
            <a:endParaRPr sz="25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dirty="0">
                <a:solidFill>
                  <a:srgbClr val="A6A6A6"/>
                </a:solidFill>
                <a:latin typeface="+mj-lt"/>
                <a:cs typeface="Calibri" panose="020F0502020204030204"/>
              </a:rPr>
              <a:t>Dedicated subset of compute resources</a:t>
            </a:r>
            <a:endParaRPr sz="2100" dirty="0">
              <a:latin typeface="+mj-lt"/>
              <a:cs typeface="Calibri" panose="020F0502020204030204"/>
            </a:endParaRPr>
          </a:p>
          <a:p>
            <a:pPr marL="926465" marR="5080" lvl="1" indent="-368300">
              <a:lnSpc>
                <a:spcPts val="2500"/>
              </a:lnSpc>
              <a:spcBef>
                <a:spcPts val="90"/>
              </a:spcBef>
              <a:buFont typeface="Arial" panose="020B0604020202020204"/>
              <a:buChar char="–"/>
              <a:tabLst>
                <a:tab pos="920115" algn="l"/>
                <a:tab pos="920750" algn="l"/>
              </a:tabLst>
            </a:pPr>
            <a:r>
              <a:rPr sz="2100" dirty="0">
                <a:solidFill>
                  <a:srgbClr val="A6A6A6"/>
                </a:solidFill>
                <a:latin typeface="+mj-lt"/>
                <a:cs typeface="Calibri" panose="020F0502020204030204"/>
              </a:rPr>
              <a:t>Login nodes are shared resource for building code, editing scripts,  etc. Use batch jobs for real work</a:t>
            </a:r>
            <a:endParaRPr sz="2100" dirty="0">
              <a:latin typeface="+mj-lt"/>
              <a:cs typeface="Calibri" panose="020F0502020204030204"/>
            </a:endParaRPr>
          </a:p>
          <a:p>
            <a:pPr marL="463550" indent="-387350">
              <a:lnSpc>
                <a:spcPts val="2900"/>
              </a:lnSpc>
              <a:buFont typeface="Arial" panose="020B0604020202020204"/>
              <a:buChar char="•"/>
              <a:tabLst>
                <a:tab pos="462915" algn="l"/>
                <a:tab pos="463550" algn="l"/>
              </a:tabLst>
            </a:pPr>
            <a:r>
              <a:rPr sz="2500" b="1" dirty="0">
                <a:latin typeface="+mj-lt"/>
                <a:cs typeface="Calibri" panose="020F0502020204030204"/>
              </a:rPr>
              <a:t>Key commands:</a:t>
            </a:r>
            <a:endParaRPr sz="2500" dirty="0">
              <a:latin typeface="+mj-lt"/>
              <a:cs typeface="Calibri" panose="020F0502020204030204"/>
            </a:endParaRPr>
          </a:p>
          <a:p>
            <a:pPr marL="920750" lvl="1" indent="-362585">
              <a:lnSpc>
                <a:spcPts val="2510"/>
              </a:lnSpc>
              <a:buFont typeface="Arial" panose="020B0604020202020204"/>
              <a:buChar char="–"/>
              <a:tabLst>
                <a:tab pos="920115" algn="l"/>
                <a:tab pos="920750" algn="l"/>
              </a:tabLst>
            </a:pPr>
            <a:r>
              <a:rPr sz="2100" b="1" dirty="0">
                <a:latin typeface="+mj-lt"/>
                <a:cs typeface="Calibri" panose="020F0502020204030204"/>
              </a:rPr>
              <a:t>sbatch / salloc - submit a job</a:t>
            </a:r>
            <a:endParaRPr sz="2100" dirty="0">
              <a:latin typeface="+mj-lt"/>
              <a:cs typeface="Calibri" panose="020F0502020204030204"/>
            </a:endParaRPr>
          </a:p>
          <a:p>
            <a:pPr marL="920750" lvl="1" indent="-362585">
              <a:lnSpc>
                <a:spcPts val="2500"/>
              </a:lnSpc>
              <a:buFont typeface="Arial" panose="020B0604020202020204"/>
              <a:buChar char="–"/>
              <a:tabLst>
                <a:tab pos="920115" algn="l"/>
                <a:tab pos="920750" algn="l"/>
              </a:tabLst>
            </a:pPr>
            <a:r>
              <a:rPr sz="2100" dirty="0">
                <a:latin typeface="+mj-lt"/>
                <a:cs typeface="Calibri" panose="020F0502020204030204"/>
              </a:rPr>
              <a:t>srun - start an (optionally MPI) application within a job</a:t>
            </a:r>
          </a:p>
          <a:p>
            <a:pPr marL="920750" lvl="1" indent="-362585">
              <a:lnSpc>
                <a:spcPts val="2510"/>
              </a:lnSpc>
              <a:buFont typeface="Arial" panose="020B0604020202020204"/>
              <a:buChar char="–"/>
              <a:tabLst>
                <a:tab pos="920115" algn="l"/>
                <a:tab pos="920750" algn="l"/>
              </a:tabLst>
            </a:pPr>
            <a:r>
              <a:rPr sz="2100" dirty="0">
                <a:latin typeface="+mj-lt"/>
                <a:cs typeface="Calibri" panose="020F0502020204030204"/>
              </a:rPr>
              <a:t>sqs - check the queue for my job status</a:t>
            </a:r>
          </a:p>
          <a:p>
            <a:pPr>
              <a:lnSpc>
                <a:spcPct val="100000"/>
              </a:lnSpc>
              <a:spcBef>
                <a:spcPts val="35"/>
              </a:spcBef>
            </a:pPr>
            <a:endParaRPr sz="2000" dirty="0">
              <a:latin typeface="+mj-lt"/>
              <a:cs typeface="Calibri" panose="020F0502020204030204"/>
            </a:endParaRPr>
          </a:p>
          <a:p>
            <a:pPr marL="12700">
              <a:lnSpc>
                <a:spcPct val="100000"/>
              </a:lnSpc>
            </a:pPr>
            <a:r>
              <a:rPr lang="en-US" sz="2400" dirty="0">
                <a:latin typeface="+mj-lt"/>
                <a:hlinkClick r:id="rId2"/>
              </a:rPr>
              <a:t>https://docs.nersc.gov/jobs/</a:t>
            </a:r>
            <a:endParaRPr sz="2100" dirty="0">
              <a:latin typeface="+mj-lt"/>
              <a:cs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0360" y="3522544"/>
            <a:ext cx="8545491" cy="2781750"/>
          </a:xfrm>
          <a:prstGeom prst="rect">
            <a:avLst/>
          </a:prstGeom>
          <a:blipFill>
            <a:blip r:embed="rId2" cstate="print"/>
            <a:stretch>
              <a:fillRect/>
            </a:stretch>
          </a:blipFill>
        </p:spPr>
        <p:txBody>
          <a:bodyPr wrap="square" lIns="0" tIns="0" rIns="0" bIns="0" rtlCol="0"/>
          <a:lstStyle/>
          <a:p>
            <a:endParaRPr sz="2000">
              <a:latin typeface="+mj-lt"/>
            </a:endParaRPr>
          </a:p>
        </p:txBody>
      </p:sp>
      <p:sp>
        <p:nvSpPr>
          <p:cNvPr id="3" name="object 3"/>
          <p:cNvSpPr txBox="1">
            <a:spLocks noGrp="1"/>
          </p:cNvSpPr>
          <p:nvPr>
            <p:ph type="title"/>
          </p:nvPr>
        </p:nvSpPr>
        <p:spPr>
          <a:xfrm>
            <a:off x="2559352" y="101615"/>
            <a:ext cx="471320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Where is my job?</a:t>
            </a:r>
          </a:p>
        </p:txBody>
      </p:sp>
      <p:sp>
        <p:nvSpPr>
          <p:cNvPr id="4" name="object 4"/>
          <p:cNvSpPr txBox="1"/>
          <p:nvPr/>
        </p:nvSpPr>
        <p:spPr>
          <a:xfrm>
            <a:off x="535924" y="1374126"/>
            <a:ext cx="5082361" cy="423193"/>
          </a:xfrm>
          <a:prstGeom prst="rect">
            <a:avLst/>
          </a:prstGeom>
        </p:spPr>
        <p:txBody>
          <a:bodyPr vert="horz" wrap="square" lIns="0" tIns="12700" rIns="0" bIns="0" rtlCol="0">
            <a:spAutoFit/>
          </a:bodyPr>
          <a:lstStyle/>
          <a:p>
            <a:pPr marL="12700">
              <a:lnSpc>
                <a:spcPts val="1640"/>
              </a:lnSpc>
              <a:spcBef>
                <a:spcPts val="100"/>
              </a:spcBef>
            </a:pPr>
            <a:r>
              <a:rPr sz="1600" b="1" dirty="0">
                <a:latin typeface="+mj-lt"/>
                <a:cs typeface="Courier New" panose="02070309020205020404"/>
              </a:rPr>
              <a:t>elvis@nersc:~&gt; sqs</a:t>
            </a:r>
            <a:endParaRPr sz="1600" dirty="0">
              <a:latin typeface="+mj-lt"/>
              <a:cs typeface="Courier New" panose="02070309020205020404"/>
            </a:endParaRPr>
          </a:p>
          <a:p>
            <a:pPr marL="12700">
              <a:lnSpc>
                <a:spcPts val="1640"/>
              </a:lnSpc>
              <a:tabLst>
                <a:tab pos="865505" algn="l"/>
                <a:tab pos="2573020" algn="l"/>
              </a:tabLst>
            </a:pPr>
            <a:r>
              <a:rPr sz="1600" b="1" dirty="0">
                <a:latin typeface="+mj-lt"/>
                <a:cs typeface="Courier New" panose="02070309020205020404"/>
              </a:rPr>
              <a:t>JOBID	ST REASON USER	NAME</a:t>
            </a:r>
            <a:endParaRPr sz="1600" dirty="0">
              <a:latin typeface="+mj-lt"/>
              <a:cs typeface="Courier New" panose="02070309020205020404"/>
            </a:endParaRPr>
          </a:p>
        </p:txBody>
      </p:sp>
      <p:sp>
        <p:nvSpPr>
          <p:cNvPr id="5" name="object 5"/>
          <p:cNvSpPr txBox="1"/>
          <p:nvPr/>
        </p:nvSpPr>
        <p:spPr>
          <a:xfrm>
            <a:off x="4269982" y="1577326"/>
            <a:ext cx="3520003" cy="259045"/>
          </a:xfrm>
          <a:prstGeom prst="rect">
            <a:avLst/>
          </a:prstGeom>
        </p:spPr>
        <p:txBody>
          <a:bodyPr vert="horz" wrap="square" lIns="0" tIns="12700" rIns="0" bIns="0" rtlCol="0">
            <a:spAutoFit/>
          </a:bodyPr>
          <a:lstStyle/>
          <a:p>
            <a:pPr marL="12700">
              <a:lnSpc>
                <a:spcPct val="100000"/>
              </a:lnSpc>
              <a:spcBef>
                <a:spcPts val="100"/>
              </a:spcBef>
            </a:pPr>
            <a:r>
              <a:rPr sz="1600" b="1" dirty="0">
                <a:latin typeface="+mj-lt"/>
                <a:cs typeface="Courier New" panose="02070309020205020404"/>
              </a:rPr>
              <a:t>NODES USED REQUESTED ...</a:t>
            </a:r>
            <a:endParaRPr sz="1600" dirty="0">
              <a:latin typeface="+mj-lt"/>
              <a:cs typeface="Courier New" panose="02070309020205020404"/>
            </a:endParaRPr>
          </a:p>
        </p:txBody>
      </p:sp>
      <p:sp>
        <p:nvSpPr>
          <p:cNvPr id="6" name="object 6"/>
          <p:cNvSpPr txBox="1"/>
          <p:nvPr/>
        </p:nvSpPr>
        <p:spPr>
          <a:xfrm>
            <a:off x="535924" y="1793226"/>
            <a:ext cx="7814309" cy="751488"/>
          </a:xfrm>
          <a:prstGeom prst="rect">
            <a:avLst/>
          </a:prstGeom>
        </p:spPr>
        <p:txBody>
          <a:bodyPr vert="horz" wrap="square" lIns="0" tIns="12700" rIns="0" bIns="0" rtlCol="0">
            <a:spAutoFit/>
          </a:bodyPr>
          <a:lstStyle/>
          <a:p>
            <a:pPr marL="12700">
              <a:lnSpc>
                <a:spcPct val="100000"/>
              </a:lnSpc>
              <a:spcBef>
                <a:spcPts val="100"/>
              </a:spcBef>
              <a:tabLst>
                <a:tab pos="1185545" algn="l"/>
                <a:tab pos="4386580" algn="l"/>
              </a:tabLst>
            </a:pPr>
            <a:r>
              <a:rPr sz="1600" b="1" dirty="0">
                <a:latin typeface="+mj-lt"/>
                <a:cs typeface="Courier New" panose="02070309020205020404"/>
              </a:rPr>
              <a:t>2774102 </a:t>
            </a:r>
            <a:r>
              <a:rPr lang="en-US" sz="1600" b="1" dirty="0">
                <a:latin typeface="+mj-lt"/>
                <a:cs typeface="Courier New" panose="02070309020205020404"/>
              </a:rPr>
              <a:t>   </a:t>
            </a:r>
            <a:r>
              <a:rPr sz="1600" b="1" dirty="0">
                <a:latin typeface="+mj-lt"/>
                <a:cs typeface="Courier New" panose="02070309020205020404"/>
              </a:rPr>
              <a:t>R	Prolog elvis myscript.q 2	0:00 30:00</a:t>
            </a:r>
            <a:endParaRPr sz="1600" dirty="0">
              <a:latin typeface="+mj-lt"/>
              <a:cs typeface="Courier New" panose="02070309020205020404"/>
            </a:endParaRPr>
          </a:p>
          <a:p>
            <a:pPr>
              <a:lnSpc>
                <a:spcPct val="100000"/>
              </a:lnSpc>
              <a:spcBef>
                <a:spcPts val="20"/>
              </a:spcBef>
            </a:pPr>
            <a:endParaRPr sz="1600" dirty="0">
              <a:latin typeface="+mj-lt"/>
              <a:cs typeface="Courier New" panose="02070309020205020404"/>
            </a:endParaRPr>
          </a:p>
          <a:p>
            <a:pPr marL="1826260">
              <a:lnSpc>
                <a:spcPct val="100000"/>
              </a:lnSpc>
              <a:tabLst>
                <a:tab pos="3106420" algn="l"/>
                <a:tab pos="5240655" algn="l"/>
              </a:tabLst>
            </a:pPr>
            <a:r>
              <a:rPr sz="1600" b="1" dirty="0">
                <a:latin typeface="+mj-lt"/>
                <a:cs typeface="Courier New" panose="02070309020205020404"/>
              </a:rPr>
              <a:t>...	SUBMIT	PARTITION RANK_P RANK_BF</a:t>
            </a:r>
            <a:endParaRPr sz="1600" dirty="0">
              <a:latin typeface="+mj-lt"/>
              <a:cs typeface="Courier New" panose="02070309020205020404"/>
            </a:endParaRPr>
          </a:p>
        </p:txBody>
      </p:sp>
      <p:sp>
        <p:nvSpPr>
          <p:cNvPr id="7" name="object 7"/>
          <p:cNvSpPr txBox="1"/>
          <p:nvPr/>
        </p:nvSpPr>
        <p:spPr>
          <a:xfrm>
            <a:off x="7577509" y="2440926"/>
            <a:ext cx="345440" cy="259045"/>
          </a:xfrm>
          <a:prstGeom prst="rect">
            <a:avLst/>
          </a:prstGeom>
        </p:spPr>
        <p:txBody>
          <a:bodyPr vert="horz" wrap="square" lIns="0" tIns="12700" rIns="0" bIns="0" rtlCol="0">
            <a:spAutoFit/>
          </a:bodyPr>
          <a:lstStyle/>
          <a:p>
            <a:pPr marL="12700">
              <a:lnSpc>
                <a:spcPct val="100000"/>
              </a:lnSpc>
              <a:spcBef>
                <a:spcPts val="100"/>
              </a:spcBef>
            </a:pPr>
            <a:r>
              <a:rPr sz="1600" b="1" dirty="0">
                <a:latin typeface="+mj-lt"/>
                <a:cs typeface="Courier New" panose="02070309020205020404"/>
              </a:rPr>
              <a:t>N/A</a:t>
            </a:r>
            <a:endParaRPr sz="1600">
              <a:latin typeface="+mj-lt"/>
              <a:cs typeface="Courier New" panose="02070309020205020404"/>
            </a:endParaRPr>
          </a:p>
        </p:txBody>
      </p:sp>
      <p:sp>
        <p:nvSpPr>
          <p:cNvPr id="8" name="object 8"/>
          <p:cNvSpPr txBox="1"/>
          <p:nvPr/>
        </p:nvSpPr>
        <p:spPr>
          <a:xfrm>
            <a:off x="535924" y="2440926"/>
            <a:ext cx="7878314" cy="1246367"/>
          </a:xfrm>
          <a:prstGeom prst="rect">
            <a:avLst/>
          </a:prstGeom>
        </p:spPr>
        <p:txBody>
          <a:bodyPr vert="horz" wrap="square" lIns="0" tIns="12700" rIns="0" bIns="0" rtlCol="0">
            <a:spAutoFit/>
          </a:bodyPr>
          <a:lstStyle/>
          <a:p>
            <a:pPr marL="3106420">
              <a:lnSpc>
                <a:spcPct val="100000"/>
              </a:lnSpc>
              <a:spcBef>
                <a:spcPts val="100"/>
              </a:spcBef>
              <a:tabLst>
                <a:tab pos="6306820" algn="l"/>
              </a:tabLst>
            </a:pPr>
            <a:r>
              <a:rPr sz="1600" b="1" dirty="0">
                <a:latin typeface="+mj-lt"/>
                <a:cs typeface="Courier New" panose="02070309020205020404"/>
              </a:rPr>
              <a:t>2016-11-18T11:24:20 debug	N/A</a:t>
            </a:r>
            <a:endParaRPr sz="1600" dirty="0">
              <a:latin typeface="+mj-lt"/>
              <a:cs typeface="Courier New" panose="02070309020205020404"/>
            </a:endParaRPr>
          </a:p>
          <a:p>
            <a:pPr>
              <a:lnSpc>
                <a:spcPct val="100000"/>
              </a:lnSpc>
              <a:spcBef>
                <a:spcPts val="10"/>
              </a:spcBef>
            </a:pPr>
            <a:endParaRPr sz="1600" dirty="0">
              <a:latin typeface="+mj-lt"/>
              <a:cs typeface="Courier New" panose="02070309020205020404"/>
            </a:endParaRPr>
          </a:p>
          <a:p>
            <a:pPr marL="12700" marR="4378960">
              <a:lnSpc>
                <a:spcPct val="101000"/>
              </a:lnSpc>
            </a:pPr>
            <a:r>
              <a:rPr sz="1600" b="1" dirty="0" err="1">
                <a:latin typeface="+mj-lt"/>
                <a:cs typeface="Courier New" panose="02070309020205020404"/>
              </a:rPr>
              <a:t>elvis@nersc</a:t>
            </a:r>
            <a:r>
              <a:rPr sz="1600" b="1" dirty="0">
                <a:latin typeface="+mj-lt"/>
                <a:cs typeface="Courier New" panose="02070309020205020404"/>
              </a:rPr>
              <a:t>:~&gt; ls -lt  total 11280</a:t>
            </a:r>
            <a:endParaRPr sz="1600" dirty="0">
              <a:latin typeface="+mj-lt"/>
              <a:cs typeface="Courier New" panose="02070309020205020404"/>
            </a:endParaRPr>
          </a:p>
          <a:p>
            <a:pPr marL="12700">
              <a:lnSpc>
                <a:spcPct val="100000"/>
              </a:lnSpc>
              <a:spcBef>
                <a:spcPts val="20"/>
              </a:spcBef>
            </a:pPr>
            <a:r>
              <a:rPr sz="1600" b="1" dirty="0">
                <a:latin typeface="+mj-lt"/>
                <a:cs typeface="Courier New" panose="02070309020205020404"/>
              </a:rPr>
              <a:t>-rw-r----- 1 elvis elvis 132 Nov 18 11:24 slurm-2774102.out</a:t>
            </a:r>
            <a:endParaRPr sz="1600" dirty="0">
              <a:latin typeface="+mj-lt"/>
              <a:cs typeface="Courier New" panose="02070309020205020404"/>
            </a:endParaRPr>
          </a:p>
          <a:p>
            <a:pPr marL="12700">
              <a:lnSpc>
                <a:spcPct val="100000"/>
              </a:lnSpc>
              <a:spcBef>
                <a:spcPts val="20"/>
              </a:spcBef>
            </a:pPr>
            <a:r>
              <a:rPr sz="1600" b="1" dirty="0">
                <a:latin typeface="+mj-lt"/>
                <a:cs typeface="Courier New" panose="02070309020205020404"/>
              </a:rPr>
              <a:t>-rw-r----- 1 elvis elvis 208 Nov 18 11:24 myscript.q</a:t>
            </a:r>
            <a:endParaRPr sz="1600" dirty="0">
              <a:latin typeface="+mj-lt"/>
              <a:cs typeface="Courier New" panose="02070309020205020404"/>
            </a:endParaRPr>
          </a:p>
        </p:txBody>
      </p:sp>
      <p:sp>
        <p:nvSpPr>
          <p:cNvPr id="9" name="object 9"/>
          <p:cNvSpPr/>
          <p:nvPr/>
        </p:nvSpPr>
        <p:spPr>
          <a:xfrm>
            <a:off x="1671253" y="1270763"/>
            <a:ext cx="708025" cy="401320"/>
          </a:xfrm>
          <a:custGeom>
            <a:avLst/>
            <a:gdLst/>
            <a:ahLst/>
            <a:cxnLst/>
            <a:rect l="l" t="t" r="r" b="b"/>
            <a:pathLst>
              <a:path w="708025" h="401319">
                <a:moveTo>
                  <a:pt x="0" y="200399"/>
                </a:moveTo>
                <a:lnTo>
                  <a:pt x="18047" y="137057"/>
                </a:lnTo>
                <a:lnTo>
                  <a:pt x="68301" y="82046"/>
                </a:lnTo>
                <a:lnTo>
                  <a:pt x="103684" y="58695"/>
                </a:lnTo>
                <a:lnTo>
                  <a:pt x="144932" y="38665"/>
                </a:lnTo>
                <a:lnTo>
                  <a:pt x="191316" y="22368"/>
                </a:lnTo>
                <a:lnTo>
                  <a:pt x="242108" y="10216"/>
                </a:lnTo>
                <a:lnTo>
                  <a:pt x="296579" y="2622"/>
                </a:lnTo>
                <a:lnTo>
                  <a:pt x="353999" y="0"/>
                </a:lnTo>
                <a:lnTo>
                  <a:pt x="411420" y="2622"/>
                </a:lnTo>
                <a:lnTo>
                  <a:pt x="465891" y="10216"/>
                </a:lnTo>
                <a:lnTo>
                  <a:pt x="516683" y="22368"/>
                </a:lnTo>
                <a:lnTo>
                  <a:pt x="563067" y="38665"/>
                </a:lnTo>
                <a:lnTo>
                  <a:pt x="604315" y="58695"/>
                </a:lnTo>
                <a:lnTo>
                  <a:pt x="639698" y="82046"/>
                </a:lnTo>
                <a:lnTo>
                  <a:pt x="668486" y="108304"/>
                </a:lnTo>
                <a:lnTo>
                  <a:pt x="703366" y="167893"/>
                </a:lnTo>
                <a:lnTo>
                  <a:pt x="707999" y="200399"/>
                </a:lnTo>
                <a:lnTo>
                  <a:pt x="703366" y="232905"/>
                </a:lnTo>
                <a:lnTo>
                  <a:pt x="668486" y="292495"/>
                </a:lnTo>
                <a:lnTo>
                  <a:pt x="639698" y="318753"/>
                </a:lnTo>
                <a:lnTo>
                  <a:pt x="604315" y="342104"/>
                </a:lnTo>
                <a:lnTo>
                  <a:pt x="563067" y="362134"/>
                </a:lnTo>
                <a:lnTo>
                  <a:pt x="516683" y="378431"/>
                </a:lnTo>
                <a:lnTo>
                  <a:pt x="465891" y="390583"/>
                </a:lnTo>
                <a:lnTo>
                  <a:pt x="411420" y="398176"/>
                </a:lnTo>
                <a:lnTo>
                  <a:pt x="353999" y="400799"/>
                </a:lnTo>
                <a:lnTo>
                  <a:pt x="296579" y="398176"/>
                </a:lnTo>
                <a:lnTo>
                  <a:pt x="242108" y="390583"/>
                </a:lnTo>
                <a:lnTo>
                  <a:pt x="191316" y="378431"/>
                </a:lnTo>
                <a:lnTo>
                  <a:pt x="144932" y="362134"/>
                </a:lnTo>
                <a:lnTo>
                  <a:pt x="103684" y="342104"/>
                </a:lnTo>
                <a:lnTo>
                  <a:pt x="68301" y="318753"/>
                </a:lnTo>
                <a:lnTo>
                  <a:pt x="39512" y="292495"/>
                </a:lnTo>
                <a:lnTo>
                  <a:pt x="4633" y="232905"/>
                </a:lnTo>
                <a:lnTo>
                  <a:pt x="0" y="200399"/>
                </a:lnTo>
                <a:close/>
              </a:path>
            </a:pathLst>
          </a:custGeom>
          <a:ln w="19049">
            <a:solidFill>
              <a:srgbClr val="FF2600"/>
            </a:solidFill>
          </a:ln>
        </p:spPr>
        <p:txBody>
          <a:bodyPr wrap="square" lIns="0" tIns="0" rIns="0" bIns="0" rtlCol="0"/>
          <a:lstStyle/>
          <a:p>
            <a:endParaRPr sz="2000">
              <a:latin typeface="+mj-lt"/>
            </a:endParaRPr>
          </a:p>
        </p:txBody>
      </p:sp>
      <p:sp>
        <p:nvSpPr>
          <p:cNvPr id="10" name="object 10"/>
          <p:cNvSpPr/>
          <p:nvPr/>
        </p:nvSpPr>
        <p:spPr>
          <a:xfrm>
            <a:off x="3468288" y="3064109"/>
            <a:ext cx="2013585" cy="716280"/>
          </a:xfrm>
          <a:custGeom>
            <a:avLst/>
            <a:gdLst/>
            <a:ahLst/>
            <a:cxnLst/>
            <a:rect l="l" t="t" r="r" b="b"/>
            <a:pathLst>
              <a:path w="2013584" h="716279">
                <a:moveTo>
                  <a:pt x="0" y="358016"/>
                </a:moveTo>
                <a:lnTo>
                  <a:pt x="9189" y="309435"/>
                </a:lnTo>
                <a:lnTo>
                  <a:pt x="35958" y="262841"/>
                </a:lnTo>
                <a:lnTo>
                  <a:pt x="79107" y="218659"/>
                </a:lnTo>
                <a:lnTo>
                  <a:pt x="137437" y="177318"/>
                </a:lnTo>
                <a:lnTo>
                  <a:pt x="171919" y="157845"/>
                </a:lnTo>
                <a:lnTo>
                  <a:pt x="209748" y="139243"/>
                </a:lnTo>
                <a:lnTo>
                  <a:pt x="250771" y="121563"/>
                </a:lnTo>
                <a:lnTo>
                  <a:pt x="294840" y="104860"/>
                </a:lnTo>
                <a:lnTo>
                  <a:pt x="341805" y="89187"/>
                </a:lnTo>
                <a:lnTo>
                  <a:pt x="391516" y="74597"/>
                </a:lnTo>
                <a:lnTo>
                  <a:pt x="443822" y="61143"/>
                </a:lnTo>
                <a:lnTo>
                  <a:pt x="498574" y="48879"/>
                </a:lnTo>
                <a:lnTo>
                  <a:pt x="555622" y="37858"/>
                </a:lnTo>
                <a:lnTo>
                  <a:pt x="614816" y="28134"/>
                </a:lnTo>
                <a:lnTo>
                  <a:pt x="676006" y="19760"/>
                </a:lnTo>
                <a:lnTo>
                  <a:pt x="739042" y="12788"/>
                </a:lnTo>
                <a:lnTo>
                  <a:pt x="803774" y="7273"/>
                </a:lnTo>
                <a:lnTo>
                  <a:pt x="870053" y="3268"/>
                </a:lnTo>
                <a:lnTo>
                  <a:pt x="937728" y="825"/>
                </a:lnTo>
                <a:lnTo>
                  <a:pt x="1006649" y="0"/>
                </a:lnTo>
                <a:lnTo>
                  <a:pt x="1075571" y="825"/>
                </a:lnTo>
                <a:lnTo>
                  <a:pt x="1143246" y="3268"/>
                </a:lnTo>
                <a:lnTo>
                  <a:pt x="1209524" y="7273"/>
                </a:lnTo>
                <a:lnTo>
                  <a:pt x="1274257" y="12788"/>
                </a:lnTo>
                <a:lnTo>
                  <a:pt x="1337293" y="19760"/>
                </a:lnTo>
                <a:lnTo>
                  <a:pt x="1398483" y="28134"/>
                </a:lnTo>
                <a:lnTo>
                  <a:pt x="1457677" y="37858"/>
                </a:lnTo>
                <a:lnTo>
                  <a:pt x="1514725" y="48879"/>
                </a:lnTo>
                <a:lnTo>
                  <a:pt x="1569477" y="61143"/>
                </a:lnTo>
                <a:lnTo>
                  <a:pt x="1621783" y="74597"/>
                </a:lnTo>
                <a:lnTo>
                  <a:pt x="1671493" y="89187"/>
                </a:lnTo>
                <a:lnTo>
                  <a:pt x="1718458" y="104860"/>
                </a:lnTo>
                <a:lnTo>
                  <a:pt x="1762527" y="121563"/>
                </a:lnTo>
                <a:lnTo>
                  <a:pt x="1803551" y="139243"/>
                </a:lnTo>
                <a:lnTo>
                  <a:pt x="1841379" y="157845"/>
                </a:lnTo>
                <a:lnTo>
                  <a:pt x="1875862" y="177318"/>
                </a:lnTo>
                <a:lnTo>
                  <a:pt x="1934191" y="218659"/>
                </a:lnTo>
                <a:lnTo>
                  <a:pt x="1977340" y="262841"/>
                </a:lnTo>
                <a:lnTo>
                  <a:pt x="2004109" y="309435"/>
                </a:lnTo>
                <a:lnTo>
                  <a:pt x="2013299" y="358016"/>
                </a:lnTo>
                <a:lnTo>
                  <a:pt x="2010976" y="382528"/>
                </a:lnTo>
                <a:lnTo>
                  <a:pt x="1992847" y="430168"/>
                </a:lnTo>
                <a:lnTo>
                  <a:pt x="1957738" y="475609"/>
                </a:lnTo>
                <a:lnTo>
                  <a:pt x="1906849" y="518424"/>
                </a:lnTo>
                <a:lnTo>
                  <a:pt x="1841379" y="558186"/>
                </a:lnTo>
                <a:lnTo>
                  <a:pt x="1803551" y="576788"/>
                </a:lnTo>
                <a:lnTo>
                  <a:pt x="1762527" y="594468"/>
                </a:lnTo>
                <a:lnTo>
                  <a:pt x="1718458" y="611171"/>
                </a:lnTo>
                <a:lnTo>
                  <a:pt x="1671493" y="626844"/>
                </a:lnTo>
                <a:lnTo>
                  <a:pt x="1621783" y="641434"/>
                </a:lnTo>
                <a:lnTo>
                  <a:pt x="1569477" y="654888"/>
                </a:lnTo>
                <a:lnTo>
                  <a:pt x="1514725" y="667152"/>
                </a:lnTo>
                <a:lnTo>
                  <a:pt x="1457677" y="678172"/>
                </a:lnTo>
                <a:lnTo>
                  <a:pt x="1398483" y="687897"/>
                </a:lnTo>
                <a:lnTo>
                  <a:pt x="1337293" y="696271"/>
                </a:lnTo>
                <a:lnTo>
                  <a:pt x="1274257" y="703243"/>
                </a:lnTo>
                <a:lnTo>
                  <a:pt x="1209524" y="708758"/>
                </a:lnTo>
                <a:lnTo>
                  <a:pt x="1143246" y="712763"/>
                </a:lnTo>
                <a:lnTo>
                  <a:pt x="1075571" y="715205"/>
                </a:lnTo>
                <a:lnTo>
                  <a:pt x="1006649" y="716031"/>
                </a:lnTo>
                <a:lnTo>
                  <a:pt x="937728" y="715205"/>
                </a:lnTo>
                <a:lnTo>
                  <a:pt x="870053" y="712763"/>
                </a:lnTo>
                <a:lnTo>
                  <a:pt x="803774" y="708758"/>
                </a:lnTo>
                <a:lnTo>
                  <a:pt x="739042" y="703243"/>
                </a:lnTo>
                <a:lnTo>
                  <a:pt x="676006" y="696271"/>
                </a:lnTo>
                <a:lnTo>
                  <a:pt x="614816" y="687897"/>
                </a:lnTo>
                <a:lnTo>
                  <a:pt x="555622" y="678172"/>
                </a:lnTo>
                <a:lnTo>
                  <a:pt x="498574" y="667152"/>
                </a:lnTo>
                <a:lnTo>
                  <a:pt x="443822" y="654888"/>
                </a:lnTo>
                <a:lnTo>
                  <a:pt x="391516" y="641434"/>
                </a:lnTo>
                <a:lnTo>
                  <a:pt x="341805" y="626844"/>
                </a:lnTo>
                <a:lnTo>
                  <a:pt x="294840" y="611171"/>
                </a:lnTo>
                <a:lnTo>
                  <a:pt x="250771" y="594468"/>
                </a:lnTo>
                <a:lnTo>
                  <a:pt x="209748" y="576788"/>
                </a:lnTo>
                <a:lnTo>
                  <a:pt x="171919" y="558186"/>
                </a:lnTo>
                <a:lnTo>
                  <a:pt x="137437" y="538713"/>
                </a:lnTo>
                <a:lnTo>
                  <a:pt x="79107" y="497371"/>
                </a:lnTo>
                <a:lnTo>
                  <a:pt x="35958" y="453190"/>
                </a:lnTo>
                <a:lnTo>
                  <a:pt x="9189" y="406596"/>
                </a:lnTo>
                <a:lnTo>
                  <a:pt x="0" y="358016"/>
                </a:lnTo>
                <a:close/>
              </a:path>
            </a:pathLst>
          </a:custGeom>
          <a:ln w="19049">
            <a:solidFill>
              <a:srgbClr val="FF2600"/>
            </a:solidFill>
          </a:ln>
        </p:spPr>
        <p:txBody>
          <a:bodyPr wrap="square" lIns="0" tIns="0" rIns="0" bIns="0" rtlCol="0"/>
          <a:lstStyle/>
          <a:p>
            <a:endParaRPr sz="2000">
              <a:latin typeface="+mj-lt"/>
            </a:endParaRPr>
          </a:p>
        </p:txBody>
      </p:sp>
      <p:sp>
        <p:nvSpPr>
          <p:cNvPr id="11" name="object 11"/>
          <p:cNvSpPr/>
          <p:nvPr/>
        </p:nvSpPr>
        <p:spPr>
          <a:xfrm>
            <a:off x="1283449" y="1522021"/>
            <a:ext cx="403225" cy="685800"/>
          </a:xfrm>
          <a:custGeom>
            <a:avLst/>
            <a:gdLst/>
            <a:ahLst/>
            <a:cxnLst/>
            <a:rect l="l" t="t" r="r" b="b"/>
            <a:pathLst>
              <a:path w="403225" h="685800">
                <a:moveTo>
                  <a:pt x="0" y="342749"/>
                </a:moveTo>
                <a:lnTo>
                  <a:pt x="3243" y="281140"/>
                </a:lnTo>
                <a:lnTo>
                  <a:pt x="12593" y="223153"/>
                </a:lnTo>
                <a:lnTo>
                  <a:pt x="27483" y="169757"/>
                </a:lnTo>
                <a:lnTo>
                  <a:pt x="47343" y="121920"/>
                </a:lnTo>
                <a:lnTo>
                  <a:pt x="71604" y="80610"/>
                </a:lnTo>
                <a:lnTo>
                  <a:pt x="99699" y="46795"/>
                </a:lnTo>
                <a:lnTo>
                  <a:pt x="131059" y="21443"/>
                </a:lnTo>
                <a:lnTo>
                  <a:pt x="201299" y="0"/>
                </a:lnTo>
                <a:lnTo>
                  <a:pt x="237483" y="5522"/>
                </a:lnTo>
                <a:lnTo>
                  <a:pt x="302899" y="46795"/>
                </a:lnTo>
                <a:lnTo>
                  <a:pt x="330994" y="80610"/>
                </a:lnTo>
                <a:lnTo>
                  <a:pt x="355256" y="121920"/>
                </a:lnTo>
                <a:lnTo>
                  <a:pt x="375116" y="169757"/>
                </a:lnTo>
                <a:lnTo>
                  <a:pt x="390006" y="223153"/>
                </a:lnTo>
                <a:lnTo>
                  <a:pt x="399356" y="281140"/>
                </a:lnTo>
                <a:lnTo>
                  <a:pt x="402599" y="342749"/>
                </a:lnTo>
                <a:lnTo>
                  <a:pt x="399356" y="404359"/>
                </a:lnTo>
                <a:lnTo>
                  <a:pt x="390006" y="462346"/>
                </a:lnTo>
                <a:lnTo>
                  <a:pt x="375116" y="515742"/>
                </a:lnTo>
                <a:lnTo>
                  <a:pt x="355256" y="563579"/>
                </a:lnTo>
                <a:lnTo>
                  <a:pt x="330994" y="604889"/>
                </a:lnTo>
                <a:lnTo>
                  <a:pt x="302899" y="638704"/>
                </a:lnTo>
                <a:lnTo>
                  <a:pt x="271539" y="664056"/>
                </a:lnTo>
                <a:lnTo>
                  <a:pt x="201299" y="685499"/>
                </a:lnTo>
                <a:lnTo>
                  <a:pt x="165115" y="679977"/>
                </a:lnTo>
                <a:lnTo>
                  <a:pt x="99699" y="638704"/>
                </a:lnTo>
                <a:lnTo>
                  <a:pt x="71604" y="604889"/>
                </a:lnTo>
                <a:lnTo>
                  <a:pt x="47343" y="563579"/>
                </a:lnTo>
                <a:lnTo>
                  <a:pt x="27483" y="515742"/>
                </a:lnTo>
                <a:lnTo>
                  <a:pt x="12593" y="462346"/>
                </a:lnTo>
                <a:lnTo>
                  <a:pt x="3243" y="404359"/>
                </a:lnTo>
                <a:lnTo>
                  <a:pt x="0" y="342749"/>
                </a:lnTo>
                <a:close/>
              </a:path>
            </a:pathLst>
          </a:custGeom>
          <a:ln w="19049">
            <a:solidFill>
              <a:srgbClr val="5EB169"/>
            </a:solidFill>
          </a:ln>
        </p:spPr>
        <p:txBody>
          <a:bodyPr wrap="square" lIns="0" tIns="0" rIns="0" bIns="0" rtlCol="0"/>
          <a:lstStyle/>
          <a:p>
            <a:endParaRPr sz="2000">
              <a:latin typeface="+mj-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5335" y="132239"/>
            <a:ext cx="247996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Font typeface="Arial" panose="020B0604020202020204"/>
              <a:buChar char="•"/>
              <a:tabLst>
                <a:tab pos="354965" algn="l"/>
                <a:tab pos="355600" algn="l"/>
              </a:tabLst>
            </a:pPr>
            <a:r>
              <a:rPr sz="2800" b="1" dirty="0">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235" y="232115"/>
            <a:ext cx="8362019" cy="504825"/>
          </a:xfrm>
          <a:prstGeom prst="rect">
            <a:avLst/>
          </a:prstGeom>
        </p:spPr>
        <p:txBody>
          <a:bodyPr vert="horz" wrap="square" lIns="0" tIns="12700" rIns="0" bIns="0" rtlCol="0">
            <a:spAutoFit/>
          </a:bodyPr>
          <a:lstStyle/>
          <a:p>
            <a:pPr marL="12700">
              <a:lnSpc>
                <a:spcPct val="100000"/>
              </a:lnSpc>
              <a:spcBef>
                <a:spcPts val="100"/>
              </a:spcBef>
            </a:pPr>
            <a:r>
              <a:rPr sz="3200" dirty="0">
                <a:latin typeface="+mj-lt"/>
              </a:rPr>
              <a:t>Cray compiler wrappers, ftn, cc and CC</a:t>
            </a:r>
          </a:p>
        </p:txBody>
      </p:sp>
      <p:sp>
        <p:nvSpPr>
          <p:cNvPr id="3" name="object 3"/>
          <p:cNvSpPr txBox="1"/>
          <p:nvPr/>
        </p:nvSpPr>
        <p:spPr>
          <a:xfrm>
            <a:off x="535939" y="1328420"/>
            <a:ext cx="8114665" cy="4535170"/>
          </a:xfrm>
          <a:prstGeom prst="rect">
            <a:avLst/>
          </a:prstGeom>
        </p:spPr>
        <p:txBody>
          <a:bodyPr vert="horz" wrap="square" lIns="0" tIns="33020" rIns="0" bIns="0" rtlCol="0">
            <a:spAutoFit/>
          </a:bodyPr>
          <a:lstStyle/>
          <a:p>
            <a:pPr marL="355600" marR="312420" indent="-342900">
              <a:lnSpc>
                <a:spcPts val="3800"/>
              </a:lnSpc>
              <a:spcBef>
                <a:spcPts val="260"/>
              </a:spcBef>
              <a:buFont typeface="Arial" panose="020B0604020202020204"/>
              <a:buChar char="•"/>
              <a:tabLst>
                <a:tab pos="354965" algn="l"/>
                <a:tab pos="355600" algn="l"/>
              </a:tabLst>
            </a:pPr>
            <a:r>
              <a:rPr sz="3200" b="1" dirty="0">
                <a:latin typeface="+mj-lt"/>
                <a:cs typeface="Calibri" panose="020F0502020204030204"/>
              </a:rPr>
              <a:t>Building code optimally for Cori requires a  complex set of compiler option and libraries</a:t>
            </a:r>
            <a:endParaRPr sz="3200" dirty="0">
              <a:latin typeface="+mj-lt"/>
              <a:cs typeface="Calibri" panose="020F0502020204030204"/>
            </a:endParaRPr>
          </a:p>
          <a:p>
            <a:pPr marL="749300" marR="1345565" lvl="1" indent="-279400">
              <a:lnSpc>
                <a:spcPct val="102000"/>
              </a:lnSpc>
              <a:spcBef>
                <a:spcPts val="445"/>
              </a:spcBef>
              <a:buFont typeface="Arial" panose="020B0604020202020204"/>
              <a:buChar char="–"/>
              <a:tabLst>
                <a:tab pos="755650" algn="l"/>
              </a:tabLst>
            </a:pPr>
            <a:r>
              <a:rPr sz="2800" dirty="0">
                <a:latin typeface="+mj-lt"/>
                <a:cs typeface="Calibri" panose="020F0502020204030204"/>
              </a:rPr>
              <a:t>eg, static linking by default (important for  performance at scale)</a:t>
            </a:r>
          </a:p>
          <a:p>
            <a:pPr marL="355600" marR="22860" indent="-342900">
              <a:lnSpc>
                <a:spcPct val="100000"/>
              </a:lnSpc>
              <a:spcBef>
                <a:spcPts val="705"/>
              </a:spcBef>
              <a:buFont typeface="Arial" panose="020B0604020202020204"/>
              <a:buChar char="•"/>
              <a:tabLst>
                <a:tab pos="354965" algn="l"/>
                <a:tab pos="355600" algn="l"/>
              </a:tabLst>
            </a:pPr>
            <a:r>
              <a:rPr sz="3200" b="1" dirty="0">
                <a:latin typeface="+mj-lt"/>
                <a:cs typeface="Calibri" panose="020F0502020204030204"/>
              </a:rPr>
              <a:t>Compiler wrappers </a:t>
            </a:r>
            <a:r>
              <a:rPr lang="en-US" sz="3200" b="1" dirty="0" err="1">
                <a:latin typeface="+mj-lt"/>
                <a:cs typeface="Calibri" panose="020F0502020204030204"/>
              </a:rPr>
              <a:t>ft</a:t>
            </a:r>
            <a:r>
              <a:rPr sz="3200" b="1" dirty="0" err="1">
                <a:latin typeface="+mj-lt"/>
                <a:cs typeface="Calibri" panose="020F0502020204030204"/>
              </a:rPr>
              <a:t>n</a:t>
            </a:r>
            <a:r>
              <a:rPr sz="3200" b="1" dirty="0">
                <a:latin typeface="+mj-lt"/>
                <a:cs typeface="Calibri" panose="020F0502020204030204"/>
              </a:rPr>
              <a:t>, cc and CC manage this  complexity for you</a:t>
            </a:r>
            <a:endParaRPr sz="3200" dirty="0">
              <a:latin typeface="+mj-lt"/>
              <a:cs typeface="Calibri" panose="020F0502020204030204"/>
            </a:endParaRPr>
          </a:p>
          <a:p>
            <a:pPr marL="749300" marR="394335" lvl="1" indent="-279400">
              <a:lnSpc>
                <a:spcPts val="3330"/>
              </a:lnSpc>
              <a:spcBef>
                <a:spcPts val="860"/>
              </a:spcBef>
              <a:buFont typeface="Arial" panose="020B0604020202020204"/>
              <a:buChar char="–"/>
              <a:tabLst>
                <a:tab pos="755650" algn="l"/>
              </a:tabLst>
            </a:pPr>
            <a:r>
              <a:rPr sz="2800" dirty="0">
                <a:latin typeface="+mj-lt"/>
                <a:cs typeface="Calibri" panose="020F0502020204030204"/>
              </a:rPr>
              <a:t>Using environment variables set by the modules  you have loaded</a:t>
            </a:r>
          </a:p>
          <a:p>
            <a:pPr marL="355600" indent="-342900">
              <a:lnSpc>
                <a:spcPct val="100000"/>
              </a:lnSpc>
              <a:spcBef>
                <a:spcPts val="700"/>
              </a:spcBef>
              <a:buFont typeface="Arial" panose="020B0604020202020204"/>
              <a:buChar char="•"/>
              <a:tabLst>
                <a:tab pos="354965" algn="l"/>
                <a:tab pos="355600" algn="l"/>
              </a:tabLst>
            </a:pPr>
            <a:r>
              <a:rPr sz="3200" b="1" dirty="0">
                <a:latin typeface="+mj-lt"/>
                <a:cs typeface="Calibri" panose="020F0502020204030204"/>
              </a:rPr>
              <a:t>Also provide MPI (e</a:t>
            </a:r>
            <a:r>
              <a:rPr lang="en-US" altLang="zh-CN" sz="3200" b="1" dirty="0">
                <a:latin typeface="+mj-lt"/>
                <a:cs typeface="Calibri" panose="020F0502020204030204"/>
              </a:rPr>
              <a:t>.</a:t>
            </a:r>
            <a:r>
              <a:rPr sz="3200" b="1" dirty="0">
                <a:latin typeface="+mj-lt"/>
                <a:cs typeface="Calibri" panose="020F0502020204030204"/>
              </a:rPr>
              <a:t>g</a:t>
            </a:r>
            <a:r>
              <a:rPr lang="en-US" altLang="zh-CN" sz="3200" b="1" dirty="0">
                <a:latin typeface="+mj-lt"/>
                <a:cs typeface="Calibri" panose="020F0502020204030204"/>
              </a:rPr>
              <a:t>.</a:t>
            </a:r>
            <a:r>
              <a:rPr sz="3200" b="1" dirty="0">
                <a:latin typeface="+mj-lt"/>
                <a:cs typeface="Calibri" panose="020F0502020204030204"/>
              </a:rPr>
              <a:t> mpicc is not required)</a:t>
            </a:r>
            <a:endParaRPr sz="3200" dirty="0">
              <a:latin typeface="+mj-lt"/>
              <a:cs typeface="Calibri" panose="020F0502020204030204"/>
            </a:endParaRPr>
          </a:p>
        </p:txBody>
      </p:sp>
      <p:sp>
        <p:nvSpPr>
          <p:cNvPr id="4" name="object 4"/>
          <p:cNvSpPr txBox="1"/>
          <p:nvPr/>
        </p:nvSpPr>
        <p:spPr>
          <a:xfrm>
            <a:off x="4424094" y="6454847"/>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- 39 -</a:t>
            </a:r>
            <a:endParaRPr sz="1100">
              <a:latin typeface="+mj-lt"/>
              <a:cs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5361" y="205890"/>
            <a:ext cx="7535542" cy="504825"/>
          </a:xfrm>
          <a:prstGeom prst="rect">
            <a:avLst/>
          </a:prstGeom>
        </p:spPr>
        <p:txBody>
          <a:bodyPr vert="horz" wrap="square" lIns="0" tIns="12700" rIns="0" bIns="0" rtlCol="0">
            <a:spAutoFit/>
          </a:bodyPr>
          <a:lstStyle/>
          <a:p>
            <a:pPr marL="12700">
              <a:lnSpc>
                <a:spcPct val="100000"/>
              </a:lnSpc>
              <a:spcBef>
                <a:spcPts val="100"/>
              </a:spcBef>
            </a:pPr>
            <a:r>
              <a:rPr lang="en-US" sz="3200" dirty="0">
                <a:latin typeface="+mj-lt"/>
              </a:rPr>
              <a:t>E</a:t>
            </a:r>
            <a:r>
              <a:rPr sz="3200" dirty="0">
                <a:latin typeface="+mj-lt"/>
              </a:rPr>
              <a:t>nvironment </a:t>
            </a:r>
            <a:r>
              <a:rPr lang="en-US" sz="3200" dirty="0">
                <a:latin typeface="+mj-lt"/>
              </a:rPr>
              <a:t>M</a:t>
            </a:r>
            <a:r>
              <a:rPr sz="3200" dirty="0">
                <a:latin typeface="+mj-lt"/>
              </a:rPr>
              <a:t>odules</a:t>
            </a:r>
          </a:p>
        </p:txBody>
      </p:sp>
      <p:sp>
        <p:nvSpPr>
          <p:cNvPr id="3" name="object 3"/>
          <p:cNvSpPr txBox="1"/>
          <p:nvPr/>
        </p:nvSpPr>
        <p:spPr>
          <a:xfrm>
            <a:off x="535939" y="1340295"/>
            <a:ext cx="7947659" cy="4363720"/>
          </a:xfrm>
          <a:prstGeom prst="rect">
            <a:avLst/>
          </a:prstGeom>
        </p:spPr>
        <p:txBody>
          <a:bodyPr vert="horz" wrap="square" lIns="0" tIns="33020" rIns="0" bIns="0" rtlCol="0">
            <a:spAutoFit/>
          </a:bodyPr>
          <a:lstStyle/>
          <a:p>
            <a:pPr marL="355600" marR="1170940" indent="-342900" algn="just">
              <a:lnSpc>
                <a:spcPts val="3300"/>
              </a:lnSpc>
              <a:spcBef>
                <a:spcPts val="260"/>
              </a:spcBef>
              <a:buFont typeface="Arial" panose="020B0604020202020204"/>
              <a:buChar char="•"/>
              <a:tabLst>
                <a:tab pos="355600" algn="l"/>
              </a:tabLst>
            </a:pPr>
            <a:r>
              <a:rPr lang="en-US" sz="2800" b="1" dirty="0">
                <a:latin typeface="+mj-lt"/>
                <a:cs typeface="Calibri" panose="020F0502020204030204"/>
              </a:rPr>
              <a:t>Software</a:t>
            </a:r>
            <a:r>
              <a:rPr sz="2800" b="1" dirty="0">
                <a:latin typeface="+mj-lt"/>
                <a:cs typeface="Calibri" panose="020F0502020204030204"/>
              </a:rPr>
              <a:t> on Cori (and most HPC systems) is  managed with “environment modules”</a:t>
            </a:r>
            <a:endParaRPr sz="2800" dirty="0">
              <a:latin typeface="+mj-lt"/>
              <a:cs typeface="Calibri" panose="020F0502020204030204"/>
            </a:endParaRPr>
          </a:p>
          <a:p>
            <a:pPr marL="355600" indent="-342900" algn="just">
              <a:lnSpc>
                <a:spcPct val="100000"/>
              </a:lnSpc>
              <a:spcBef>
                <a:spcPts val="610"/>
              </a:spcBef>
              <a:buFont typeface="Arial" panose="020B0604020202020204"/>
              <a:buChar char="•"/>
              <a:tabLst>
                <a:tab pos="355600" algn="l"/>
              </a:tabLst>
            </a:pPr>
            <a:r>
              <a:rPr sz="2800" b="1" dirty="0">
                <a:latin typeface="+mj-lt"/>
                <a:cs typeface="Calibri" panose="020F0502020204030204"/>
              </a:rPr>
              <a:t>Why?</a:t>
            </a:r>
            <a:endParaRPr sz="2800" dirty="0">
              <a:latin typeface="+mj-lt"/>
              <a:cs typeface="Calibri" panose="020F0502020204030204"/>
            </a:endParaRPr>
          </a:p>
          <a:p>
            <a:pPr marL="755650" lvl="1" indent="-285750" algn="just">
              <a:lnSpc>
                <a:spcPct val="100000"/>
              </a:lnSpc>
              <a:spcBef>
                <a:spcPts val="545"/>
              </a:spcBef>
              <a:buFont typeface="Arial" panose="020B0604020202020204"/>
              <a:buChar char="–"/>
              <a:tabLst>
                <a:tab pos="755650" algn="l"/>
              </a:tabLst>
            </a:pPr>
            <a:r>
              <a:rPr sz="2400" dirty="0">
                <a:latin typeface="+mj-lt"/>
                <a:cs typeface="Calibri" panose="020F0502020204030204"/>
              </a:rPr>
              <a:t>Cori is a shared resource</a:t>
            </a:r>
          </a:p>
          <a:p>
            <a:pPr marL="749300" marR="5080" lvl="1" indent="-279400" algn="just">
              <a:lnSpc>
                <a:spcPct val="99000"/>
              </a:lnSpc>
              <a:spcBef>
                <a:spcPts val="635"/>
              </a:spcBef>
              <a:buFont typeface="Arial" panose="020B0604020202020204"/>
              <a:buChar char="–"/>
              <a:tabLst>
                <a:tab pos="755650" algn="l"/>
              </a:tabLst>
            </a:pPr>
            <a:r>
              <a:rPr sz="2400" dirty="0">
                <a:latin typeface="+mj-lt"/>
                <a:cs typeface="Calibri" panose="020F0502020204030204"/>
              </a:rPr>
              <a:t>Diﬀerent people need diﬀerent combinations of sorware,  at diﬀerent versions, with diﬀerent dependencies (and for  diﬀerent jobs)</a:t>
            </a:r>
          </a:p>
          <a:p>
            <a:pPr marL="355600" marR="1495425" indent="-342900" algn="just">
              <a:lnSpc>
                <a:spcPts val="3330"/>
              </a:lnSpc>
              <a:spcBef>
                <a:spcPts val="830"/>
              </a:spcBef>
              <a:buFont typeface="Arial" panose="020B0604020202020204"/>
              <a:buChar char="•"/>
              <a:tabLst>
                <a:tab pos="355600" algn="l"/>
              </a:tabLst>
            </a:pPr>
            <a:r>
              <a:rPr sz="2800" b="1" dirty="0">
                <a:latin typeface="+mj-lt"/>
                <a:cs typeface="Calibri" panose="020F0502020204030204"/>
              </a:rPr>
              <a:t>Loading and unloading a module updates  environment variables (eg $PATH,</a:t>
            </a:r>
            <a:endParaRPr sz="2800" dirty="0">
              <a:latin typeface="+mj-lt"/>
              <a:cs typeface="Calibri" panose="020F0502020204030204"/>
            </a:endParaRPr>
          </a:p>
          <a:p>
            <a:pPr marL="355600">
              <a:lnSpc>
                <a:spcPts val="3290"/>
              </a:lnSpc>
            </a:pPr>
            <a:r>
              <a:rPr sz="2800" b="1" dirty="0">
                <a:latin typeface="+mj-lt"/>
                <a:cs typeface="Calibri" panose="020F0502020204030204"/>
              </a:rPr>
              <a:t>$LD_LIBRARY_PATH) to make a package available</a:t>
            </a:r>
            <a:endParaRPr sz="2800" dirty="0">
              <a:latin typeface="+mj-lt"/>
              <a:cs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2903" y="88528"/>
            <a:ext cx="5838627"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Module Commands</a:t>
            </a:r>
          </a:p>
        </p:txBody>
      </p:sp>
      <p:sp>
        <p:nvSpPr>
          <p:cNvPr id="3" name="object 3"/>
          <p:cNvSpPr txBox="1"/>
          <p:nvPr/>
        </p:nvSpPr>
        <p:spPr>
          <a:xfrm>
            <a:off x="554987" y="851083"/>
            <a:ext cx="8367339" cy="6614631"/>
          </a:xfrm>
          <a:prstGeom prst="rect">
            <a:avLst/>
          </a:prstGeom>
        </p:spPr>
        <p:txBody>
          <a:bodyPr vert="horz" wrap="square" lIns="0" tIns="12700" rIns="0" bIns="0" rtlCol="0">
            <a:spAutoFit/>
          </a:bodyPr>
          <a:lstStyle/>
          <a:p>
            <a:pPr marL="12700">
              <a:lnSpc>
                <a:spcPts val="3065"/>
              </a:lnSpc>
              <a:spcBef>
                <a:spcPts val="100"/>
              </a:spcBef>
            </a:pPr>
            <a:r>
              <a:rPr b="1" dirty="0">
                <a:latin typeface="+mj-lt"/>
                <a:cs typeface="Courier New" panose="02070309020205020404"/>
              </a:rPr>
              <a:t>module load &lt;modulename&gt;</a:t>
            </a:r>
            <a:endParaRPr dirty="0">
              <a:latin typeface="+mj-lt"/>
              <a:cs typeface="Courier New" panose="02070309020205020404"/>
            </a:endParaRPr>
          </a:p>
          <a:p>
            <a:pPr marL="755650" indent="-286385">
              <a:lnSpc>
                <a:spcPts val="2585"/>
              </a:lnSpc>
              <a:buFont typeface="Arial" panose="020B0604020202020204"/>
              <a:buChar char="–"/>
              <a:tabLst>
                <a:tab pos="755015" algn="l"/>
                <a:tab pos="755650" algn="l"/>
              </a:tabLst>
            </a:pPr>
            <a:r>
              <a:rPr sz="1600" dirty="0">
                <a:latin typeface="+mj-lt"/>
                <a:cs typeface="Calibri" panose="020F0502020204030204"/>
              </a:rPr>
              <a:t>Add the module from your environment</a:t>
            </a:r>
          </a:p>
          <a:p>
            <a:pPr marL="12700">
              <a:lnSpc>
                <a:spcPts val="3100"/>
              </a:lnSpc>
              <a:spcBef>
                <a:spcPts val="75"/>
              </a:spcBef>
            </a:pPr>
            <a:r>
              <a:rPr b="1" dirty="0">
                <a:latin typeface="+mj-lt"/>
                <a:cs typeface="Courier New" panose="02070309020205020404"/>
              </a:rPr>
              <a:t>module unload &lt;modulename&gt;</a:t>
            </a:r>
            <a:endParaRPr dirty="0">
              <a:latin typeface="+mj-lt"/>
              <a:cs typeface="Courier New" panose="02070309020205020404"/>
            </a:endParaRPr>
          </a:p>
          <a:p>
            <a:pPr marL="755650" indent="-286385">
              <a:lnSpc>
                <a:spcPts val="2610"/>
              </a:lnSpc>
              <a:buFont typeface="Arial" panose="020B0604020202020204"/>
              <a:buChar char="–"/>
              <a:tabLst>
                <a:tab pos="755015" algn="l"/>
                <a:tab pos="755650" algn="l"/>
              </a:tabLst>
            </a:pPr>
            <a:r>
              <a:rPr sz="1600" dirty="0">
                <a:latin typeface="+mj-lt"/>
                <a:cs typeface="Calibri" panose="020F0502020204030204"/>
              </a:rPr>
              <a:t>Remove the module from your environment</a:t>
            </a:r>
          </a:p>
          <a:p>
            <a:pPr marL="12700">
              <a:lnSpc>
                <a:spcPts val="3110"/>
              </a:lnSpc>
            </a:pPr>
            <a:r>
              <a:rPr b="1" dirty="0">
                <a:latin typeface="+mj-lt"/>
                <a:cs typeface="Courier New" panose="02070309020205020404"/>
              </a:rPr>
              <a:t>module swap &lt;module1&gt; &lt;module2&gt;</a:t>
            </a:r>
            <a:endParaRPr dirty="0">
              <a:latin typeface="+mj-lt"/>
              <a:cs typeface="Courier New" panose="02070309020205020404"/>
            </a:endParaRPr>
          </a:p>
          <a:p>
            <a:pPr marL="755650" indent="-286385">
              <a:lnSpc>
                <a:spcPts val="2620"/>
              </a:lnSpc>
              <a:spcBef>
                <a:spcPts val="65"/>
              </a:spcBef>
              <a:buFont typeface="Arial" panose="020B0604020202020204"/>
              <a:buChar char="–"/>
              <a:tabLst>
                <a:tab pos="755015" algn="l"/>
                <a:tab pos="755650" algn="l"/>
              </a:tabLst>
            </a:pPr>
            <a:r>
              <a:rPr sz="1600" dirty="0">
                <a:latin typeface="+mj-lt"/>
                <a:cs typeface="Calibri" panose="020F0502020204030204"/>
              </a:rPr>
              <a:t>Unload one module and replace it with another</a:t>
            </a:r>
          </a:p>
          <a:p>
            <a:pPr marL="637540">
              <a:lnSpc>
                <a:spcPts val="2600"/>
              </a:lnSpc>
              <a:tabLst>
                <a:tab pos="3990340" algn="l"/>
              </a:tabLst>
            </a:pPr>
            <a:r>
              <a:rPr sz="1600" b="1" dirty="0">
                <a:solidFill>
                  <a:srgbClr val="0000FF"/>
                </a:solidFill>
                <a:latin typeface="+mj-lt"/>
                <a:cs typeface="Courier New" panose="02070309020205020404"/>
              </a:rPr>
              <a:t>% module swap intel</a:t>
            </a:r>
            <a:r>
              <a:rPr lang="en-US" sz="1600" b="1" dirty="0">
                <a:solidFill>
                  <a:srgbClr val="0000FF"/>
                </a:solidFill>
                <a:latin typeface="+mj-lt"/>
                <a:cs typeface="Courier New" panose="02070309020205020404"/>
              </a:rPr>
              <a:t> </a:t>
            </a:r>
            <a:r>
              <a:rPr sz="1600" b="1" dirty="0">
                <a:solidFill>
                  <a:srgbClr val="0000FF"/>
                </a:solidFill>
                <a:latin typeface="+mj-lt"/>
                <a:cs typeface="Courier New" panose="02070309020205020404"/>
              </a:rPr>
              <a:t>intel/16.0.3.210</a:t>
            </a:r>
            <a:r>
              <a:rPr lang="en-US" sz="1600" b="1" dirty="0">
                <a:solidFill>
                  <a:srgbClr val="0000FF"/>
                </a:solidFill>
                <a:latin typeface="+mj-lt"/>
                <a:cs typeface="Courier New" panose="02070309020205020404"/>
              </a:rPr>
              <a:t> </a:t>
            </a:r>
            <a:r>
              <a:rPr sz="1600" dirty="0">
                <a:latin typeface="+mj-lt"/>
                <a:cs typeface="Calibri" panose="020F0502020204030204"/>
              </a:rPr>
              <a:t>(replace current default to a speciﬁc version)</a:t>
            </a:r>
          </a:p>
          <a:p>
            <a:pPr marL="12700">
              <a:lnSpc>
                <a:spcPts val="3100"/>
              </a:lnSpc>
              <a:spcBef>
                <a:spcPts val="75"/>
              </a:spcBef>
            </a:pPr>
            <a:r>
              <a:rPr b="1" dirty="0">
                <a:latin typeface="+mj-lt"/>
                <a:cs typeface="Courier New" panose="02070309020205020404"/>
              </a:rPr>
              <a:t>module list</a:t>
            </a:r>
            <a:endParaRPr dirty="0">
              <a:latin typeface="+mj-lt"/>
              <a:cs typeface="Courier New" panose="02070309020205020404"/>
            </a:endParaRPr>
          </a:p>
          <a:p>
            <a:pPr marL="755650" indent="-286385">
              <a:lnSpc>
                <a:spcPts val="2610"/>
              </a:lnSpc>
              <a:buFont typeface="Arial" panose="020B0604020202020204"/>
              <a:buChar char="–"/>
              <a:tabLst>
                <a:tab pos="755015" algn="l"/>
                <a:tab pos="755650" algn="l"/>
              </a:tabLst>
            </a:pPr>
            <a:r>
              <a:rPr sz="1600" dirty="0">
                <a:latin typeface="+mj-lt"/>
                <a:cs typeface="Calibri" panose="020F0502020204030204"/>
              </a:rPr>
              <a:t>See what modules you have loaded right now</a:t>
            </a:r>
          </a:p>
          <a:p>
            <a:pPr marL="12700">
              <a:lnSpc>
                <a:spcPts val="3110"/>
              </a:lnSpc>
            </a:pPr>
            <a:r>
              <a:rPr b="1" dirty="0">
                <a:latin typeface="+mj-lt"/>
                <a:cs typeface="Courier New" panose="02070309020205020404"/>
              </a:rPr>
              <a:t>module show &lt;modulename&gt;</a:t>
            </a:r>
            <a:endParaRPr dirty="0">
              <a:latin typeface="+mj-lt"/>
              <a:cs typeface="Courier New" panose="02070309020205020404"/>
            </a:endParaRPr>
          </a:p>
          <a:p>
            <a:pPr marL="755650" indent="-286385">
              <a:lnSpc>
                <a:spcPts val="2630"/>
              </a:lnSpc>
              <a:spcBef>
                <a:spcPts val="65"/>
              </a:spcBef>
              <a:buFont typeface="Arial" panose="020B0604020202020204"/>
              <a:buChar char="–"/>
              <a:tabLst>
                <a:tab pos="755015" algn="l"/>
                <a:tab pos="755650" algn="l"/>
              </a:tabLst>
            </a:pPr>
            <a:r>
              <a:rPr sz="1600" dirty="0">
                <a:latin typeface="+mj-lt"/>
                <a:cs typeface="Calibri" panose="020F0502020204030204"/>
              </a:rPr>
              <a:t>See what the module actually does</a:t>
            </a:r>
            <a:endParaRPr lang="en-US" sz="1600" dirty="0">
              <a:latin typeface="+mj-lt"/>
              <a:cs typeface="Calibri" panose="020F0502020204030204"/>
            </a:endParaRPr>
          </a:p>
          <a:p>
            <a:pPr marL="12700">
              <a:lnSpc>
                <a:spcPts val="3090"/>
              </a:lnSpc>
            </a:pPr>
            <a:r>
              <a:rPr lang="en-US" b="1" dirty="0">
                <a:latin typeface="+mj-lt"/>
                <a:cs typeface="Courier New" panose="02070309020205020404"/>
              </a:rPr>
              <a:t>module display &lt;</a:t>
            </a:r>
            <a:r>
              <a:rPr lang="en-US" b="1" dirty="0" err="1">
                <a:latin typeface="+mj-lt"/>
                <a:cs typeface="Courier New" panose="02070309020205020404"/>
              </a:rPr>
              <a:t>modulename</a:t>
            </a:r>
            <a:r>
              <a:rPr lang="en-US" b="1" dirty="0">
                <a:latin typeface="+mj-lt"/>
                <a:cs typeface="Courier New" panose="02070309020205020404"/>
              </a:rPr>
              <a:t>&gt;</a:t>
            </a:r>
          </a:p>
          <a:p>
            <a:pPr marL="755650" indent="-286385">
              <a:lnSpc>
                <a:spcPts val="2620"/>
              </a:lnSpc>
              <a:buFont typeface="Arial" panose="020B0604020202020204"/>
              <a:buChar char="–"/>
              <a:tabLst>
                <a:tab pos="755015" algn="l"/>
                <a:tab pos="755650" algn="l"/>
              </a:tabLst>
            </a:pPr>
            <a:r>
              <a:rPr lang="en-US" sz="1400" dirty="0">
                <a:cs typeface="Calibri" panose="020F0502020204030204"/>
              </a:rPr>
              <a:t>Show module details</a:t>
            </a:r>
          </a:p>
          <a:p>
            <a:pPr marL="12700">
              <a:lnSpc>
                <a:spcPts val="3090"/>
              </a:lnSpc>
            </a:pPr>
            <a:r>
              <a:rPr b="1" dirty="0">
                <a:latin typeface="+mj-lt"/>
                <a:cs typeface="Courier New" panose="02070309020205020404"/>
              </a:rPr>
              <a:t>module help &lt;modulename&gt;</a:t>
            </a:r>
            <a:endParaRPr dirty="0">
              <a:latin typeface="+mj-lt"/>
              <a:cs typeface="Courier New" panose="02070309020205020404"/>
            </a:endParaRPr>
          </a:p>
          <a:p>
            <a:pPr marL="755650" indent="-286385">
              <a:lnSpc>
                <a:spcPts val="2620"/>
              </a:lnSpc>
              <a:buFont typeface="Arial" panose="020B0604020202020204"/>
              <a:buChar char="–"/>
              <a:tabLst>
                <a:tab pos="755015" algn="l"/>
                <a:tab pos="755650" algn="l"/>
              </a:tabLst>
            </a:pPr>
            <a:r>
              <a:rPr sz="1600" dirty="0">
                <a:latin typeface="+mj-lt"/>
                <a:cs typeface="Calibri" panose="020F0502020204030204"/>
              </a:rPr>
              <a:t>Get more information about the so</a:t>
            </a:r>
            <a:r>
              <a:rPr lang="en-US" sz="1600" dirty="0">
                <a:latin typeface="+mj-lt"/>
                <a:cs typeface="Calibri" panose="020F0502020204030204"/>
              </a:rPr>
              <a:t>ft</a:t>
            </a:r>
            <a:r>
              <a:rPr sz="1600" dirty="0">
                <a:latin typeface="+mj-lt"/>
                <a:cs typeface="Calibri" panose="020F0502020204030204"/>
              </a:rPr>
              <a:t>ware</a:t>
            </a:r>
            <a:endParaRPr lang="en-US" sz="1600" dirty="0">
              <a:latin typeface="+mj-lt"/>
              <a:cs typeface="Calibri" panose="020F0502020204030204"/>
            </a:endParaRPr>
          </a:p>
          <a:p>
            <a:pPr marL="469265">
              <a:lnSpc>
                <a:spcPts val="2620"/>
              </a:lnSpc>
              <a:tabLst>
                <a:tab pos="755015" algn="l"/>
                <a:tab pos="755650" algn="l"/>
              </a:tabLst>
            </a:pPr>
            <a:r>
              <a:rPr lang="en-US" sz="1600" dirty="0">
                <a:latin typeface="+mj-lt"/>
                <a:cs typeface="Calibri" panose="020F0502020204030204"/>
              </a:rPr>
              <a:t>https://modules.readthedocs.io/en/latest/</a:t>
            </a:r>
          </a:p>
          <a:p>
            <a:pPr marL="755650" indent="-286385">
              <a:lnSpc>
                <a:spcPts val="2620"/>
              </a:lnSpc>
              <a:buFont typeface="Arial" panose="020B0604020202020204"/>
              <a:buChar char="–"/>
              <a:tabLst>
                <a:tab pos="755015" algn="l"/>
                <a:tab pos="755650" algn="l"/>
              </a:tabLst>
            </a:pPr>
            <a:endParaRPr sz="1600" dirty="0">
              <a:latin typeface="+mj-lt"/>
              <a:cs typeface="Calibri" panose="020F0502020204030204"/>
            </a:endParaRPr>
          </a:p>
          <a:p>
            <a:pPr marL="1367790" algn="ctr">
              <a:lnSpc>
                <a:spcPct val="100000"/>
              </a:lnSpc>
              <a:spcBef>
                <a:spcPts val="2255"/>
              </a:spcBef>
            </a:pPr>
            <a:r>
              <a:rPr sz="900" dirty="0">
                <a:solidFill>
                  <a:srgbClr val="114766"/>
                </a:solidFill>
                <a:latin typeface="+mj-lt"/>
                <a:cs typeface="Calibri" panose="020F0502020204030204"/>
              </a:rPr>
              <a:t>- 41 -</a:t>
            </a:r>
            <a:endParaRPr sz="900" dirty="0">
              <a:latin typeface="+mj-lt"/>
              <a:cs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07323" y="3607723"/>
            <a:ext cx="8329350" cy="432261"/>
          </a:xfrm>
          <a:prstGeom prst="rect">
            <a:avLst/>
          </a:prstGeom>
          <a:blipFill>
            <a:blip r:embed="rId2" cstate="print"/>
            <a:stretch>
              <a:fillRect/>
            </a:stretch>
          </a:blipFill>
        </p:spPr>
        <p:txBody>
          <a:bodyPr wrap="square" lIns="0" tIns="0" rIns="0" bIns="0" rtlCol="0"/>
          <a:lstStyle/>
          <a:p>
            <a:endParaRPr>
              <a:latin typeface="+mj-lt"/>
            </a:endParaRPr>
          </a:p>
        </p:txBody>
      </p:sp>
      <p:sp>
        <p:nvSpPr>
          <p:cNvPr id="3" name="object 3"/>
          <p:cNvSpPr txBox="1">
            <a:spLocks noGrp="1"/>
          </p:cNvSpPr>
          <p:nvPr>
            <p:ph type="title"/>
          </p:nvPr>
        </p:nvSpPr>
        <p:spPr>
          <a:xfrm>
            <a:off x="1469686" y="142399"/>
            <a:ext cx="6740319"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Key modules for compiling</a:t>
            </a:r>
          </a:p>
        </p:txBody>
      </p:sp>
      <p:sp>
        <p:nvSpPr>
          <p:cNvPr id="4" name="object 4"/>
          <p:cNvSpPr/>
          <p:nvPr/>
        </p:nvSpPr>
        <p:spPr>
          <a:xfrm>
            <a:off x="6149323" y="4856479"/>
            <a:ext cx="2060575" cy="958215"/>
          </a:xfrm>
          <a:custGeom>
            <a:avLst/>
            <a:gdLst/>
            <a:ahLst/>
            <a:cxnLst/>
            <a:rect l="l" t="t" r="r" b="b"/>
            <a:pathLst>
              <a:path w="2060575" h="958214">
                <a:moveTo>
                  <a:pt x="1900445" y="0"/>
                </a:moveTo>
                <a:lnTo>
                  <a:pt x="159652" y="0"/>
                </a:lnTo>
                <a:lnTo>
                  <a:pt x="109189" y="8139"/>
                </a:lnTo>
                <a:lnTo>
                  <a:pt x="65363" y="30803"/>
                </a:lnTo>
                <a:lnTo>
                  <a:pt x="30803" y="65364"/>
                </a:lnTo>
                <a:lnTo>
                  <a:pt x="8139" y="109190"/>
                </a:lnTo>
                <a:lnTo>
                  <a:pt x="0" y="159652"/>
                </a:lnTo>
                <a:lnTo>
                  <a:pt x="0" y="798246"/>
                </a:lnTo>
                <a:lnTo>
                  <a:pt x="8139" y="848709"/>
                </a:lnTo>
                <a:lnTo>
                  <a:pt x="30803" y="892535"/>
                </a:lnTo>
                <a:lnTo>
                  <a:pt x="65363" y="927096"/>
                </a:lnTo>
                <a:lnTo>
                  <a:pt x="109189" y="949760"/>
                </a:lnTo>
                <a:lnTo>
                  <a:pt x="159652" y="957900"/>
                </a:lnTo>
                <a:lnTo>
                  <a:pt x="1900445" y="957900"/>
                </a:lnTo>
                <a:lnTo>
                  <a:pt x="1950908" y="949760"/>
                </a:lnTo>
                <a:lnTo>
                  <a:pt x="1994735" y="927096"/>
                </a:lnTo>
                <a:lnTo>
                  <a:pt x="2029296" y="892535"/>
                </a:lnTo>
                <a:lnTo>
                  <a:pt x="2051960" y="848709"/>
                </a:lnTo>
                <a:lnTo>
                  <a:pt x="2060100" y="798246"/>
                </a:lnTo>
                <a:lnTo>
                  <a:pt x="2060100" y="159652"/>
                </a:lnTo>
                <a:lnTo>
                  <a:pt x="2051960" y="109190"/>
                </a:lnTo>
                <a:lnTo>
                  <a:pt x="2029296" y="65364"/>
                </a:lnTo>
                <a:lnTo>
                  <a:pt x="1994735" y="30803"/>
                </a:lnTo>
                <a:lnTo>
                  <a:pt x="1950908" y="8139"/>
                </a:lnTo>
                <a:lnTo>
                  <a:pt x="1900445" y="0"/>
                </a:lnTo>
                <a:close/>
              </a:path>
            </a:pathLst>
          </a:custGeom>
          <a:solidFill>
            <a:srgbClr val="FFECC1"/>
          </a:solidFill>
        </p:spPr>
        <p:txBody>
          <a:bodyPr wrap="square" lIns="0" tIns="0" rIns="0" bIns="0" rtlCol="0"/>
          <a:lstStyle/>
          <a:p>
            <a:endParaRPr>
              <a:latin typeface="+mj-lt"/>
            </a:endParaRPr>
          </a:p>
        </p:txBody>
      </p:sp>
      <p:sp>
        <p:nvSpPr>
          <p:cNvPr id="5" name="object 5"/>
          <p:cNvSpPr/>
          <p:nvPr/>
        </p:nvSpPr>
        <p:spPr>
          <a:xfrm>
            <a:off x="6149323" y="4856479"/>
            <a:ext cx="2060575" cy="958215"/>
          </a:xfrm>
          <a:custGeom>
            <a:avLst/>
            <a:gdLst/>
            <a:ahLst/>
            <a:cxnLst/>
            <a:rect l="l" t="t" r="r" b="b"/>
            <a:pathLst>
              <a:path w="2060575" h="958214">
                <a:moveTo>
                  <a:pt x="0" y="159652"/>
                </a:moveTo>
                <a:lnTo>
                  <a:pt x="8139" y="109190"/>
                </a:lnTo>
                <a:lnTo>
                  <a:pt x="30803" y="65364"/>
                </a:lnTo>
                <a:lnTo>
                  <a:pt x="65363" y="30803"/>
                </a:lnTo>
                <a:lnTo>
                  <a:pt x="109190" y="8139"/>
                </a:lnTo>
                <a:lnTo>
                  <a:pt x="159653" y="0"/>
                </a:lnTo>
                <a:lnTo>
                  <a:pt x="1900446" y="0"/>
                </a:lnTo>
                <a:lnTo>
                  <a:pt x="1950909" y="8139"/>
                </a:lnTo>
                <a:lnTo>
                  <a:pt x="1994735" y="30803"/>
                </a:lnTo>
                <a:lnTo>
                  <a:pt x="2029295" y="65364"/>
                </a:lnTo>
                <a:lnTo>
                  <a:pt x="2051960" y="109190"/>
                </a:lnTo>
                <a:lnTo>
                  <a:pt x="2060099" y="159652"/>
                </a:lnTo>
                <a:lnTo>
                  <a:pt x="2060099" y="798246"/>
                </a:lnTo>
                <a:lnTo>
                  <a:pt x="2051960" y="848709"/>
                </a:lnTo>
                <a:lnTo>
                  <a:pt x="2029295" y="892535"/>
                </a:lnTo>
                <a:lnTo>
                  <a:pt x="1994735" y="927096"/>
                </a:lnTo>
                <a:lnTo>
                  <a:pt x="1950909" y="949760"/>
                </a:lnTo>
                <a:lnTo>
                  <a:pt x="1900446" y="957899"/>
                </a:lnTo>
                <a:lnTo>
                  <a:pt x="159653" y="957899"/>
                </a:lnTo>
                <a:lnTo>
                  <a:pt x="109190" y="949760"/>
                </a:lnTo>
                <a:lnTo>
                  <a:pt x="65363" y="927096"/>
                </a:lnTo>
                <a:lnTo>
                  <a:pt x="30803" y="892535"/>
                </a:lnTo>
                <a:lnTo>
                  <a:pt x="8139" y="848709"/>
                </a:lnTo>
                <a:lnTo>
                  <a:pt x="0" y="798246"/>
                </a:lnTo>
                <a:lnTo>
                  <a:pt x="0" y="159652"/>
                </a:lnTo>
                <a:close/>
              </a:path>
            </a:pathLst>
          </a:custGeom>
          <a:ln w="9524">
            <a:solidFill>
              <a:srgbClr val="1E5C76"/>
            </a:solidFill>
          </a:ln>
        </p:spPr>
        <p:txBody>
          <a:bodyPr wrap="square" lIns="0" tIns="0" rIns="0" bIns="0" rtlCol="0"/>
          <a:lstStyle/>
          <a:p>
            <a:endParaRPr>
              <a:latin typeface="+mj-lt"/>
            </a:endParaRPr>
          </a:p>
        </p:txBody>
      </p:sp>
      <p:sp>
        <p:nvSpPr>
          <p:cNvPr id="6" name="object 6"/>
          <p:cNvSpPr txBox="1"/>
          <p:nvPr/>
        </p:nvSpPr>
        <p:spPr>
          <a:xfrm>
            <a:off x="535939" y="1251966"/>
            <a:ext cx="7981950" cy="445198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PrgEnv-intel / PrgEnv-cray / PrgEnv-gnu</a:t>
            </a:r>
            <a:endParaRPr sz="280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Which underlying compiler the wrappers should invoke</a:t>
            </a:r>
            <a:endParaRPr sz="2400">
              <a:latin typeface="+mj-lt"/>
              <a:cs typeface="Calibri" panose="020F0502020204030204"/>
            </a:endParaRPr>
          </a:p>
          <a:p>
            <a:pPr marL="355600" indent="-342900">
              <a:lnSpc>
                <a:spcPct val="100000"/>
              </a:lnSpc>
              <a:spcBef>
                <a:spcPts val="715"/>
              </a:spcBef>
              <a:buFont typeface="Arial" panose="020B0604020202020204"/>
              <a:buChar char="•"/>
              <a:tabLst>
                <a:tab pos="354965" algn="l"/>
                <a:tab pos="355600" algn="l"/>
              </a:tabLst>
            </a:pPr>
            <a:r>
              <a:rPr sz="2800" b="1" dirty="0">
                <a:latin typeface="+mj-lt"/>
                <a:cs typeface="Calibri" panose="020F0502020204030204"/>
              </a:rPr>
              <a:t>craype-haswell / craype-mic-knl</a:t>
            </a:r>
            <a:endParaRPr sz="2800">
              <a:latin typeface="+mj-lt"/>
              <a:cs typeface="Calibri" panose="020F0502020204030204"/>
            </a:endParaRPr>
          </a:p>
          <a:p>
            <a:pPr marL="749300" marR="256540" lvl="1" indent="-279400">
              <a:lnSpc>
                <a:spcPct val="101000"/>
              </a:lnSpc>
              <a:spcBef>
                <a:spcPts val="505"/>
              </a:spcBef>
              <a:buFont typeface="Arial" panose="020B0604020202020204"/>
              <a:buChar char="–"/>
              <a:tabLst>
                <a:tab pos="755650" algn="l"/>
              </a:tabLst>
            </a:pPr>
            <a:r>
              <a:rPr sz="2400" dirty="0">
                <a:latin typeface="+mj-lt"/>
                <a:cs typeface="Calibri" panose="020F0502020204030204"/>
              </a:rPr>
              <a:t>Remember, login nodes are haswell, but we are building  for KNL!</a:t>
            </a:r>
            <a:endParaRPr sz="2400">
              <a:latin typeface="+mj-lt"/>
              <a:cs typeface="Calibri" panose="020F0502020204030204"/>
            </a:endParaRPr>
          </a:p>
          <a:p>
            <a:pPr marL="469900">
              <a:lnSpc>
                <a:spcPct val="100000"/>
              </a:lnSpc>
              <a:spcBef>
                <a:spcPts val="495"/>
              </a:spcBef>
              <a:tabLst>
                <a:tab pos="5408295" algn="l"/>
              </a:tabLst>
            </a:pPr>
            <a:r>
              <a:rPr sz="2400" b="1" dirty="0">
                <a:latin typeface="+mj-lt"/>
                <a:cs typeface="Courier New" panose="02070309020205020404"/>
              </a:rPr>
              <a:t>module swap craype-haswell	craype-mic-knl</a:t>
            </a:r>
            <a:endParaRPr sz="2400">
              <a:latin typeface="+mj-lt"/>
              <a:cs typeface="Courier New" panose="020703090202050204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Wrappers manage cross-compiling</a:t>
            </a:r>
            <a:endParaRPr sz="2400">
              <a:latin typeface="+mj-lt"/>
              <a:cs typeface="Calibri" panose="020F0502020204030204"/>
            </a:endParaRPr>
          </a:p>
          <a:p>
            <a:pPr>
              <a:lnSpc>
                <a:spcPct val="100000"/>
              </a:lnSpc>
              <a:spcBef>
                <a:spcPts val="35"/>
              </a:spcBef>
            </a:pPr>
            <a:endParaRPr sz="3800">
              <a:latin typeface="+mj-lt"/>
              <a:cs typeface="Calibri" panose="020F0502020204030204"/>
            </a:endParaRPr>
          </a:p>
          <a:p>
            <a:pPr marL="5751195" marR="493395">
              <a:lnSpc>
                <a:spcPts val="2800"/>
              </a:lnSpc>
            </a:pPr>
            <a:r>
              <a:rPr sz="2400" b="1" dirty="0">
                <a:latin typeface="+mj-lt"/>
                <a:cs typeface="Calibri" panose="020F0502020204030204"/>
              </a:rPr>
              <a:t>Important for  today!</a:t>
            </a:r>
            <a:endParaRPr sz="2400">
              <a:latin typeface="+mj-lt"/>
              <a:cs typeface="Calibri" panose="020F0502020204030204"/>
            </a:endParaRPr>
          </a:p>
        </p:txBody>
      </p:sp>
      <p:sp>
        <p:nvSpPr>
          <p:cNvPr id="7" name="object 7"/>
          <p:cNvSpPr/>
          <p:nvPr/>
        </p:nvSpPr>
        <p:spPr>
          <a:xfrm>
            <a:off x="5765890" y="3979697"/>
            <a:ext cx="1413510" cy="876935"/>
          </a:xfrm>
          <a:custGeom>
            <a:avLst/>
            <a:gdLst/>
            <a:ahLst/>
            <a:cxnLst/>
            <a:rect l="l" t="t" r="r" b="b"/>
            <a:pathLst>
              <a:path w="1413509" h="876935">
                <a:moveTo>
                  <a:pt x="1413481" y="876782"/>
                </a:moveTo>
                <a:lnTo>
                  <a:pt x="0" y="0"/>
                </a:lnTo>
              </a:path>
            </a:pathLst>
          </a:custGeom>
          <a:ln w="19049">
            <a:solidFill>
              <a:srgbClr val="1E5C76"/>
            </a:solidFill>
          </a:ln>
        </p:spPr>
        <p:txBody>
          <a:bodyPr wrap="square" lIns="0" tIns="0" rIns="0" bIns="0" rtlCol="0"/>
          <a:lstStyle/>
          <a:p>
            <a:endParaRPr>
              <a:latin typeface="+mj-lt"/>
            </a:endParaRPr>
          </a:p>
        </p:txBody>
      </p:sp>
      <p:sp>
        <p:nvSpPr>
          <p:cNvPr id="8" name="object 8"/>
          <p:cNvSpPr/>
          <p:nvPr/>
        </p:nvSpPr>
        <p:spPr>
          <a:xfrm>
            <a:off x="5744306" y="3966307"/>
            <a:ext cx="141605" cy="121285"/>
          </a:xfrm>
          <a:custGeom>
            <a:avLst/>
            <a:gdLst/>
            <a:ahLst/>
            <a:cxnLst/>
            <a:rect l="l" t="t" r="r" b="b"/>
            <a:pathLst>
              <a:path w="141604" h="121285">
                <a:moveTo>
                  <a:pt x="0" y="0"/>
                </a:moveTo>
                <a:lnTo>
                  <a:pt x="74451" y="120906"/>
                </a:lnTo>
                <a:lnTo>
                  <a:pt x="141395" y="12983"/>
                </a:lnTo>
                <a:lnTo>
                  <a:pt x="0" y="0"/>
                </a:lnTo>
                <a:close/>
              </a:path>
            </a:pathLst>
          </a:custGeom>
          <a:solidFill>
            <a:srgbClr val="1E5C76"/>
          </a:solidFill>
        </p:spPr>
        <p:txBody>
          <a:bodyPr wrap="square" lIns="0" tIns="0" rIns="0" bIns="0" rtlCol="0"/>
          <a:lstStyle/>
          <a:p>
            <a:endParaRPr>
              <a:latin typeface="+mj-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0276" y="300063"/>
            <a:ext cx="7422384" cy="459100"/>
          </a:xfrm>
          <a:prstGeom prst="rect">
            <a:avLst/>
          </a:prstGeom>
        </p:spPr>
        <p:txBody>
          <a:bodyPr vert="horz" wrap="square" lIns="0" tIns="12700" rIns="0" bIns="0" rtlCol="0">
            <a:spAutoFit/>
          </a:bodyPr>
          <a:lstStyle/>
          <a:p>
            <a:pPr marL="12700">
              <a:lnSpc>
                <a:spcPct val="100000"/>
              </a:lnSpc>
              <a:spcBef>
                <a:spcPts val="100"/>
              </a:spcBef>
            </a:pPr>
            <a:r>
              <a:rPr sz="2900" dirty="0">
                <a:latin typeface="+mj-lt"/>
              </a:rPr>
              <a:t>What do compiler wrappers link by default?</a:t>
            </a:r>
          </a:p>
        </p:txBody>
      </p:sp>
      <p:sp>
        <p:nvSpPr>
          <p:cNvPr id="3" name="object 3"/>
          <p:cNvSpPr txBox="1"/>
          <p:nvPr/>
        </p:nvSpPr>
        <p:spPr>
          <a:xfrm>
            <a:off x="535939" y="1297328"/>
            <a:ext cx="7996555" cy="726440"/>
          </a:xfrm>
          <a:prstGeom prst="rect">
            <a:avLst/>
          </a:prstGeom>
        </p:spPr>
        <p:txBody>
          <a:bodyPr vert="horz" wrap="square" lIns="0" tIns="104139" rIns="0" bIns="0" rtlCol="0">
            <a:spAutoFit/>
          </a:bodyPr>
          <a:lstStyle/>
          <a:p>
            <a:pPr marL="355600" marR="5080" indent="-342900">
              <a:lnSpc>
                <a:spcPct val="77000"/>
              </a:lnSpc>
              <a:spcBef>
                <a:spcPts val="820"/>
              </a:spcBef>
              <a:buFont typeface="Arial" panose="020B0604020202020204"/>
              <a:buChar char="•"/>
              <a:tabLst>
                <a:tab pos="354965" algn="l"/>
                <a:tab pos="355600" algn="l"/>
              </a:tabLst>
            </a:pPr>
            <a:r>
              <a:rPr sz="2600" b="1" dirty="0">
                <a:latin typeface="+mj-lt"/>
                <a:cs typeface="Calibri" panose="020F0502020204030204"/>
              </a:rPr>
              <a:t>Depending on the modules loaded, MPI, LAPACK/BLAS/  ScaLAPACK libraries, and more</a:t>
            </a:r>
            <a:endParaRPr sz="2600">
              <a:latin typeface="+mj-lt"/>
              <a:cs typeface="Calibri" panose="020F0502020204030204"/>
            </a:endParaRPr>
          </a:p>
        </p:txBody>
      </p:sp>
      <p:sp>
        <p:nvSpPr>
          <p:cNvPr id="4" name="object 4"/>
          <p:cNvSpPr txBox="1"/>
          <p:nvPr/>
        </p:nvSpPr>
        <p:spPr>
          <a:xfrm>
            <a:off x="4424094" y="6454847"/>
            <a:ext cx="316230" cy="182101"/>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114766"/>
                </a:solidFill>
                <a:latin typeface="+mj-lt"/>
                <a:cs typeface="Calibri" panose="020F0502020204030204"/>
              </a:rPr>
              <a:t>- 43 -</a:t>
            </a:r>
            <a:endParaRPr sz="1100">
              <a:latin typeface="+mj-lt"/>
              <a:cs typeface="Calibri" panose="020F0502020204030204"/>
            </a:endParaRPr>
          </a:p>
        </p:txBody>
      </p:sp>
      <p:sp>
        <p:nvSpPr>
          <p:cNvPr id="5" name="object 5"/>
          <p:cNvSpPr/>
          <p:nvPr/>
        </p:nvSpPr>
        <p:spPr>
          <a:xfrm>
            <a:off x="0" y="2165461"/>
            <a:ext cx="9143998" cy="4038598"/>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0731" y="173959"/>
            <a:ext cx="519678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Compiling code</a:t>
            </a:r>
          </a:p>
        </p:txBody>
      </p:sp>
      <p:sp>
        <p:nvSpPr>
          <p:cNvPr id="3" name="object 3"/>
          <p:cNvSpPr txBox="1"/>
          <p:nvPr/>
        </p:nvSpPr>
        <p:spPr>
          <a:xfrm>
            <a:off x="535939" y="1262571"/>
            <a:ext cx="7981950" cy="3371215"/>
          </a:xfrm>
          <a:prstGeom prst="rect">
            <a:avLst/>
          </a:prstGeom>
        </p:spPr>
        <p:txBody>
          <a:bodyPr vert="horz" wrap="square" lIns="0" tIns="90170" rIns="0" bIns="0" rtlCol="0">
            <a:spAutoFit/>
          </a:bodyPr>
          <a:lstStyle/>
          <a:p>
            <a:pPr marL="355600" indent="-342900">
              <a:lnSpc>
                <a:spcPct val="100000"/>
              </a:lnSpc>
              <a:spcBef>
                <a:spcPts val="710"/>
              </a:spcBef>
              <a:buFont typeface="Arial" panose="020B0604020202020204"/>
              <a:buChar char="•"/>
              <a:tabLst>
                <a:tab pos="354965" algn="l"/>
                <a:tab pos="355600" algn="l"/>
              </a:tabLst>
            </a:pPr>
            <a:r>
              <a:rPr sz="2800" b="1" dirty="0">
                <a:latin typeface="+mj-lt"/>
                <a:cs typeface="Calibri" panose="020F0502020204030204"/>
              </a:rPr>
              <a:t>Very similar to regular Linux, but using CC / cc / </a:t>
            </a:r>
            <a:r>
              <a:rPr lang="en-US" sz="2800" b="1" dirty="0" err="1">
                <a:latin typeface="+mj-lt"/>
                <a:cs typeface="Calibri" panose="020F0502020204030204"/>
              </a:rPr>
              <a:t>ft</a:t>
            </a:r>
            <a:r>
              <a:rPr sz="2800" b="1" dirty="0" err="1">
                <a:latin typeface="+mj-lt"/>
                <a:cs typeface="Calibri" panose="020F0502020204030204"/>
              </a:rPr>
              <a:t>n</a:t>
            </a:r>
            <a:endParaRPr sz="2800" dirty="0">
              <a:latin typeface="+mj-lt"/>
              <a:cs typeface="Calibri" panose="020F05020202040302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Do this bit once:</a:t>
            </a:r>
            <a:endParaRPr sz="2800" dirty="0">
              <a:latin typeface="+mj-lt"/>
              <a:cs typeface="Calibri" panose="020F0502020204030204"/>
            </a:endParaRPr>
          </a:p>
          <a:p>
            <a:pPr marL="469900">
              <a:lnSpc>
                <a:spcPct val="100000"/>
              </a:lnSpc>
              <a:spcBef>
                <a:spcPts val="540"/>
              </a:spcBef>
              <a:tabLst>
                <a:tab pos="5408295" algn="l"/>
              </a:tabLst>
            </a:pPr>
            <a:r>
              <a:rPr sz="2400" b="1" dirty="0">
                <a:latin typeface="+mj-lt"/>
                <a:cs typeface="Courier New" panose="02070309020205020404"/>
              </a:rPr>
              <a:t>module swap craype-haswell	craype-mic-knl</a:t>
            </a:r>
            <a:endParaRPr sz="2400" dirty="0">
              <a:latin typeface="+mj-lt"/>
              <a:cs typeface="Courier New" panose="02070309020205020404"/>
            </a:endParaRPr>
          </a:p>
          <a:p>
            <a:pPr marL="355600" indent="-342900">
              <a:lnSpc>
                <a:spcPct val="100000"/>
              </a:lnSpc>
              <a:spcBef>
                <a:spcPts val="720"/>
              </a:spcBef>
              <a:buFont typeface="Arial" panose="020B0604020202020204"/>
              <a:buChar char="•"/>
              <a:tabLst>
                <a:tab pos="354965" algn="l"/>
                <a:tab pos="355600" algn="l"/>
              </a:tabLst>
            </a:pPr>
            <a:r>
              <a:rPr sz="2800" b="1" dirty="0">
                <a:latin typeface="+mj-lt"/>
                <a:cs typeface="Calibri" panose="020F0502020204030204"/>
              </a:rPr>
              <a:t>Then:</a:t>
            </a:r>
            <a:endParaRPr sz="2800" dirty="0">
              <a:latin typeface="+mj-lt"/>
              <a:cs typeface="Calibri" panose="020F0502020204030204"/>
            </a:endParaRPr>
          </a:p>
          <a:p>
            <a:pPr marL="469900">
              <a:lnSpc>
                <a:spcPct val="100000"/>
              </a:lnSpc>
              <a:spcBef>
                <a:spcPts val="540"/>
              </a:spcBef>
              <a:tabLst>
                <a:tab pos="1201420" algn="l"/>
              </a:tabLst>
            </a:pPr>
            <a:r>
              <a:rPr lang="en-US" sz="2400" b="1" dirty="0">
                <a:latin typeface="+mj-lt"/>
                <a:cs typeface="Courier New" panose="02070309020205020404"/>
              </a:rPr>
              <a:t>cc</a:t>
            </a:r>
            <a:r>
              <a:rPr sz="2400" b="1" dirty="0">
                <a:latin typeface="+mj-lt"/>
                <a:cs typeface="Courier New" panose="02070309020205020404"/>
              </a:rPr>
              <a:t>	–c hack-a-</a:t>
            </a:r>
            <a:r>
              <a:rPr sz="2400" b="1" dirty="0" err="1">
                <a:latin typeface="+mj-lt"/>
                <a:cs typeface="Courier New" panose="02070309020205020404"/>
              </a:rPr>
              <a:t>kernel.</a:t>
            </a:r>
            <a:r>
              <a:rPr lang="en-US" sz="2400" b="1" dirty="0" err="1">
                <a:latin typeface="+mj-lt"/>
                <a:cs typeface="Courier New" panose="02070309020205020404"/>
              </a:rPr>
              <a:t>c</a:t>
            </a:r>
            <a:endParaRPr sz="2400" dirty="0">
              <a:latin typeface="+mj-lt"/>
              <a:cs typeface="Courier New" panose="02070309020205020404"/>
            </a:endParaRPr>
          </a:p>
          <a:p>
            <a:pPr marL="469900">
              <a:lnSpc>
                <a:spcPct val="100000"/>
              </a:lnSpc>
              <a:spcBef>
                <a:spcPts val="620"/>
              </a:spcBef>
              <a:tabLst>
                <a:tab pos="1201420" algn="l"/>
                <a:tab pos="4859655" algn="l"/>
              </a:tabLst>
            </a:pPr>
            <a:r>
              <a:rPr lang="en-US" sz="2400" b="1" dirty="0">
                <a:latin typeface="+mj-lt"/>
                <a:cs typeface="Courier New" panose="02070309020205020404"/>
              </a:rPr>
              <a:t>cc</a:t>
            </a:r>
            <a:r>
              <a:rPr sz="2400" b="1" dirty="0">
                <a:latin typeface="+mj-lt"/>
                <a:cs typeface="Courier New" panose="02070309020205020404"/>
              </a:rPr>
              <a:t>	–o hack-a-</a:t>
            </a:r>
            <a:r>
              <a:rPr sz="2400" b="1" dirty="0" err="1">
                <a:latin typeface="+mj-lt"/>
                <a:cs typeface="Courier New" panose="02070309020205020404"/>
              </a:rPr>
              <a:t>kernel</a:t>
            </a:r>
            <a:r>
              <a:rPr lang="en-US" sz="2400" b="1" dirty="0" err="1">
                <a:latin typeface="+mj-lt"/>
                <a:cs typeface="Courier New" panose="02070309020205020404"/>
              </a:rPr>
              <a:t>.ex</a:t>
            </a:r>
            <a:r>
              <a:rPr sz="2400" b="1" dirty="0">
                <a:latin typeface="+mj-lt"/>
                <a:cs typeface="Courier New" panose="02070309020205020404"/>
              </a:rPr>
              <a:t>	hack-a-kernel.o</a:t>
            </a:r>
            <a:endParaRPr sz="2400" dirty="0">
              <a:latin typeface="+mj-lt"/>
              <a:cs typeface="Courier New" panose="02070309020205020404"/>
            </a:endParaRPr>
          </a:p>
          <a:p>
            <a:pPr marL="355600" indent="-342900">
              <a:lnSpc>
                <a:spcPct val="100000"/>
              </a:lnSpc>
              <a:spcBef>
                <a:spcPts val="620"/>
              </a:spcBef>
              <a:buFont typeface="Arial" panose="020B0604020202020204"/>
              <a:buChar char="•"/>
              <a:tabLst>
                <a:tab pos="354965" algn="l"/>
                <a:tab pos="355600" algn="l"/>
              </a:tabLst>
            </a:pPr>
            <a:r>
              <a:rPr sz="2800" b="1" dirty="0">
                <a:latin typeface="+mj-lt"/>
                <a:cs typeface="Calibri" panose="020F0502020204030204"/>
              </a:rPr>
              <a:t>Note that the module looks aper CPU target!</a:t>
            </a:r>
            <a:endParaRPr sz="2800" dirty="0">
              <a:latin typeface="+mj-lt"/>
              <a:cs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3906" y="132239"/>
            <a:ext cx="553968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Compiling parallel code</a:t>
            </a:r>
          </a:p>
        </p:txBody>
      </p:sp>
      <p:sp>
        <p:nvSpPr>
          <p:cNvPr id="3" name="object 3"/>
          <p:cNvSpPr txBox="1"/>
          <p:nvPr/>
        </p:nvSpPr>
        <p:spPr>
          <a:xfrm>
            <a:off x="535939" y="1251966"/>
            <a:ext cx="6892290" cy="293814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Compiler wrappers give you MPI “for free”</a:t>
            </a:r>
            <a:endParaRPr sz="2800">
              <a:latin typeface="+mj-lt"/>
              <a:cs typeface="Calibri" panose="020F0502020204030204"/>
            </a:endParaRPr>
          </a:p>
          <a:p>
            <a:pPr marL="469900">
              <a:lnSpc>
                <a:spcPct val="100000"/>
              </a:lnSpc>
              <a:spcBef>
                <a:spcPts val="515"/>
              </a:spcBef>
            </a:pPr>
            <a:r>
              <a:rPr sz="2400" dirty="0">
                <a:latin typeface="+mj-lt"/>
                <a:cs typeface="Courier New" panose="02070309020205020404"/>
              </a:rPr>
              <a:t>CC –c hello-mpi.c++</a:t>
            </a:r>
            <a:endParaRPr sz="2400">
              <a:latin typeface="+mj-lt"/>
              <a:cs typeface="Courier New" panose="02070309020205020404"/>
            </a:endParaRPr>
          </a:p>
          <a:p>
            <a:pPr marL="469900">
              <a:lnSpc>
                <a:spcPct val="100000"/>
              </a:lnSpc>
              <a:spcBef>
                <a:spcPts val="620"/>
              </a:spcBef>
              <a:tabLst>
                <a:tab pos="3944620" algn="l"/>
              </a:tabLst>
            </a:pPr>
            <a:r>
              <a:rPr sz="2400" dirty="0">
                <a:latin typeface="+mj-lt"/>
                <a:cs typeface="Courier New" panose="02070309020205020404"/>
              </a:rPr>
              <a:t>CC –o hello-mpi.ex	hello-mpi.o</a:t>
            </a:r>
            <a:endParaRPr sz="2400">
              <a:latin typeface="+mj-lt"/>
              <a:cs typeface="Courier New" panose="020703090202050204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(Cray MPICH – optimized for Aries HSN)</a:t>
            </a:r>
            <a:endParaRPr sz="2800">
              <a:latin typeface="+mj-lt"/>
              <a:cs typeface="Calibri" panose="020F0502020204030204"/>
            </a:endParaRPr>
          </a:p>
          <a:p>
            <a:pPr>
              <a:lnSpc>
                <a:spcPct val="100000"/>
              </a:lnSpc>
              <a:spcBef>
                <a:spcPts val="40"/>
              </a:spcBef>
              <a:buFont typeface="Arial" panose="020B0604020202020204"/>
              <a:buChar char="•"/>
            </a:pPr>
            <a:endParaRPr sz="3850">
              <a:latin typeface="+mj-lt"/>
              <a:cs typeface="Calibri" panose="020F0502020204030204"/>
            </a:endParaRPr>
          </a:p>
          <a:p>
            <a:pPr marL="355600" indent="-342900">
              <a:lnSpc>
                <a:spcPct val="100000"/>
              </a:lnSpc>
              <a:spcBef>
                <a:spcPts val="5"/>
              </a:spcBef>
              <a:buFont typeface="Arial" panose="020B0604020202020204"/>
              <a:buChar char="•"/>
              <a:tabLst>
                <a:tab pos="354965" algn="l"/>
                <a:tab pos="355600" algn="l"/>
              </a:tabLst>
            </a:pPr>
            <a:r>
              <a:rPr sz="2800" b="1" dirty="0">
                <a:latin typeface="+mj-lt"/>
                <a:cs typeface="Calibri" panose="020F0502020204030204"/>
              </a:rPr>
              <a:t>OpenMP: with PrgEnv-intel (NERSC default):</a:t>
            </a:r>
            <a:endParaRPr sz="2800">
              <a:latin typeface="+mj-lt"/>
              <a:cs typeface="Calibri" panose="020F0502020204030204"/>
            </a:endParaRPr>
          </a:p>
        </p:txBody>
      </p:sp>
      <p:graphicFrame>
        <p:nvGraphicFramePr>
          <p:cNvPr id="4" name="object 4"/>
          <p:cNvGraphicFramePr>
            <a:graphicFrameLocks noGrp="1"/>
          </p:cNvGraphicFramePr>
          <p:nvPr/>
        </p:nvGraphicFramePr>
        <p:xfrm>
          <a:off x="974089" y="4274649"/>
          <a:ext cx="7197090" cy="787400"/>
        </p:xfrm>
        <a:graphic>
          <a:graphicData uri="http://schemas.openxmlformats.org/drawingml/2006/table">
            <a:tbl>
              <a:tblPr firstRow="1" bandRow="1">
                <a:tableStyleId>{2D5ABB26-0587-4C30-8999-92F81FD0307C}</a:tableStyleId>
              </a:tblPr>
              <a:tblGrid>
                <a:gridCol w="48895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2378075">
                  <a:extLst>
                    <a:ext uri="{9D8B030D-6E8A-4147-A177-3AD203B41FA5}">
                      <a16:colId xmlns:a16="http://schemas.microsoft.com/office/drawing/2014/main" val="20003"/>
                    </a:ext>
                  </a:extLst>
                </a:gridCol>
                <a:gridCol w="2135505">
                  <a:extLst>
                    <a:ext uri="{9D8B030D-6E8A-4147-A177-3AD203B41FA5}">
                      <a16:colId xmlns:a16="http://schemas.microsoft.com/office/drawing/2014/main" val="20004"/>
                    </a:ext>
                  </a:extLst>
                </a:gridCol>
              </a:tblGrid>
              <a:tr h="393700">
                <a:tc>
                  <a:txBody>
                    <a:bodyPr/>
                    <a:lstStyle/>
                    <a:p>
                      <a:pPr marL="31750">
                        <a:lnSpc>
                          <a:spcPts val="2655"/>
                        </a:lnSpc>
                      </a:pPr>
                      <a:r>
                        <a:rPr sz="2400" spc="-5" dirty="0">
                          <a:latin typeface="Courier New" panose="02070309020205020404"/>
                          <a:cs typeface="Courier New" panose="02070309020205020404"/>
                        </a:rPr>
                        <a:t>cc</a:t>
                      </a:r>
                      <a:endParaRPr sz="2400">
                        <a:latin typeface="Courier New" panose="02070309020205020404"/>
                        <a:cs typeface="Courier New" panose="02070309020205020404"/>
                      </a:endParaRPr>
                    </a:p>
                  </a:txBody>
                  <a:tcPr marL="0" marR="0" marT="0" marB="0"/>
                </a:tc>
                <a:tc>
                  <a:txBody>
                    <a:bodyPr/>
                    <a:lstStyle/>
                    <a:p>
                      <a:pPr algn="ctr">
                        <a:lnSpc>
                          <a:spcPts val="2655"/>
                        </a:lnSpc>
                      </a:pPr>
                      <a:r>
                        <a:rPr sz="2400" dirty="0">
                          <a:latin typeface="Courier New" panose="02070309020205020404"/>
                          <a:cs typeface="Courier New" panose="02070309020205020404"/>
                        </a:rPr>
                        <a:t>–qopenmp</a:t>
                      </a:r>
                      <a:endParaRPr sz="2400">
                        <a:latin typeface="Courier New" panose="02070309020205020404"/>
                        <a:cs typeface="Courier New" panose="02070309020205020404"/>
                      </a:endParaRPr>
                    </a:p>
                  </a:txBody>
                  <a:tcPr marL="0" marR="0" marT="0" marB="0"/>
                </a:tc>
                <a:tc>
                  <a:txBody>
                    <a:bodyPr/>
                    <a:lstStyle/>
                    <a:p>
                      <a:pPr algn="ctr">
                        <a:lnSpc>
                          <a:spcPts val="2655"/>
                        </a:lnSpc>
                      </a:pPr>
                      <a:r>
                        <a:rPr sz="2400" spc="-5" dirty="0">
                          <a:latin typeface="Courier New" panose="02070309020205020404"/>
                          <a:cs typeface="Courier New" panose="02070309020205020404"/>
                        </a:rPr>
                        <a:t>–c</a:t>
                      </a:r>
                      <a:endParaRPr sz="2400">
                        <a:latin typeface="Courier New" panose="02070309020205020404"/>
                        <a:cs typeface="Courier New" panose="02070309020205020404"/>
                      </a:endParaRPr>
                    </a:p>
                  </a:txBody>
                  <a:tcPr marL="0" marR="0" marT="0" marB="0"/>
                </a:tc>
                <a:tc>
                  <a:txBody>
                    <a:bodyPr/>
                    <a:lstStyle/>
                    <a:p>
                      <a:pPr marL="91440">
                        <a:lnSpc>
                          <a:spcPts val="2655"/>
                        </a:lnSpc>
                      </a:pPr>
                      <a:r>
                        <a:rPr sz="2400" dirty="0">
                          <a:latin typeface="Courier New" panose="02070309020205020404"/>
                          <a:cs typeface="Courier New" panose="02070309020205020404"/>
                        </a:rPr>
                        <a:t>hello-omp.c</a:t>
                      </a:r>
                      <a:endParaRPr sz="2400">
                        <a:latin typeface="Courier New" panose="02070309020205020404"/>
                        <a:cs typeface="Courier New" panose="02070309020205020404"/>
                      </a:endParaRPr>
                    </a:p>
                  </a:txBody>
                  <a:tcPr marL="0" marR="0" marT="0" marB="0"/>
                </a:tc>
                <a:tc>
                  <a:txBody>
                    <a:bodyPr/>
                    <a:lstStyle/>
                    <a:p>
                      <a:pPr>
                        <a:lnSpc>
                          <a:spcPct val="100000"/>
                        </a:lnSpc>
                      </a:pPr>
                      <a:endParaRPr sz="25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0"/>
                  </a:ext>
                </a:extLst>
              </a:tr>
              <a:tr h="393700">
                <a:tc>
                  <a:txBody>
                    <a:bodyPr/>
                    <a:lstStyle/>
                    <a:p>
                      <a:pPr marL="31750">
                        <a:lnSpc>
                          <a:spcPts val="2825"/>
                        </a:lnSpc>
                        <a:spcBef>
                          <a:spcPts val="175"/>
                        </a:spcBef>
                      </a:pPr>
                      <a:r>
                        <a:rPr sz="2400" spc="-5" dirty="0">
                          <a:latin typeface="Courier New" panose="02070309020205020404"/>
                          <a:cs typeface="Courier New" panose="02070309020205020404"/>
                        </a:rPr>
                        <a:t>cc</a:t>
                      </a:r>
                      <a:endParaRPr sz="2400">
                        <a:latin typeface="Courier New" panose="02070309020205020404"/>
                        <a:cs typeface="Courier New" panose="02070309020205020404"/>
                      </a:endParaRPr>
                    </a:p>
                  </a:txBody>
                  <a:tcPr marL="0" marR="0" marT="22225" marB="0"/>
                </a:tc>
                <a:tc>
                  <a:txBody>
                    <a:bodyPr/>
                    <a:lstStyle/>
                    <a:p>
                      <a:pPr algn="ctr">
                        <a:lnSpc>
                          <a:spcPts val="2825"/>
                        </a:lnSpc>
                        <a:spcBef>
                          <a:spcPts val="175"/>
                        </a:spcBef>
                      </a:pPr>
                      <a:r>
                        <a:rPr sz="2400" dirty="0">
                          <a:latin typeface="Courier New" panose="02070309020205020404"/>
                          <a:cs typeface="Courier New" panose="02070309020205020404"/>
                        </a:rPr>
                        <a:t>–qopenmp</a:t>
                      </a:r>
                      <a:endParaRPr sz="2400">
                        <a:latin typeface="Courier New" panose="02070309020205020404"/>
                        <a:cs typeface="Courier New" panose="02070309020205020404"/>
                      </a:endParaRPr>
                    </a:p>
                  </a:txBody>
                  <a:tcPr marL="0" marR="0" marT="22225" marB="0"/>
                </a:tc>
                <a:tc>
                  <a:txBody>
                    <a:bodyPr/>
                    <a:lstStyle/>
                    <a:p>
                      <a:pPr algn="ctr">
                        <a:lnSpc>
                          <a:spcPts val="2825"/>
                        </a:lnSpc>
                        <a:spcBef>
                          <a:spcPts val="175"/>
                        </a:spcBef>
                      </a:pPr>
                      <a:r>
                        <a:rPr sz="2400" spc="-5" dirty="0">
                          <a:latin typeface="Courier New" panose="02070309020205020404"/>
                          <a:cs typeface="Courier New" panose="02070309020205020404"/>
                        </a:rPr>
                        <a:t>–o</a:t>
                      </a:r>
                      <a:endParaRPr sz="2400">
                        <a:latin typeface="Courier New" panose="02070309020205020404"/>
                        <a:cs typeface="Courier New" panose="02070309020205020404"/>
                      </a:endParaRPr>
                    </a:p>
                  </a:txBody>
                  <a:tcPr marL="0" marR="0" marT="22225" marB="0"/>
                </a:tc>
                <a:tc>
                  <a:txBody>
                    <a:bodyPr/>
                    <a:lstStyle/>
                    <a:p>
                      <a:pPr marL="91440">
                        <a:lnSpc>
                          <a:spcPts val="2825"/>
                        </a:lnSpc>
                        <a:spcBef>
                          <a:spcPts val="175"/>
                        </a:spcBef>
                      </a:pPr>
                      <a:r>
                        <a:rPr sz="2400" dirty="0">
                          <a:latin typeface="Courier New" panose="02070309020205020404"/>
                          <a:cs typeface="Courier New" panose="02070309020205020404"/>
                        </a:rPr>
                        <a:t>hello-omp.ex</a:t>
                      </a:r>
                      <a:endParaRPr sz="2400">
                        <a:latin typeface="Courier New" panose="02070309020205020404"/>
                        <a:cs typeface="Courier New" panose="02070309020205020404"/>
                      </a:endParaRPr>
                    </a:p>
                  </a:txBody>
                  <a:tcPr marL="0" marR="0" marT="22225" marB="0"/>
                </a:tc>
                <a:tc>
                  <a:txBody>
                    <a:bodyPr/>
                    <a:lstStyle/>
                    <a:p>
                      <a:pPr marL="91440">
                        <a:lnSpc>
                          <a:spcPts val="2825"/>
                        </a:lnSpc>
                        <a:spcBef>
                          <a:spcPts val="175"/>
                        </a:spcBef>
                      </a:pPr>
                      <a:r>
                        <a:rPr sz="2400" dirty="0">
                          <a:latin typeface="Courier New" panose="02070309020205020404"/>
                          <a:cs typeface="Courier New" panose="02070309020205020404"/>
                        </a:rPr>
                        <a:t>hello-omp.o</a:t>
                      </a:r>
                      <a:endParaRPr sz="2400">
                        <a:latin typeface="Courier New" panose="02070309020205020404"/>
                        <a:cs typeface="Courier New" panose="02070309020205020404"/>
                      </a:endParaRPr>
                    </a:p>
                  </a:txBody>
                  <a:tcPr marL="0" marR="0" marT="22225" marB="0"/>
                </a:tc>
                <a:extLst>
                  <a:ext uri="{0D108BD9-81ED-4DB2-BD59-A6C34878D82A}">
                    <a16:rowId xmlns:a16="http://schemas.microsoft.com/office/drawing/2014/main" val="10001"/>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26" y="123349"/>
            <a:ext cx="4414273"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MPI vs OpenMP</a:t>
            </a:r>
          </a:p>
        </p:txBody>
      </p:sp>
      <p:sp>
        <p:nvSpPr>
          <p:cNvPr id="3" name="object 3"/>
          <p:cNvSpPr txBox="1"/>
          <p:nvPr/>
        </p:nvSpPr>
        <p:spPr>
          <a:xfrm>
            <a:off x="535939" y="1328420"/>
            <a:ext cx="8065134" cy="4302760"/>
          </a:xfrm>
          <a:prstGeom prst="rect">
            <a:avLst/>
          </a:prstGeom>
        </p:spPr>
        <p:txBody>
          <a:bodyPr vert="horz" wrap="square" lIns="0" tIns="33020" rIns="0" bIns="0" rtlCol="0">
            <a:spAutoFit/>
          </a:bodyPr>
          <a:lstStyle/>
          <a:p>
            <a:pPr marL="355600" marR="833120"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MPI provides explicit communication between  separate processes</a:t>
            </a:r>
            <a:endParaRPr sz="280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Optionally on separate nodes – ie packets over a network</a:t>
            </a:r>
            <a:endParaRPr sz="2400">
              <a:latin typeface="+mj-lt"/>
              <a:cs typeface="Calibri" panose="020F0502020204030204"/>
            </a:endParaRPr>
          </a:p>
          <a:p>
            <a:pPr marL="749300" marR="161290" lvl="1" indent="-279400">
              <a:lnSpc>
                <a:spcPct val="101000"/>
              </a:lnSpc>
              <a:spcBef>
                <a:spcPts val="475"/>
              </a:spcBef>
              <a:buFont typeface="Arial" panose="020B0604020202020204"/>
              <a:buChar char="–"/>
              <a:tabLst>
                <a:tab pos="755650" algn="l"/>
              </a:tabLst>
            </a:pPr>
            <a:r>
              <a:rPr sz="2400" dirty="0">
                <a:latin typeface="+mj-lt"/>
                <a:cs typeface="Calibri" panose="020F0502020204030204"/>
              </a:rPr>
              <a:t>Most parallel development in last 2 decades has used this  approach</a:t>
            </a:r>
            <a:endParaRPr sz="2400">
              <a:latin typeface="+mj-lt"/>
              <a:cs typeface="Calibri" panose="020F0502020204030204"/>
            </a:endParaRPr>
          </a:p>
          <a:p>
            <a:pPr marL="355600" marR="5080" indent="-342900">
              <a:lnSpc>
                <a:spcPts val="3330"/>
              </a:lnSpc>
              <a:spcBef>
                <a:spcPts val="830"/>
              </a:spcBef>
              <a:buFont typeface="Arial" panose="020B0604020202020204"/>
              <a:buChar char="•"/>
              <a:tabLst>
                <a:tab pos="354965" algn="l"/>
                <a:tab pos="355600" algn="l"/>
              </a:tabLst>
            </a:pPr>
            <a:r>
              <a:rPr sz="2800" b="1" dirty="0">
                <a:latin typeface="+mj-lt"/>
                <a:cs typeface="Calibri" panose="020F0502020204030204"/>
              </a:rPr>
              <a:t>OpenMP provides work-sharing and  synchronization between threads in a single process</a:t>
            </a:r>
            <a:endParaRPr sz="2800">
              <a:latin typeface="+mj-lt"/>
              <a:cs typeface="Calibri" panose="020F0502020204030204"/>
            </a:endParaRPr>
          </a:p>
          <a:p>
            <a:pPr marL="755650" lvl="1" indent="-285750">
              <a:lnSpc>
                <a:spcPct val="100000"/>
              </a:lnSpc>
              <a:spcBef>
                <a:spcPts val="505"/>
              </a:spcBef>
              <a:buFont typeface="Arial" panose="020B0604020202020204"/>
              <a:buChar char="–"/>
              <a:tabLst>
                <a:tab pos="755650" algn="l"/>
              </a:tabLst>
            </a:pPr>
            <a:r>
              <a:rPr sz="2400" dirty="0">
                <a:latin typeface="+mj-lt"/>
                <a:cs typeface="Calibri" panose="020F0502020204030204"/>
              </a:rPr>
              <a:t>Threads share the same memory image</a:t>
            </a:r>
            <a:endParaRPr sz="2400">
              <a:latin typeface="+mj-lt"/>
              <a:cs typeface="Calibri" panose="020F0502020204030204"/>
            </a:endParaRPr>
          </a:p>
          <a:p>
            <a:pPr marL="749300" marR="447675" lvl="1" indent="-279400">
              <a:lnSpc>
                <a:spcPct val="101000"/>
              </a:lnSpc>
              <a:spcBef>
                <a:spcPts val="480"/>
              </a:spcBef>
              <a:buFont typeface="Arial" panose="020B0604020202020204"/>
              <a:buChar char="–"/>
              <a:tabLst>
                <a:tab pos="755650" algn="l"/>
              </a:tabLst>
            </a:pPr>
            <a:r>
              <a:rPr sz="2400" dirty="0">
                <a:latin typeface="+mj-lt"/>
                <a:cs typeface="Calibri" panose="020F0502020204030204"/>
              </a:rPr>
              <a:t>To make the most of a KNL node, most applications will  need to use OpenMP</a:t>
            </a:r>
            <a:endParaRPr sz="2400">
              <a:latin typeface="+mj-lt"/>
              <a:cs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39" y="1293500"/>
            <a:ext cx="3772535" cy="1303020"/>
          </a:xfrm>
          <a:prstGeom prst="rect">
            <a:avLst/>
          </a:prstGeom>
        </p:spPr>
        <p:txBody>
          <a:bodyPr vert="horz" wrap="square" lIns="0" tIns="13970" rIns="0" bIns="0" rtlCol="0">
            <a:spAutoFit/>
          </a:bodyPr>
          <a:lstStyle/>
          <a:p>
            <a:pPr marL="355600" marR="5080" indent="-342900">
              <a:lnSpc>
                <a:spcPct val="100000"/>
              </a:lnSpc>
              <a:spcBef>
                <a:spcPts val="110"/>
              </a:spcBef>
              <a:buFont typeface="Arial" panose="020B0604020202020204"/>
              <a:buChar char="•"/>
              <a:tabLst>
                <a:tab pos="354965" algn="l"/>
                <a:tab pos="355600" algn="l"/>
              </a:tabLst>
            </a:pPr>
            <a:r>
              <a:rPr sz="2800" b="1" dirty="0">
                <a:latin typeface="+mj-lt"/>
                <a:cs typeface="Calibri" panose="020F0502020204030204"/>
              </a:rPr>
              <a:t>An MPI application can  have processes on  more than one node</a:t>
            </a:r>
            <a:endParaRPr sz="2800">
              <a:latin typeface="+mj-lt"/>
              <a:cs typeface="Calibri" panose="020F0502020204030204"/>
            </a:endParaRPr>
          </a:p>
        </p:txBody>
      </p:sp>
      <p:sp>
        <p:nvSpPr>
          <p:cNvPr id="4" name="object 4"/>
          <p:cNvSpPr/>
          <p:nvPr/>
        </p:nvSpPr>
        <p:spPr>
          <a:xfrm>
            <a:off x="2141611" y="2846358"/>
            <a:ext cx="4934194" cy="3351691"/>
          </a:xfrm>
          <a:prstGeom prst="rect">
            <a:avLst/>
          </a:prstGeom>
          <a:blipFill>
            <a:blip r:embed="rId2" cstate="print"/>
            <a:stretch>
              <a:fillRect/>
            </a:stretch>
          </a:blipFill>
        </p:spPr>
        <p:txBody>
          <a:bodyPr wrap="square" lIns="0" tIns="0" rIns="0" bIns="0" rtlCol="0"/>
          <a:lstStyle/>
          <a:p>
            <a:endParaRPr>
              <a:latin typeface="+mj-lt"/>
            </a:endParaRPr>
          </a:p>
        </p:txBody>
      </p:sp>
      <p:sp>
        <p:nvSpPr>
          <p:cNvPr id="5" name="object 5"/>
          <p:cNvSpPr/>
          <p:nvPr/>
        </p:nvSpPr>
        <p:spPr>
          <a:xfrm>
            <a:off x="2109444" y="2930768"/>
            <a:ext cx="4970270" cy="1309370"/>
          </a:xfrm>
          <a:custGeom>
            <a:avLst/>
            <a:gdLst/>
            <a:ahLst/>
            <a:cxnLst/>
            <a:rect l="l" t="t" r="r" b="b"/>
            <a:pathLst>
              <a:path w="3753485" h="1309370">
                <a:moveTo>
                  <a:pt x="0" y="218183"/>
                </a:moveTo>
                <a:lnTo>
                  <a:pt x="5762" y="168156"/>
                </a:lnTo>
                <a:lnTo>
                  <a:pt x="22176" y="122232"/>
                </a:lnTo>
                <a:lnTo>
                  <a:pt x="47932" y="81721"/>
                </a:lnTo>
                <a:lnTo>
                  <a:pt x="81721" y="47932"/>
                </a:lnTo>
                <a:lnTo>
                  <a:pt x="122232" y="22176"/>
                </a:lnTo>
                <a:lnTo>
                  <a:pt x="168156" y="5762"/>
                </a:lnTo>
                <a:lnTo>
                  <a:pt x="218183" y="0"/>
                </a:lnTo>
                <a:lnTo>
                  <a:pt x="3535153" y="0"/>
                </a:lnTo>
                <a:lnTo>
                  <a:pt x="3585180" y="5762"/>
                </a:lnTo>
                <a:lnTo>
                  <a:pt x="3631105" y="22176"/>
                </a:lnTo>
                <a:lnTo>
                  <a:pt x="3671616" y="47932"/>
                </a:lnTo>
                <a:lnTo>
                  <a:pt x="3705404" y="81721"/>
                </a:lnTo>
                <a:lnTo>
                  <a:pt x="3731160" y="122232"/>
                </a:lnTo>
                <a:lnTo>
                  <a:pt x="3747574" y="168156"/>
                </a:lnTo>
                <a:lnTo>
                  <a:pt x="3753337" y="218183"/>
                </a:lnTo>
                <a:lnTo>
                  <a:pt x="3753337" y="1090893"/>
                </a:lnTo>
                <a:lnTo>
                  <a:pt x="3747574" y="1140921"/>
                </a:lnTo>
                <a:lnTo>
                  <a:pt x="3731160" y="1186845"/>
                </a:lnTo>
                <a:lnTo>
                  <a:pt x="3705404" y="1227356"/>
                </a:lnTo>
                <a:lnTo>
                  <a:pt x="3671616" y="1261145"/>
                </a:lnTo>
                <a:lnTo>
                  <a:pt x="3631105" y="1286901"/>
                </a:lnTo>
                <a:lnTo>
                  <a:pt x="3585180" y="1303315"/>
                </a:lnTo>
                <a:lnTo>
                  <a:pt x="3535153" y="1309077"/>
                </a:lnTo>
                <a:lnTo>
                  <a:pt x="218183" y="1309077"/>
                </a:lnTo>
                <a:lnTo>
                  <a:pt x="168156" y="1303315"/>
                </a:lnTo>
                <a:lnTo>
                  <a:pt x="122232" y="1286901"/>
                </a:lnTo>
                <a:lnTo>
                  <a:pt x="81721" y="1261145"/>
                </a:lnTo>
                <a:lnTo>
                  <a:pt x="47932" y="1227356"/>
                </a:lnTo>
                <a:lnTo>
                  <a:pt x="22176" y="1186845"/>
                </a:lnTo>
                <a:lnTo>
                  <a:pt x="5762" y="1140921"/>
                </a:lnTo>
                <a:lnTo>
                  <a:pt x="0" y="1090893"/>
                </a:lnTo>
                <a:lnTo>
                  <a:pt x="0" y="218183"/>
                </a:lnTo>
                <a:close/>
              </a:path>
            </a:pathLst>
          </a:custGeom>
          <a:ln w="57149">
            <a:solidFill>
              <a:srgbClr val="A13B2A"/>
            </a:solidFill>
          </a:ln>
        </p:spPr>
        <p:txBody>
          <a:bodyPr wrap="square" lIns="0" tIns="0" rIns="0" bIns="0" rtlCol="0"/>
          <a:lstStyle/>
          <a:p>
            <a:endParaRPr>
              <a:latin typeface="+mj-lt"/>
            </a:endParaRPr>
          </a:p>
        </p:txBody>
      </p:sp>
      <p:sp>
        <p:nvSpPr>
          <p:cNvPr id="6" name="object 6"/>
          <p:cNvSpPr txBox="1"/>
          <p:nvPr/>
        </p:nvSpPr>
        <p:spPr>
          <a:xfrm>
            <a:off x="821201" y="3022403"/>
            <a:ext cx="10293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MPI rank 0</a:t>
            </a:r>
            <a:endParaRPr sz="1800">
              <a:latin typeface="+mj-lt"/>
              <a:cs typeface="Calibri" panose="020F0502020204030204"/>
            </a:endParaRPr>
          </a:p>
        </p:txBody>
      </p:sp>
      <p:sp>
        <p:nvSpPr>
          <p:cNvPr id="7" name="object 7"/>
          <p:cNvSpPr/>
          <p:nvPr/>
        </p:nvSpPr>
        <p:spPr>
          <a:xfrm>
            <a:off x="2105535" y="4728307"/>
            <a:ext cx="4970270" cy="1383665"/>
          </a:xfrm>
          <a:custGeom>
            <a:avLst/>
            <a:gdLst/>
            <a:ahLst/>
            <a:cxnLst/>
            <a:rect l="l" t="t" r="r" b="b"/>
            <a:pathLst>
              <a:path w="3753485" h="1383664">
                <a:moveTo>
                  <a:pt x="0" y="230549"/>
                </a:moveTo>
                <a:lnTo>
                  <a:pt x="4683" y="184086"/>
                </a:lnTo>
                <a:lnTo>
                  <a:pt x="18117" y="140809"/>
                </a:lnTo>
                <a:lnTo>
                  <a:pt x="39374" y="101647"/>
                </a:lnTo>
                <a:lnTo>
                  <a:pt x="67526" y="67526"/>
                </a:lnTo>
                <a:lnTo>
                  <a:pt x="101647" y="39374"/>
                </a:lnTo>
                <a:lnTo>
                  <a:pt x="140809" y="18117"/>
                </a:lnTo>
                <a:lnTo>
                  <a:pt x="184086" y="4683"/>
                </a:lnTo>
                <a:lnTo>
                  <a:pt x="230549" y="0"/>
                </a:lnTo>
                <a:lnTo>
                  <a:pt x="3522787" y="0"/>
                </a:lnTo>
                <a:lnTo>
                  <a:pt x="3569250" y="4683"/>
                </a:lnTo>
                <a:lnTo>
                  <a:pt x="3612527" y="18117"/>
                </a:lnTo>
                <a:lnTo>
                  <a:pt x="3651689" y="39374"/>
                </a:lnTo>
                <a:lnTo>
                  <a:pt x="3685810" y="67526"/>
                </a:lnTo>
                <a:lnTo>
                  <a:pt x="3713962" y="101647"/>
                </a:lnTo>
                <a:lnTo>
                  <a:pt x="3735219" y="140809"/>
                </a:lnTo>
                <a:lnTo>
                  <a:pt x="3748653" y="184086"/>
                </a:lnTo>
                <a:lnTo>
                  <a:pt x="3753337" y="230549"/>
                </a:lnTo>
                <a:lnTo>
                  <a:pt x="3753337" y="1152724"/>
                </a:lnTo>
                <a:lnTo>
                  <a:pt x="3748653" y="1199188"/>
                </a:lnTo>
                <a:lnTo>
                  <a:pt x="3735219" y="1242465"/>
                </a:lnTo>
                <a:lnTo>
                  <a:pt x="3713962" y="1281627"/>
                </a:lnTo>
                <a:lnTo>
                  <a:pt x="3685810" y="1315748"/>
                </a:lnTo>
                <a:lnTo>
                  <a:pt x="3651689" y="1343900"/>
                </a:lnTo>
                <a:lnTo>
                  <a:pt x="3612527" y="1365156"/>
                </a:lnTo>
                <a:lnTo>
                  <a:pt x="3569250" y="1378590"/>
                </a:lnTo>
                <a:lnTo>
                  <a:pt x="3522787" y="1383274"/>
                </a:lnTo>
                <a:lnTo>
                  <a:pt x="230549" y="1383274"/>
                </a:lnTo>
                <a:lnTo>
                  <a:pt x="184086" y="1378590"/>
                </a:lnTo>
                <a:lnTo>
                  <a:pt x="140809" y="1365156"/>
                </a:lnTo>
                <a:lnTo>
                  <a:pt x="101647" y="1343900"/>
                </a:lnTo>
                <a:lnTo>
                  <a:pt x="67526" y="1315748"/>
                </a:lnTo>
                <a:lnTo>
                  <a:pt x="39374" y="1281627"/>
                </a:lnTo>
                <a:lnTo>
                  <a:pt x="18117" y="1242465"/>
                </a:lnTo>
                <a:lnTo>
                  <a:pt x="4683" y="1199188"/>
                </a:lnTo>
                <a:lnTo>
                  <a:pt x="0" y="1152724"/>
                </a:lnTo>
                <a:lnTo>
                  <a:pt x="0" y="230549"/>
                </a:lnTo>
                <a:close/>
              </a:path>
            </a:pathLst>
          </a:custGeom>
          <a:ln w="57149">
            <a:solidFill>
              <a:srgbClr val="A13B2A"/>
            </a:solidFill>
          </a:ln>
        </p:spPr>
        <p:txBody>
          <a:bodyPr wrap="square" lIns="0" tIns="0" rIns="0" bIns="0" rtlCol="0"/>
          <a:lstStyle/>
          <a:p>
            <a:endParaRPr>
              <a:latin typeface="+mj-lt"/>
            </a:endParaRPr>
          </a:p>
        </p:txBody>
      </p:sp>
      <p:sp>
        <p:nvSpPr>
          <p:cNvPr id="8" name="object 8"/>
          <p:cNvSpPr txBox="1"/>
          <p:nvPr/>
        </p:nvSpPr>
        <p:spPr>
          <a:xfrm>
            <a:off x="817297" y="4798347"/>
            <a:ext cx="10293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MPI rank 1</a:t>
            </a:r>
            <a:endParaRPr sz="1800">
              <a:latin typeface="+mj-lt"/>
              <a:cs typeface="Calibri" panose="020F0502020204030204"/>
            </a:endParaRPr>
          </a:p>
        </p:txBody>
      </p:sp>
      <p:sp>
        <p:nvSpPr>
          <p:cNvPr id="9" name="object 9"/>
          <p:cNvSpPr/>
          <p:nvPr/>
        </p:nvSpPr>
        <p:spPr>
          <a:xfrm>
            <a:off x="4933460" y="2930768"/>
            <a:ext cx="4014470" cy="280035"/>
          </a:xfrm>
          <a:custGeom>
            <a:avLst/>
            <a:gdLst/>
            <a:ahLst/>
            <a:cxnLst/>
            <a:rect l="l" t="t" r="r" b="b"/>
            <a:pathLst>
              <a:path w="4014470" h="280035">
                <a:moveTo>
                  <a:pt x="0" y="46623"/>
                </a:moveTo>
                <a:lnTo>
                  <a:pt x="3663" y="28475"/>
                </a:lnTo>
                <a:lnTo>
                  <a:pt x="13655" y="13655"/>
                </a:lnTo>
                <a:lnTo>
                  <a:pt x="28475" y="3663"/>
                </a:lnTo>
                <a:lnTo>
                  <a:pt x="46623" y="0"/>
                </a:lnTo>
                <a:lnTo>
                  <a:pt x="3967689" y="0"/>
                </a:lnTo>
                <a:lnTo>
                  <a:pt x="3985838" y="3663"/>
                </a:lnTo>
                <a:lnTo>
                  <a:pt x="4000658" y="13655"/>
                </a:lnTo>
                <a:lnTo>
                  <a:pt x="4010650" y="28475"/>
                </a:lnTo>
                <a:lnTo>
                  <a:pt x="4014314" y="46623"/>
                </a:lnTo>
                <a:lnTo>
                  <a:pt x="4014314" y="233114"/>
                </a:lnTo>
                <a:lnTo>
                  <a:pt x="4010650" y="251263"/>
                </a:lnTo>
                <a:lnTo>
                  <a:pt x="4000658" y="266083"/>
                </a:lnTo>
                <a:lnTo>
                  <a:pt x="3985838" y="276075"/>
                </a:lnTo>
                <a:lnTo>
                  <a:pt x="3967689" y="279739"/>
                </a:lnTo>
                <a:lnTo>
                  <a:pt x="46623" y="279739"/>
                </a:lnTo>
                <a:lnTo>
                  <a:pt x="28475" y="276075"/>
                </a:lnTo>
                <a:lnTo>
                  <a:pt x="13655" y="266083"/>
                </a:lnTo>
                <a:lnTo>
                  <a:pt x="3663" y="251263"/>
                </a:lnTo>
                <a:lnTo>
                  <a:pt x="0" y="233114"/>
                </a:lnTo>
                <a:lnTo>
                  <a:pt x="0" y="46623"/>
                </a:lnTo>
                <a:close/>
              </a:path>
            </a:pathLst>
          </a:custGeom>
          <a:ln w="57149">
            <a:solidFill>
              <a:srgbClr val="4E89B0"/>
            </a:solidFill>
          </a:ln>
        </p:spPr>
        <p:txBody>
          <a:bodyPr wrap="square" lIns="0" tIns="0" rIns="0" bIns="0" rtlCol="0"/>
          <a:lstStyle/>
          <a:p>
            <a:endParaRPr>
              <a:latin typeface="+mj-lt"/>
            </a:endParaRPr>
          </a:p>
        </p:txBody>
      </p:sp>
      <p:sp>
        <p:nvSpPr>
          <p:cNvPr id="10" name="object 10"/>
          <p:cNvSpPr/>
          <p:nvPr/>
        </p:nvSpPr>
        <p:spPr>
          <a:xfrm>
            <a:off x="4928878" y="3240127"/>
            <a:ext cx="4014470" cy="280035"/>
          </a:xfrm>
          <a:custGeom>
            <a:avLst/>
            <a:gdLst/>
            <a:ahLst/>
            <a:cxnLst/>
            <a:rect l="l" t="t" r="r" b="b"/>
            <a:pathLst>
              <a:path w="4014470" h="280035">
                <a:moveTo>
                  <a:pt x="0" y="46623"/>
                </a:moveTo>
                <a:lnTo>
                  <a:pt x="3663" y="28475"/>
                </a:lnTo>
                <a:lnTo>
                  <a:pt x="13655" y="13655"/>
                </a:lnTo>
                <a:lnTo>
                  <a:pt x="28475" y="3663"/>
                </a:lnTo>
                <a:lnTo>
                  <a:pt x="46623" y="0"/>
                </a:lnTo>
                <a:lnTo>
                  <a:pt x="3967689" y="0"/>
                </a:lnTo>
                <a:lnTo>
                  <a:pt x="3985838" y="3663"/>
                </a:lnTo>
                <a:lnTo>
                  <a:pt x="4000658" y="13655"/>
                </a:lnTo>
                <a:lnTo>
                  <a:pt x="4010649" y="28475"/>
                </a:lnTo>
                <a:lnTo>
                  <a:pt x="4014313" y="46623"/>
                </a:lnTo>
                <a:lnTo>
                  <a:pt x="4014313" y="233114"/>
                </a:lnTo>
                <a:lnTo>
                  <a:pt x="4010649" y="251263"/>
                </a:lnTo>
                <a:lnTo>
                  <a:pt x="4000658" y="266083"/>
                </a:lnTo>
                <a:lnTo>
                  <a:pt x="3985838" y="276075"/>
                </a:lnTo>
                <a:lnTo>
                  <a:pt x="3967689" y="279739"/>
                </a:lnTo>
                <a:lnTo>
                  <a:pt x="46623" y="279739"/>
                </a:lnTo>
                <a:lnTo>
                  <a:pt x="28475" y="276075"/>
                </a:lnTo>
                <a:lnTo>
                  <a:pt x="13655" y="266083"/>
                </a:lnTo>
                <a:lnTo>
                  <a:pt x="3663" y="251263"/>
                </a:lnTo>
                <a:lnTo>
                  <a:pt x="0" y="233114"/>
                </a:lnTo>
                <a:lnTo>
                  <a:pt x="0" y="46623"/>
                </a:lnTo>
                <a:close/>
              </a:path>
            </a:pathLst>
          </a:custGeom>
          <a:ln w="57149">
            <a:solidFill>
              <a:srgbClr val="4E89B0"/>
            </a:solidFill>
          </a:ln>
        </p:spPr>
        <p:txBody>
          <a:bodyPr wrap="square" lIns="0" tIns="0" rIns="0" bIns="0" rtlCol="0"/>
          <a:lstStyle/>
          <a:p>
            <a:endParaRPr>
              <a:latin typeface="+mj-lt"/>
            </a:endParaRPr>
          </a:p>
        </p:txBody>
      </p:sp>
      <p:sp>
        <p:nvSpPr>
          <p:cNvPr id="11" name="object 11"/>
          <p:cNvSpPr txBox="1"/>
          <p:nvPr/>
        </p:nvSpPr>
        <p:spPr>
          <a:xfrm>
            <a:off x="4726940" y="1293500"/>
            <a:ext cx="4064000" cy="2219325"/>
          </a:xfrm>
          <a:prstGeom prst="rect">
            <a:avLst/>
          </a:prstGeom>
        </p:spPr>
        <p:txBody>
          <a:bodyPr vert="horz" wrap="square" lIns="0" tIns="13970" rIns="0" bIns="0" rtlCol="0">
            <a:spAutoFit/>
          </a:bodyPr>
          <a:lstStyle/>
          <a:p>
            <a:pPr marL="355600" marR="187325" indent="-342900">
              <a:lnSpc>
                <a:spcPct val="100000"/>
              </a:lnSpc>
              <a:spcBef>
                <a:spcPts val="110"/>
              </a:spcBef>
              <a:buFont typeface="Arial" panose="020B0604020202020204"/>
              <a:buChar char="•"/>
              <a:tabLst>
                <a:tab pos="354965" algn="l"/>
                <a:tab pos="355600" algn="l"/>
              </a:tabLst>
            </a:pPr>
            <a:r>
              <a:rPr sz="2800" b="1" dirty="0">
                <a:latin typeface="+mj-lt"/>
                <a:cs typeface="Calibri" panose="020F0502020204030204"/>
              </a:rPr>
              <a:t>An OpenMP application  exists entirely within 1  node</a:t>
            </a:r>
            <a:endParaRPr sz="2800">
              <a:latin typeface="+mj-lt"/>
              <a:cs typeface="Calibri" panose="020F0502020204030204"/>
            </a:endParaRPr>
          </a:p>
          <a:p>
            <a:pPr marL="2392680">
              <a:lnSpc>
                <a:spcPct val="100000"/>
              </a:lnSpc>
              <a:spcBef>
                <a:spcPts val="2615"/>
              </a:spcBef>
            </a:pPr>
            <a:r>
              <a:rPr sz="1800" dirty="0">
                <a:latin typeface="+mj-lt"/>
                <a:cs typeface="Calibri" panose="020F0502020204030204"/>
              </a:rPr>
              <a:t>OpenMP thread 0</a:t>
            </a:r>
            <a:endParaRPr sz="1800">
              <a:latin typeface="+mj-lt"/>
              <a:cs typeface="Calibri" panose="020F0502020204030204"/>
            </a:endParaRPr>
          </a:p>
          <a:p>
            <a:pPr marL="2388235">
              <a:lnSpc>
                <a:spcPct val="100000"/>
              </a:lnSpc>
              <a:spcBef>
                <a:spcPts val="280"/>
              </a:spcBef>
            </a:pPr>
            <a:r>
              <a:rPr sz="1800" dirty="0">
                <a:latin typeface="+mj-lt"/>
                <a:cs typeface="Calibri" panose="020F0502020204030204"/>
              </a:rPr>
              <a:t>OpenMP thread 1</a:t>
            </a:r>
            <a:endParaRPr sz="1800">
              <a:latin typeface="+mj-lt"/>
              <a:cs typeface="Calibri" panose="020F0502020204030204"/>
            </a:endParaRPr>
          </a:p>
        </p:txBody>
      </p:sp>
      <p:sp>
        <p:nvSpPr>
          <p:cNvPr id="13" name="object 2"/>
          <p:cNvSpPr txBox="1">
            <a:spLocks noGrp="1"/>
          </p:cNvSpPr>
          <p:nvPr>
            <p:ph type="title"/>
          </p:nvPr>
        </p:nvSpPr>
        <p:spPr>
          <a:xfrm>
            <a:off x="2678726" y="123349"/>
            <a:ext cx="4414273"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MPI vs OpenMP</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65520" y="274025"/>
            <a:ext cx="7737765" cy="504825"/>
          </a:xfrm>
          <a:prstGeom prst="rect">
            <a:avLst/>
          </a:prstGeom>
        </p:spPr>
        <p:txBody>
          <a:bodyPr vert="horz" wrap="square" lIns="0" tIns="12700" rIns="0" bIns="0" rtlCol="0">
            <a:spAutoFit/>
          </a:bodyPr>
          <a:lstStyle/>
          <a:p>
            <a:pPr marL="12700">
              <a:lnSpc>
                <a:spcPct val="100000"/>
              </a:lnSpc>
              <a:spcBef>
                <a:spcPts val="100"/>
              </a:spcBef>
            </a:pPr>
            <a:r>
              <a:rPr sz="3200" dirty="0">
                <a:latin typeface="+mj-lt"/>
              </a:rPr>
              <a:t>Why do we suddenly need OpenMP?</a:t>
            </a:r>
          </a:p>
        </p:txBody>
      </p:sp>
      <p:sp>
        <p:nvSpPr>
          <p:cNvPr id="3" name="object 3"/>
          <p:cNvSpPr txBox="1"/>
          <p:nvPr/>
        </p:nvSpPr>
        <p:spPr>
          <a:xfrm>
            <a:off x="535939" y="1251966"/>
            <a:ext cx="7758430" cy="2941320"/>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Multi-level parallelism</a:t>
            </a:r>
            <a:endParaRPr sz="2800">
              <a:latin typeface="+mj-lt"/>
              <a:cs typeface="Calibri" panose="020F0502020204030204"/>
            </a:endParaRPr>
          </a:p>
          <a:p>
            <a:pPr marL="749300" marR="5080" lvl="1" indent="-279400">
              <a:lnSpc>
                <a:spcPct val="101000"/>
              </a:lnSpc>
              <a:spcBef>
                <a:spcPts val="475"/>
              </a:spcBef>
              <a:buFont typeface="Arial" panose="020B0604020202020204"/>
              <a:buChar char="–"/>
              <a:tabLst>
                <a:tab pos="755650" algn="l"/>
              </a:tabLst>
            </a:pPr>
            <a:r>
              <a:rPr sz="2400" dirty="0">
                <a:latin typeface="+mj-lt"/>
                <a:cs typeface="Calibri" panose="020F0502020204030204"/>
              </a:rPr>
              <a:t>At very large scale, the overheads of MPI (or any parallel  approach) become excessively costly</a:t>
            </a:r>
            <a:endParaRPr sz="2400">
              <a:latin typeface="+mj-lt"/>
              <a:cs typeface="Calibri" panose="020F0502020204030204"/>
            </a:endParaRPr>
          </a:p>
          <a:p>
            <a:pPr marL="749300" marR="476250" lvl="1" indent="-279400">
              <a:lnSpc>
                <a:spcPct val="101000"/>
              </a:lnSpc>
              <a:spcBef>
                <a:spcPts val="450"/>
              </a:spcBef>
              <a:buFont typeface="Arial" panose="020B0604020202020204"/>
              <a:buChar char="–"/>
              <a:tabLst>
                <a:tab pos="755650" algn="l"/>
              </a:tabLst>
            </a:pPr>
            <a:r>
              <a:rPr sz="2400" dirty="0">
                <a:latin typeface="+mj-lt"/>
                <a:cs typeface="Calibri" panose="020F0502020204030204"/>
              </a:rPr>
              <a:t>Combining (nesting) parallel approaches allows us to  operate each at lower scale</a:t>
            </a:r>
            <a:endParaRPr sz="2400">
              <a:latin typeface="+mj-lt"/>
              <a:cs typeface="Calibri" panose="020F0502020204030204"/>
            </a:endParaRPr>
          </a:p>
          <a:p>
            <a:pPr marL="1155700" lvl="2" indent="-228600">
              <a:lnSpc>
                <a:spcPct val="100000"/>
              </a:lnSpc>
              <a:spcBef>
                <a:spcPts val="500"/>
              </a:spcBef>
              <a:buFont typeface="Arial" panose="020B0604020202020204"/>
              <a:buChar char="•"/>
              <a:tabLst>
                <a:tab pos="1155065" algn="l"/>
                <a:tab pos="1155700" algn="l"/>
              </a:tabLst>
            </a:pPr>
            <a:r>
              <a:rPr sz="2000" dirty="0">
                <a:latin typeface="+mj-lt"/>
                <a:cs typeface="Calibri" panose="020F0502020204030204"/>
              </a:rPr>
              <a:t>Sweet spot for best overall eﬃciency</a:t>
            </a:r>
            <a:endParaRPr sz="2000">
              <a:latin typeface="+mj-lt"/>
              <a:cs typeface="Calibri" panose="020F0502020204030204"/>
            </a:endParaRPr>
          </a:p>
          <a:p>
            <a:pPr marL="755650" lvl="1" indent="-285750">
              <a:lnSpc>
                <a:spcPct val="100000"/>
              </a:lnSpc>
              <a:spcBef>
                <a:spcPts val="595"/>
              </a:spcBef>
              <a:buFont typeface="Arial" panose="020B0604020202020204"/>
              <a:buChar char="–"/>
              <a:tabLst>
                <a:tab pos="755650" algn="l"/>
              </a:tabLst>
            </a:pPr>
            <a:r>
              <a:rPr sz="2400" dirty="0">
                <a:latin typeface="+mj-lt"/>
                <a:cs typeface="Calibri" panose="020F0502020204030204"/>
              </a:rPr>
              <a:t>MPI -&gt; OpenMP -&gt; Vectorization</a:t>
            </a:r>
            <a:endParaRPr sz="2400">
              <a:latin typeface="+mj-lt"/>
              <a:cs typeface="Calibri" panose="020F0502020204030204"/>
            </a:endParaRPr>
          </a:p>
        </p:txBody>
      </p:sp>
      <p:sp>
        <p:nvSpPr>
          <p:cNvPr id="4" name="object 4"/>
          <p:cNvSpPr/>
          <p:nvPr/>
        </p:nvSpPr>
        <p:spPr>
          <a:xfrm>
            <a:off x="2544813" y="3598134"/>
            <a:ext cx="4634558" cy="3084114"/>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39" y="1251966"/>
            <a:ext cx="7994015" cy="1836420"/>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Memory-per-core is trending downwards</a:t>
            </a:r>
            <a:endParaRPr sz="2800">
              <a:latin typeface="+mj-lt"/>
              <a:cs typeface="Calibri" panose="020F0502020204030204"/>
            </a:endParaRPr>
          </a:p>
          <a:p>
            <a:pPr marL="755650" lvl="1" indent="-285750">
              <a:lnSpc>
                <a:spcPct val="100000"/>
              </a:lnSpc>
              <a:spcBef>
                <a:spcPts val="515"/>
              </a:spcBef>
              <a:buFont typeface="Arial" panose="020B0604020202020204"/>
              <a:buChar char="–"/>
              <a:tabLst>
                <a:tab pos="755650" algn="l"/>
                <a:tab pos="2576830" algn="l"/>
              </a:tabLst>
            </a:pPr>
            <a:r>
              <a:rPr sz="2400" dirty="0">
                <a:latin typeface="+mj-lt"/>
                <a:cs typeface="Calibri" panose="020F0502020204030204"/>
              </a:rPr>
              <a:t>Cori Haswell:	128GB for 32 cores</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 pos="2026285" algn="l"/>
              </a:tabLst>
            </a:pPr>
            <a:r>
              <a:rPr sz="2400" dirty="0">
                <a:latin typeface="+mj-lt"/>
                <a:cs typeface="Calibri" panose="020F0502020204030204"/>
              </a:rPr>
              <a:t>Cori KNL:	96GB for 68 cores (16GB MCDRAM for 68 cores)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Parallelism within same memory footprint is necessary</a:t>
            </a:r>
            <a:endParaRPr sz="2400">
              <a:latin typeface="+mj-lt"/>
              <a:cs typeface="Calibri" panose="020F0502020204030204"/>
            </a:endParaRPr>
          </a:p>
        </p:txBody>
      </p:sp>
      <p:sp>
        <p:nvSpPr>
          <p:cNvPr id="5" name="object 2"/>
          <p:cNvSpPr txBox="1">
            <a:spLocks noGrp="1"/>
          </p:cNvSpPr>
          <p:nvPr>
            <p:ph type="title"/>
          </p:nvPr>
        </p:nvSpPr>
        <p:spPr>
          <a:xfrm>
            <a:off x="1165520" y="274025"/>
            <a:ext cx="7737765" cy="504825"/>
          </a:xfrm>
          <a:prstGeom prst="rect">
            <a:avLst/>
          </a:prstGeom>
        </p:spPr>
        <p:txBody>
          <a:bodyPr vert="horz" wrap="square" lIns="0" tIns="12700" rIns="0" bIns="0" rtlCol="0">
            <a:spAutoFit/>
          </a:bodyPr>
          <a:lstStyle/>
          <a:p>
            <a:pPr marL="12700">
              <a:lnSpc>
                <a:spcPct val="100000"/>
              </a:lnSpc>
              <a:spcBef>
                <a:spcPts val="100"/>
              </a:spcBef>
            </a:pPr>
            <a:r>
              <a:rPr sz="3200" dirty="0">
                <a:latin typeface="+mj-lt"/>
              </a:rPr>
              <a:t>Why do we suddenly need OpenMP?</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1176" y="142399"/>
            <a:ext cx="268218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solidFill>
                  <a:srgbClr val="A6A6A6"/>
                </a:solidFill>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Font typeface="Arial" panose="020B0604020202020204"/>
              <a:buChar char="•"/>
              <a:tabLst>
                <a:tab pos="354965" algn="l"/>
                <a:tab pos="355600" algn="l"/>
              </a:tabLst>
            </a:pPr>
            <a:r>
              <a:rPr sz="2800" b="1" dirty="0">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3525" y="162084"/>
            <a:ext cx="590896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Performance bottlenecks</a:t>
            </a:r>
          </a:p>
        </p:txBody>
      </p:sp>
      <p:sp>
        <p:nvSpPr>
          <p:cNvPr id="3" name="object 3"/>
          <p:cNvSpPr txBox="1"/>
          <p:nvPr/>
        </p:nvSpPr>
        <p:spPr>
          <a:xfrm>
            <a:off x="535939" y="1328420"/>
            <a:ext cx="7888605" cy="4084320"/>
          </a:xfrm>
          <a:prstGeom prst="rect">
            <a:avLst/>
          </a:prstGeom>
        </p:spPr>
        <p:txBody>
          <a:bodyPr vert="horz" wrap="square" lIns="0" tIns="13970" rIns="0" bIns="0" rtlCol="0">
            <a:spAutoFit/>
          </a:bodyPr>
          <a:lstStyle/>
          <a:p>
            <a:pPr marL="355600" marR="5080" indent="-342900">
              <a:lnSpc>
                <a:spcPct val="100000"/>
              </a:lnSpc>
              <a:spcBef>
                <a:spcPts val="110"/>
              </a:spcBef>
              <a:buFont typeface="Arial" panose="020B0604020202020204"/>
              <a:buChar char="•"/>
              <a:tabLst>
                <a:tab pos="354965" algn="l"/>
                <a:tab pos="355600" algn="l"/>
              </a:tabLst>
            </a:pPr>
            <a:r>
              <a:rPr sz="2800" b="1" dirty="0">
                <a:latin typeface="+mj-lt"/>
                <a:cs typeface="Calibri" panose="020F0502020204030204"/>
              </a:rPr>
              <a:t>Any point at which some component of the system  or application is stalled, waiting on some other  component, is a bo</a:t>
            </a:r>
            <a:r>
              <a:rPr lang="en-US" sz="2800" b="1" dirty="0">
                <a:latin typeface="+mj-lt"/>
                <a:cs typeface="Calibri" panose="020F0502020204030204"/>
              </a:rPr>
              <a:t>ttl</a:t>
            </a:r>
            <a:r>
              <a:rPr sz="2800" b="1" dirty="0">
                <a:latin typeface="+mj-lt"/>
                <a:cs typeface="Calibri" panose="020F0502020204030204"/>
              </a:rPr>
              <a:t>eneck</a:t>
            </a:r>
            <a:endParaRPr sz="2800" dirty="0">
              <a:latin typeface="+mj-lt"/>
              <a:cs typeface="Calibri" panose="020F0502020204030204"/>
            </a:endParaRPr>
          </a:p>
          <a:p>
            <a:pPr>
              <a:lnSpc>
                <a:spcPct val="100000"/>
              </a:lnSpc>
              <a:spcBef>
                <a:spcPts val="10"/>
              </a:spcBef>
              <a:buFont typeface="Arial" panose="020B0604020202020204"/>
              <a:buChar char="•"/>
            </a:pPr>
            <a:endParaRPr sz="3850" dirty="0">
              <a:latin typeface="+mj-lt"/>
              <a:cs typeface="Calibri" panose="020F0502020204030204"/>
            </a:endParaRPr>
          </a:p>
          <a:p>
            <a:pPr marL="355600" indent="-342900">
              <a:lnSpc>
                <a:spcPct val="100000"/>
              </a:lnSpc>
              <a:buFont typeface="Arial" panose="020B0604020202020204"/>
              <a:buChar char="•"/>
              <a:tabLst>
                <a:tab pos="354965" algn="l"/>
                <a:tab pos="355600" algn="l"/>
              </a:tabLst>
            </a:pPr>
            <a:r>
              <a:rPr sz="2800" b="1" dirty="0">
                <a:latin typeface="+mj-lt"/>
                <a:cs typeface="Calibri" panose="020F0502020204030204"/>
              </a:rPr>
              <a:t>Eg waiting for MPI call to complete</a:t>
            </a:r>
            <a:endParaRPr sz="2800" dirty="0">
              <a:latin typeface="+mj-lt"/>
              <a:cs typeface="Calibri" panose="020F0502020204030204"/>
            </a:endParaRPr>
          </a:p>
          <a:p>
            <a:pPr marL="749300" marR="1130300" lvl="1" indent="-279400">
              <a:lnSpc>
                <a:spcPct val="101000"/>
              </a:lnSpc>
              <a:spcBef>
                <a:spcPts val="500"/>
              </a:spcBef>
              <a:buFont typeface="Arial" panose="020B0604020202020204"/>
              <a:buChar char="–"/>
              <a:tabLst>
                <a:tab pos="755650" algn="l"/>
              </a:tabLst>
            </a:pPr>
            <a:r>
              <a:rPr sz="2400" dirty="0">
                <a:latin typeface="+mj-lt"/>
                <a:cs typeface="Calibri" panose="020F0502020204030204"/>
              </a:rPr>
              <a:t>Load imbalance or communication overhead is a  bottleneck</a:t>
            </a:r>
          </a:p>
          <a:p>
            <a:pPr marL="355600" indent="-342900">
              <a:lnSpc>
                <a:spcPct val="100000"/>
              </a:lnSpc>
              <a:spcBef>
                <a:spcPts val="595"/>
              </a:spcBef>
              <a:buFont typeface="Arial" panose="020B0604020202020204"/>
              <a:buChar char="•"/>
              <a:tabLst>
                <a:tab pos="354965" algn="l"/>
                <a:tab pos="355600" algn="l"/>
              </a:tabLst>
            </a:pPr>
            <a:r>
              <a:rPr sz="2800" b="1" dirty="0">
                <a:latin typeface="+mj-lt"/>
                <a:cs typeface="Calibri" panose="020F0502020204030204"/>
              </a:rPr>
              <a:t>BUT for today we are interested in KNL speciﬁcs</a:t>
            </a:r>
            <a:endParaRPr sz="2800" dirty="0">
              <a:latin typeface="+mj-lt"/>
              <a:cs typeface="Calibri" panose="020F0502020204030204"/>
            </a:endParaRPr>
          </a:p>
          <a:p>
            <a:pPr marL="755650" lvl="1" indent="-285750">
              <a:lnSpc>
                <a:spcPct val="100000"/>
              </a:lnSpc>
              <a:spcBef>
                <a:spcPts val="645"/>
              </a:spcBef>
              <a:buFont typeface="Arial" panose="020B0604020202020204"/>
              <a:buChar char="–"/>
              <a:tabLst>
                <a:tab pos="755650" algn="l"/>
              </a:tabLst>
            </a:pPr>
            <a:r>
              <a:rPr sz="2400" dirty="0">
                <a:latin typeface="+mj-lt"/>
                <a:cs typeface="Calibri" panose="020F0502020204030204"/>
              </a:rPr>
              <a:t>Bottlenecks within the node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96234" y="1146298"/>
            <a:ext cx="5355267" cy="5226557"/>
          </a:xfrm>
          <a:prstGeom prst="rect">
            <a:avLst/>
          </a:prstGeom>
          <a:blipFill>
            <a:blip r:embed="rId2" cstate="print"/>
            <a:stretch>
              <a:fillRect/>
            </a:stretch>
          </a:blipFill>
        </p:spPr>
        <p:txBody>
          <a:bodyPr wrap="square" lIns="0" tIns="0" rIns="0" bIns="0" rtlCol="0"/>
          <a:lstStyle/>
          <a:p>
            <a:endParaRPr>
              <a:latin typeface="+mj-lt"/>
            </a:endParaRPr>
          </a:p>
        </p:txBody>
      </p:sp>
      <p:sp>
        <p:nvSpPr>
          <p:cNvPr id="3" name="object 3"/>
          <p:cNvSpPr txBox="1">
            <a:spLocks noGrp="1"/>
          </p:cNvSpPr>
          <p:nvPr>
            <p:ph type="title"/>
          </p:nvPr>
        </p:nvSpPr>
        <p:spPr>
          <a:xfrm>
            <a:off x="1284900" y="301778"/>
            <a:ext cx="7303631" cy="459100"/>
          </a:xfrm>
          <a:prstGeom prst="rect">
            <a:avLst/>
          </a:prstGeom>
        </p:spPr>
        <p:txBody>
          <a:bodyPr vert="horz" wrap="square" lIns="0" tIns="12700" rIns="0" bIns="0" rtlCol="0">
            <a:spAutoFit/>
          </a:bodyPr>
          <a:lstStyle/>
          <a:p>
            <a:pPr marL="12700">
              <a:lnSpc>
                <a:spcPct val="100000"/>
              </a:lnSpc>
              <a:spcBef>
                <a:spcPts val="100"/>
              </a:spcBef>
            </a:pPr>
            <a:r>
              <a:rPr sz="2900" dirty="0">
                <a:latin typeface="+mj-lt"/>
              </a:rPr>
              <a:t>Bottlenecks within the node – Affinity issues</a:t>
            </a:r>
          </a:p>
        </p:txBody>
      </p:sp>
      <p:sp>
        <p:nvSpPr>
          <p:cNvPr id="4" name="object 4"/>
          <p:cNvSpPr txBox="1"/>
          <p:nvPr/>
        </p:nvSpPr>
        <p:spPr>
          <a:xfrm>
            <a:off x="535938" y="1328420"/>
            <a:ext cx="3801745" cy="4378960"/>
          </a:xfrm>
          <a:prstGeom prst="rect">
            <a:avLst/>
          </a:prstGeom>
        </p:spPr>
        <p:txBody>
          <a:bodyPr vert="horz" wrap="square" lIns="0" tIns="33020" rIns="0" bIns="0" rtlCol="0">
            <a:spAutoFit/>
          </a:bodyPr>
          <a:lstStyle/>
          <a:p>
            <a:pPr marL="355600" marR="164465" indent="-342900">
              <a:lnSpc>
                <a:spcPts val="3300"/>
              </a:lnSpc>
              <a:spcBef>
                <a:spcPts val="260"/>
              </a:spcBef>
              <a:buFont typeface="Arial" panose="020B0604020202020204"/>
              <a:buChar char="•"/>
              <a:tabLst>
                <a:tab pos="354965" algn="l"/>
                <a:tab pos="355600" algn="l"/>
              </a:tabLst>
            </a:pPr>
            <a:r>
              <a:rPr sz="2800" b="1" dirty="0">
                <a:latin typeface="+mj-lt"/>
                <a:cs typeface="Calibri" panose="020F0502020204030204"/>
              </a:rPr>
              <a:t>Firstly: Am I running it  right?</a:t>
            </a:r>
            <a:endParaRPr sz="2800" dirty="0">
              <a:latin typeface="+mj-lt"/>
              <a:cs typeface="Calibri" panose="020F0502020204030204"/>
            </a:endParaRPr>
          </a:p>
          <a:p>
            <a:pPr marL="748665" marR="575945" lvl="1" indent="-279400">
              <a:lnSpc>
                <a:spcPct val="100000"/>
              </a:lnSpc>
              <a:spcBef>
                <a:spcPts val="520"/>
              </a:spcBef>
              <a:buFont typeface="Arial" panose="020B0604020202020204"/>
              <a:buChar char="–"/>
              <a:tabLst>
                <a:tab pos="755650" algn="l"/>
              </a:tabLst>
            </a:pPr>
            <a:r>
              <a:rPr sz="2400" dirty="0">
                <a:latin typeface="+mj-lt"/>
                <a:cs typeface="Calibri" panose="020F0502020204030204"/>
              </a:rPr>
              <a:t>Cori KNL has 68  cores per node,  arranged on a mesh  of 34 tiles</a:t>
            </a:r>
          </a:p>
          <a:p>
            <a:pPr marL="748665" marR="5080" lvl="1" indent="-279400">
              <a:lnSpc>
                <a:spcPts val="2820"/>
              </a:lnSpc>
              <a:spcBef>
                <a:spcPts val="740"/>
              </a:spcBef>
              <a:buFont typeface="Arial" panose="020B0604020202020204"/>
              <a:buChar char="–"/>
              <a:tabLst>
                <a:tab pos="755650" algn="l"/>
              </a:tabLst>
            </a:pPr>
            <a:r>
              <a:rPr sz="2400" dirty="0">
                <a:latin typeface="+mj-lt"/>
                <a:cs typeface="Calibri" panose="020F0502020204030204"/>
              </a:rPr>
              <a:t>Each tile has 2 cores and  a shared L2 cache</a:t>
            </a:r>
          </a:p>
          <a:p>
            <a:pPr marL="748665" marR="184785" lvl="1" indent="-279400">
              <a:lnSpc>
                <a:spcPct val="99000"/>
              </a:lnSpc>
              <a:spcBef>
                <a:spcPts val="535"/>
              </a:spcBef>
              <a:buFont typeface="Arial" panose="020B0604020202020204"/>
              <a:buChar char="–"/>
              <a:tabLst>
                <a:tab pos="755650" algn="l"/>
              </a:tabLst>
            </a:pPr>
            <a:r>
              <a:rPr sz="2400" dirty="0">
                <a:latin typeface="+mj-lt"/>
                <a:cs typeface="Calibri" panose="020F0502020204030204"/>
              </a:rPr>
              <a:t>Each core has 4  hyperthreads sharing L1 cache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61486" y="1883993"/>
            <a:ext cx="6022884" cy="4143200"/>
          </a:xfrm>
          <a:prstGeom prst="rect">
            <a:avLst/>
          </a:prstGeom>
          <a:blipFill>
            <a:blip r:embed="rId2" cstate="print"/>
            <a:stretch>
              <a:fillRect/>
            </a:stretch>
          </a:blipFill>
        </p:spPr>
        <p:txBody>
          <a:bodyPr wrap="square" lIns="0" tIns="0" rIns="0" bIns="0" rtlCol="0"/>
          <a:lstStyle/>
          <a:p>
            <a:endParaRPr>
              <a:latin typeface="+mj-lt"/>
            </a:endParaRPr>
          </a:p>
        </p:txBody>
      </p:sp>
      <p:sp>
        <p:nvSpPr>
          <p:cNvPr id="4" name="object 4"/>
          <p:cNvSpPr txBox="1"/>
          <p:nvPr/>
        </p:nvSpPr>
        <p:spPr>
          <a:xfrm>
            <a:off x="255541" y="1251966"/>
            <a:ext cx="3836035" cy="4227195"/>
          </a:xfrm>
          <a:prstGeom prst="rect">
            <a:avLst/>
          </a:prstGeom>
        </p:spPr>
        <p:txBody>
          <a:bodyPr vert="horz" wrap="square" lIns="0" tIns="88900" rIns="0" bIns="0" rtlCol="0">
            <a:spAutoFit/>
          </a:bodyPr>
          <a:lstStyle/>
          <a:p>
            <a:pPr marL="355600" indent="-342900" algn="just">
              <a:lnSpc>
                <a:spcPct val="100000"/>
              </a:lnSpc>
              <a:spcBef>
                <a:spcPts val="700"/>
              </a:spcBef>
              <a:buFont typeface="Arial" panose="020B0604020202020204"/>
              <a:buChar char="•"/>
              <a:tabLst>
                <a:tab pos="355600" algn="l"/>
              </a:tabLst>
            </a:pPr>
            <a:r>
              <a:rPr sz="2800" b="1" dirty="0">
                <a:latin typeface="+mj-lt"/>
                <a:cs typeface="Calibri" panose="020F0502020204030204"/>
              </a:rPr>
              <a:t>Where are my threads?</a:t>
            </a:r>
            <a:endParaRPr sz="2800" dirty="0">
              <a:latin typeface="+mj-lt"/>
              <a:cs typeface="Calibri" panose="020F0502020204030204"/>
            </a:endParaRPr>
          </a:p>
          <a:p>
            <a:pPr marL="748665" marR="135255" lvl="1" indent="-279400" algn="just">
              <a:lnSpc>
                <a:spcPct val="101000"/>
              </a:lnSpc>
              <a:spcBef>
                <a:spcPts val="475"/>
              </a:spcBef>
              <a:buFont typeface="Arial" panose="020B0604020202020204"/>
              <a:buChar char="–"/>
              <a:tabLst>
                <a:tab pos="755650" algn="l"/>
              </a:tabLst>
            </a:pPr>
            <a:r>
              <a:rPr sz="2400" dirty="0">
                <a:latin typeface="+mj-lt"/>
                <a:cs typeface="Calibri" panose="020F0502020204030204"/>
              </a:rPr>
              <a:t>Is each using a diﬀerent  core at least?</a:t>
            </a:r>
          </a:p>
          <a:p>
            <a:pPr marL="354965" marR="1191895" indent="-342900" algn="just">
              <a:lnSpc>
                <a:spcPct val="100000"/>
              </a:lnSpc>
              <a:spcBef>
                <a:spcPts val="585"/>
              </a:spcBef>
              <a:buFont typeface="Arial" panose="020B0604020202020204"/>
              <a:buChar char="•"/>
              <a:tabLst>
                <a:tab pos="355600" algn="l"/>
              </a:tabLst>
            </a:pPr>
            <a:r>
              <a:rPr sz="2800" b="1" dirty="0">
                <a:latin typeface="+mj-lt"/>
                <a:cs typeface="Calibri" panose="020F0502020204030204"/>
              </a:rPr>
              <a:t>Linux does not  always choose  best placement</a:t>
            </a:r>
            <a:endParaRPr sz="2800" dirty="0">
              <a:latin typeface="+mj-lt"/>
              <a:cs typeface="Calibri" panose="020F0502020204030204"/>
            </a:endParaRPr>
          </a:p>
          <a:p>
            <a:pPr marL="748665" marR="878840" lvl="1" indent="-279400">
              <a:lnSpc>
                <a:spcPct val="100000"/>
              </a:lnSpc>
              <a:spcBef>
                <a:spcPts val="625"/>
              </a:spcBef>
              <a:buFont typeface="Arial" panose="020B0604020202020204"/>
              <a:buChar char="–"/>
              <a:tabLst>
                <a:tab pos="755650" algn="l"/>
              </a:tabLst>
            </a:pPr>
            <a:r>
              <a:rPr sz="2400" dirty="0">
                <a:latin typeface="+mj-lt"/>
                <a:cs typeface="Calibri" panose="020F0502020204030204"/>
              </a:rPr>
              <a:t>Use srun options  to ensure optimal  thread/process  placement</a:t>
            </a:r>
          </a:p>
        </p:txBody>
      </p:sp>
      <p:sp>
        <p:nvSpPr>
          <p:cNvPr id="6" name="object 3"/>
          <p:cNvSpPr txBox="1">
            <a:spLocks noGrp="1"/>
          </p:cNvSpPr>
          <p:nvPr>
            <p:ph type="title"/>
          </p:nvPr>
        </p:nvSpPr>
        <p:spPr>
          <a:xfrm>
            <a:off x="1284900" y="301778"/>
            <a:ext cx="7303631" cy="459100"/>
          </a:xfrm>
          <a:prstGeom prst="rect">
            <a:avLst/>
          </a:prstGeom>
        </p:spPr>
        <p:txBody>
          <a:bodyPr vert="horz" wrap="square" lIns="0" tIns="12700" rIns="0" bIns="0" rtlCol="0">
            <a:spAutoFit/>
          </a:bodyPr>
          <a:lstStyle/>
          <a:p>
            <a:pPr marL="12700">
              <a:lnSpc>
                <a:spcPct val="100000"/>
              </a:lnSpc>
              <a:spcBef>
                <a:spcPts val="100"/>
              </a:spcBef>
            </a:pPr>
            <a:r>
              <a:rPr sz="2900" dirty="0">
                <a:latin typeface="+mj-lt"/>
              </a:rPr>
              <a:t>Bottlenecks within the node – Affinity issues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75659" y="4728394"/>
            <a:ext cx="5935691" cy="1621255"/>
          </a:xfrm>
          <a:prstGeom prst="rect">
            <a:avLst/>
          </a:prstGeom>
          <a:blipFill>
            <a:blip r:embed="rId2" cstate="print"/>
            <a:stretch>
              <a:fillRect/>
            </a:stretch>
          </a:blipFill>
        </p:spPr>
        <p:txBody>
          <a:bodyPr wrap="square" lIns="0" tIns="0" rIns="0" bIns="0" rtlCol="0"/>
          <a:lstStyle/>
          <a:p>
            <a:endParaRPr>
              <a:latin typeface="+mj-lt"/>
            </a:endParaRPr>
          </a:p>
        </p:txBody>
      </p:sp>
      <p:sp>
        <p:nvSpPr>
          <p:cNvPr id="3" name="object 3"/>
          <p:cNvSpPr/>
          <p:nvPr/>
        </p:nvSpPr>
        <p:spPr>
          <a:xfrm>
            <a:off x="1760538" y="3099600"/>
            <a:ext cx="5935691" cy="1647518"/>
          </a:xfrm>
          <a:prstGeom prst="rect">
            <a:avLst/>
          </a:prstGeom>
          <a:blipFill>
            <a:blip r:embed="rId3" cstate="print"/>
            <a:stretch>
              <a:fillRect/>
            </a:stretch>
          </a:blipFill>
        </p:spPr>
        <p:txBody>
          <a:bodyPr wrap="square" lIns="0" tIns="0" rIns="0" bIns="0" rtlCol="0"/>
          <a:lstStyle/>
          <a:p>
            <a:endParaRPr>
              <a:latin typeface="+mj-lt"/>
            </a:endParaRPr>
          </a:p>
        </p:txBody>
      </p:sp>
      <p:sp>
        <p:nvSpPr>
          <p:cNvPr id="4" name="object 4"/>
          <p:cNvSpPr txBox="1"/>
          <p:nvPr/>
        </p:nvSpPr>
        <p:spPr>
          <a:xfrm>
            <a:off x="535924" y="1374126"/>
            <a:ext cx="8080538" cy="1940560"/>
          </a:xfrm>
          <a:prstGeom prst="rect">
            <a:avLst/>
          </a:prstGeom>
        </p:spPr>
        <p:txBody>
          <a:bodyPr vert="horz" wrap="square" lIns="0" tIns="12700" rIns="0" bIns="0" rtlCol="0">
            <a:spAutoFit/>
          </a:bodyPr>
          <a:lstStyle/>
          <a:p>
            <a:pPr marL="12700">
              <a:lnSpc>
                <a:spcPts val="2840"/>
              </a:lnSpc>
              <a:spcBef>
                <a:spcPts val="100"/>
              </a:spcBef>
            </a:pPr>
            <a:r>
              <a:rPr sz="2400" b="1" dirty="0">
                <a:latin typeface="+mj-lt"/>
                <a:cs typeface="Calibri" panose="020F0502020204030204"/>
              </a:rPr>
              <a:t>Solution: use --cpu_bind:</a:t>
            </a:r>
            <a:endParaRPr sz="2400" dirty="0">
              <a:latin typeface="+mj-lt"/>
              <a:cs typeface="Calibri" panose="020F0502020204030204"/>
            </a:endParaRPr>
          </a:p>
          <a:p>
            <a:pPr marL="12700" marR="433070">
              <a:lnSpc>
                <a:spcPts val="2200"/>
              </a:lnSpc>
              <a:tabLst>
                <a:tab pos="1247140" algn="l"/>
                <a:tab pos="6047740" algn="l"/>
              </a:tabLst>
            </a:pPr>
            <a:r>
              <a:rPr sz="1800" dirty="0" err="1">
                <a:latin typeface="+mj-lt"/>
                <a:cs typeface="Courier New" panose="02070309020205020404"/>
              </a:rPr>
              <a:t>srun</a:t>
            </a:r>
            <a:r>
              <a:rPr sz="1800" dirty="0">
                <a:latin typeface="+mj-lt"/>
                <a:cs typeface="Courier New" panose="02070309020205020404"/>
              </a:rPr>
              <a:t> </a:t>
            </a:r>
            <a:r>
              <a:rPr lang="en-US" sz="1800" dirty="0">
                <a:latin typeface="+mj-lt"/>
                <a:cs typeface="Courier New" panose="02070309020205020404"/>
              </a:rPr>
              <a:t>–</a:t>
            </a:r>
            <a:r>
              <a:rPr sz="1800" dirty="0">
                <a:latin typeface="+mj-lt"/>
                <a:cs typeface="Courier New" panose="02070309020205020404"/>
              </a:rPr>
              <a:t>n</a:t>
            </a:r>
            <a:r>
              <a:rPr lang="en-US" sz="1800" dirty="0">
                <a:latin typeface="+mj-lt"/>
                <a:cs typeface="Courier New" panose="02070309020205020404"/>
              </a:rPr>
              <a:t> </a:t>
            </a:r>
            <a:r>
              <a:rPr sz="1800" dirty="0">
                <a:latin typeface="+mj-lt"/>
                <a:cs typeface="Courier New" panose="02070309020205020404"/>
              </a:rPr>
              <a:t>64 -c 4 --</a:t>
            </a:r>
            <a:r>
              <a:rPr sz="1800" dirty="0" err="1">
                <a:latin typeface="+mj-lt"/>
                <a:cs typeface="Courier New" panose="02070309020205020404"/>
              </a:rPr>
              <a:t>cpu_bind</a:t>
            </a:r>
            <a:r>
              <a:rPr sz="1800" dirty="0">
                <a:latin typeface="+mj-lt"/>
                <a:cs typeface="Courier New" panose="02070309020205020404"/>
              </a:rPr>
              <a:t>=</a:t>
            </a:r>
            <a:r>
              <a:rPr sz="1800" dirty="0" err="1">
                <a:latin typeface="+mj-lt"/>
                <a:cs typeface="Courier New" panose="02070309020205020404"/>
              </a:rPr>
              <a:t>verbose,cores</a:t>
            </a:r>
            <a:r>
              <a:rPr lang="en-US" dirty="0">
                <a:latin typeface="+mj-lt"/>
                <a:cs typeface="Courier New" panose="02070309020205020404"/>
              </a:rPr>
              <a:t>	</a:t>
            </a:r>
            <a:r>
              <a:rPr sz="1800" dirty="0">
                <a:latin typeface="+mj-lt"/>
                <a:cs typeface="Courier New" panose="02070309020205020404"/>
              </a:rPr>
              <a:t>./</a:t>
            </a:r>
            <a:r>
              <a:rPr sz="1800" dirty="0" err="1">
                <a:latin typeface="+mj-lt"/>
                <a:cs typeface="Courier New" panose="02070309020205020404"/>
              </a:rPr>
              <a:t>my_exec</a:t>
            </a:r>
            <a:r>
              <a:rPr sz="1800" dirty="0">
                <a:latin typeface="+mj-lt"/>
                <a:cs typeface="Courier New" panose="02070309020205020404"/>
              </a:rPr>
              <a:t>  </a:t>
            </a:r>
            <a:endParaRPr lang="en-US" sz="1800" dirty="0">
              <a:latin typeface="+mj-lt"/>
              <a:cs typeface="Courier New" panose="02070309020205020404"/>
            </a:endParaRPr>
          </a:p>
          <a:p>
            <a:pPr marL="12700" marR="433070">
              <a:lnSpc>
                <a:spcPts val="2200"/>
              </a:lnSpc>
              <a:tabLst>
                <a:tab pos="1247140" algn="l"/>
                <a:tab pos="6047740" algn="l"/>
              </a:tabLst>
            </a:pPr>
            <a:r>
              <a:rPr sz="1800" dirty="0" err="1">
                <a:latin typeface="+mj-lt"/>
                <a:cs typeface="Courier New" panose="02070309020205020404"/>
              </a:rPr>
              <a:t>srun</a:t>
            </a:r>
            <a:r>
              <a:rPr sz="1800" dirty="0">
                <a:latin typeface="+mj-lt"/>
                <a:cs typeface="Courier New" panose="02070309020205020404"/>
              </a:rPr>
              <a:t> -n 128 -c 2 --</a:t>
            </a:r>
            <a:r>
              <a:rPr sz="1800" dirty="0" err="1">
                <a:latin typeface="+mj-lt"/>
                <a:cs typeface="Courier New" panose="02070309020205020404"/>
              </a:rPr>
              <a:t>cpu_bind</a:t>
            </a:r>
            <a:r>
              <a:rPr sz="1800" dirty="0">
                <a:latin typeface="+mj-lt"/>
                <a:cs typeface="Courier New" panose="02070309020205020404"/>
              </a:rPr>
              <a:t>=</a:t>
            </a:r>
            <a:r>
              <a:rPr sz="1800" dirty="0" err="1">
                <a:latin typeface="+mj-lt"/>
                <a:cs typeface="Courier New" panose="02070309020205020404"/>
              </a:rPr>
              <a:t>verbose,threads</a:t>
            </a:r>
            <a:r>
              <a:rPr sz="1800" dirty="0">
                <a:latin typeface="+mj-lt"/>
                <a:cs typeface="Courier New" panose="02070309020205020404"/>
              </a:rPr>
              <a:t> </a:t>
            </a:r>
            <a:r>
              <a:rPr lang="en-US" sz="1800" dirty="0">
                <a:latin typeface="+mj-lt"/>
                <a:cs typeface="Courier New" panose="02070309020205020404"/>
              </a:rPr>
              <a:t>	</a:t>
            </a:r>
            <a:r>
              <a:rPr sz="1800" dirty="0">
                <a:latin typeface="+mj-lt"/>
                <a:cs typeface="Courier New" panose="02070309020205020404"/>
              </a:rPr>
              <a:t>./my_exec</a:t>
            </a:r>
          </a:p>
          <a:p>
            <a:pPr>
              <a:lnSpc>
                <a:spcPct val="100000"/>
              </a:lnSpc>
              <a:spcBef>
                <a:spcPts val="20"/>
              </a:spcBef>
            </a:pPr>
            <a:endParaRPr sz="1800" dirty="0">
              <a:latin typeface="+mj-lt"/>
              <a:cs typeface="Courier New" panose="02070309020205020404"/>
            </a:endParaRPr>
          </a:p>
          <a:p>
            <a:pPr marL="469900" indent="-381000">
              <a:lnSpc>
                <a:spcPct val="100000"/>
              </a:lnSpc>
              <a:buFont typeface="Arial" panose="020B0604020202020204"/>
              <a:buChar char="•"/>
              <a:tabLst>
                <a:tab pos="469265" algn="l"/>
                <a:tab pos="469900" algn="l"/>
              </a:tabLst>
            </a:pPr>
            <a:r>
              <a:rPr sz="2400" b="1" dirty="0">
                <a:latin typeface="+mj-lt"/>
                <a:cs typeface="Calibri" panose="020F0502020204030204"/>
              </a:rPr>
              <a:t>Controls what a task (MPI rank) is bound to</a:t>
            </a:r>
            <a:endParaRPr sz="2400" dirty="0">
              <a:latin typeface="+mj-lt"/>
              <a:cs typeface="Calibri" panose="020F0502020204030204"/>
            </a:endParaRPr>
          </a:p>
          <a:p>
            <a:pPr marL="697865">
              <a:lnSpc>
                <a:spcPct val="100000"/>
              </a:lnSpc>
              <a:spcBef>
                <a:spcPts val="20"/>
              </a:spcBef>
            </a:pPr>
            <a:r>
              <a:rPr sz="2400" dirty="0">
                <a:latin typeface="+mj-lt"/>
                <a:cs typeface="Arial" panose="020B0604020202020204"/>
              </a:rPr>
              <a:t>– </a:t>
            </a:r>
            <a:r>
              <a:rPr sz="2400" dirty="0">
                <a:latin typeface="+mj-lt"/>
                <a:cs typeface="Calibri" panose="020F0502020204030204"/>
              </a:rPr>
              <a:t>If no more than 1 MPI rank per core: </a:t>
            </a:r>
            <a:r>
              <a:rPr sz="1800" dirty="0">
                <a:latin typeface="+mj-lt"/>
                <a:cs typeface="Courier New" panose="02070309020205020404"/>
              </a:rPr>
              <a:t>--cpu_bind=cores</a:t>
            </a:r>
          </a:p>
        </p:txBody>
      </p:sp>
      <p:sp>
        <p:nvSpPr>
          <p:cNvPr id="5" name="object 5"/>
          <p:cNvSpPr txBox="1"/>
          <p:nvPr/>
        </p:nvSpPr>
        <p:spPr>
          <a:xfrm>
            <a:off x="1221724" y="4422126"/>
            <a:ext cx="6922134"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j-lt"/>
                <a:cs typeface="Calibri" panose="020F0502020204030204"/>
              </a:rPr>
              <a:t>– If more than 1 MPI rank per core: </a:t>
            </a:r>
            <a:r>
              <a:rPr sz="1800" dirty="0">
                <a:latin typeface="+mj-lt"/>
                <a:cs typeface="Courier New" panose="02070309020205020404"/>
              </a:rPr>
              <a:t>--cpu_bind=threads</a:t>
            </a:r>
            <a:endParaRPr sz="1800">
              <a:latin typeface="+mj-lt"/>
              <a:cs typeface="Courier New" panose="02070309020205020404"/>
            </a:endParaRPr>
          </a:p>
        </p:txBody>
      </p:sp>
      <p:sp>
        <p:nvSpPr>
          <p:cNvPr id="6" name="object 6"/>
          <p:cNvSpPr txBox="1">
            <a:spLocks noGrp="1"/>
          </p:cNvSpPr>
          <p:nvPr>
            <p:ph type="title"/>
          </p:nvPr>
        </p:nvSpPr>
        <p:spPr>
          <a:xfrm>
            <a:off x="1693211" y="170195"/>
            <a:ext cx="5557267"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Process (task) affinity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3057" y="180990"/>
            <a:ext cx="566277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Thread affinity (OpenMP)</a:t>
            </a:r>
          </a:p>
        </p:txBody>
      </p:sp>
      <p:sp>
        <p:nvSpPr>
          <p:cNvPr id="3" name="object 3"/>
          <p:cNvSpPr txBox="1"/>
          <p:nvPr/>
        </p:nvSpPr>
        <p:spPr>
          <a:xfrm>
            <a:off x="535924" y="1374126"/>
            <a:ext cx="3729354" cy="857927"/>
          </a:xfrm>
          <a:prstGeom prst="rect">
            <a:avLst/>
          </a:prstGeom>
        </p:spPr>
        <p:txBody>
          <a:bodyPr vert="horz" wrap="square" lIns="0" tIns="13970" rIns="0" bIns="0" rtlCol="0">
            <a:spAutoFit/>
          </a:bodyPr>
          <a:lstStyle/>
          <a:p>
            <a:pPr marL="12700" marR="5080">
              <a:lnSpc>
                <a:spcPct val="100000"/>
              </a:lnSpc>
              <a:spcBef>
                <a:spcPts val="110"/>
              </a:spcBef>
            </a:pPr>
            <a:r>
              <a:rPr sz="1800" dirty="0">
                <a:latin typeface="+mj-lt"/>
                <a:cs typeface="Courier New" panose="02070309020205020404"/>
              </a:rPr>
              <a:t>export OMP_NUM_THREADS=2  </a:t>
            </a:r>
            <a:endParaRPr lang="en-US" sz="1800" dirty="0">
              <a:latin typeface="+mj-lt"/>
              <a:cs typeface="Courier New" panose="02070309020205020404"/>
            </a:endParaRPr>
          </a:p>
          <a:p>
            <a:pPr marL="12700" marR="5080">
              <a:lnSpc>
                <a:spcPct val="100000"/>
              </a:lnSpc>
              <a:spcBef>
                <a:spcPts val="110"/>
              </a:spcBef>
            </a:pPr>
            <a:r>
              <a:rPr sz="1800" dirty="0">
                <a:latin typeface="+mj-lt"/>
                <a:cs typeface="Courier New" panose="02070309020205020404"/>
              </a:rPr>
              <a:t>export OMP_PROC_BIND=spread  export OMP_PLACES=cores</a:t>
            </a:r>
          </a:p>
        </p:txBody>
      </p:sp>
      <p:sp>
        <p:nvSpPr>
          <p:cNvPr id="4" name="object 4"/>
          <p:cNvSpPr txBox="1"/>
          <p:nvPr/>
        </p:nvSpPr>
        <p:spPr>
          <a:xfrm>
            <a:off x="4032936" y="1607806"/>
            <a:ext cx="3317875" cy="5791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ourier New" panose="02070309020205020404"/>
              </a:rPr>
              <a:t># or close</a:t>
            </a:r>
          </a:p>
          <a:p>
            <a:pPr marL="12700">
              <a:lnSpc>
                <a:spcPct val="100000"/>
              </a:lnSpc>
              <a:spcBef>
                <a:spcPts val="40"/>
              </a:spcBef>
            </a:pPr>
            <a:r>
              <a:rPr sz="1800" dirty="0">
                <a:latin typeface="+mj-lt"/>
                <a:cs typeface="Courier New" panose="02070309020205020404"/>
              </a:rPr>
              <a:t># or threads, or sockets</a:t>
            </a:r>
          </a:p>
        </p:txBody>
      </p:sp>
      <p:sp>
        <p:nvSpPr>
          <p:cNvPr id="5" name="object 5"/>
          <p:cNvSpPr txBox="1"/>
          <p:nvPr/>
        </p:nvSpPr>
        <p:spPr>
          <a:xfrm>
            <a:off x="535924" y="2186926"/>
            <a:ext cx="7295515" cy="299720"/>
          </a:xfrm>
          <a:prstGeom prst="rect">
            <a:avLst/>
          </a:prstGeom>
        </p:spPr>
        <p:txBody>
          <a:bodyPr vert="horz" wrap="square" lIns="0" tIns="12700" rIns="0" bIns="0" rtlCol="0">
            <a:spAutoFit/>
          </a:bodyPr>
          <a:lstStyle/>
          <a:p>
            <a:pPr marL="12700">
              <a:lnSpc>
                <a:spcPct val="100000"/>
              </a:lnSpc>
              <a:spcBef>
                <a:spcPts val="100"/>
              </a:spcBef>
              <a:tabLst>
                <a:tab pos="1247140" algn="l"/>
                <a:tab pos="6047740" algn="l"/>
              </a:tabLst>
            </a:pPr>
            <a:r>
              <a:rPr sz="1800" dirty="0">
                <a:latin typeface="+mj-lt"/>
                <a:cs typeface="Courier New" panose="02070309020205020404"/>
              </a:rPr>
              <a:t>srun -n	32 -c 8 --cpu_bind=verbose,cores	./my_exec</a:t>
            </a:r>
            <a:endParaRPr sz="1800">
              <a:latin typeface="+mj-lt"/>
              <a:cs typeface="Courier New" panose="02070309020205020404"/>
            </a:endParaRPr>
          </a:p>
        </p:txBody>
      </p:sp>
      <p:sp>
        <p:nvSpPr>
          <p:cNvPr id="6" name="object 6"/>
          <p:cNvSpPr txBox="1"/>
          <p:nvPr/>
        </p:nvSpPr>
        <p:spPr>
          <a:xfrm>
            <a:off x="535924" y="4663426"/>
            <a:ext cx="644334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mj-lt"/>
                <a:cs typeface="Calibri" panose="020F0502020204030204"/>
              </a:rPr>
              <a:t>...If using hyperthreads, use OMP_PLACES=threads</a:t>
            </a:r>
            <a:endParaRPr sz="2400">
              <a:latin typeface="+mj-lt"/>
              <a:cs typeface="Calibri" panose="020F0502020204030204"/>
            </a:endParaRPr>
          </a:p>
        </p:txBody>
      </p:sp>
      <p:sp>
        <p:nvSpPr>
          <p:cNvPr id="7" name="object 7"/>
          <p:cNvSpPr/>
          <p:nvPr/>
        </p:nvSpPr>
        <p:spPr>
          <a:xfrm>
            <a:off x="1722590" y="3051140"/>
            <a:ext cx="5859444" cy="1100487"/>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60139" y="307705"/>
            <a:ext cx="6541134" cy="381635"/>
          </a:xfrm>
          <a:prstGeom prst="rect">
            <a:avLst/>
          </a:prstGeom>
        </p:spPr>
        <p:txBody>
          <a:bodyPr vert="horz" wrap="square" lIns="0" tIns="12700" rIns="0" bIns="0" rtlCol="0">
            <a:spAutoFit/>
          </a:bodyPr>
          <a:lstStyle/>
          <a:p>
            <a:pPr marL="12700">
              <a:lnSpc>
                <a:spcPct val="100000"/>
              </a:lnSpc>
              <a:spcBef>
                <a:spcPts val="100"/>
              </a:spcBef>
            </a:pPr>
            <a:r>
              <a:rPr sz="2400" b="1" dirty="0">
                <a:latin typeface="+mj-lt"/>
                <a:ea typeface="+mj-ea"/>
                <a:cs typeface="Times New Roman" panose="02020603050405020304" pitchFamily="18" charset="0"/>
              </a:rPr>
              <a:t>Bottlenecks within the node – Affinity issues</a:t>
            </a:r>
          </a:p>
        </p:txBody>
      </p:sp>
      <p:sp>
        <p:nvSpPr>
          <p:cNvPr id="3" name="object 3"/>
          <p:cNvSpPr txBox="1"/>
          <p:nvPr/>
        </p:nvSpPr>
        <p:spPr>
          <a:xfrm>
            <a:off x="346629" y="2370252"/>
            <a:ext cx="8665486" cy="291105"/>
          </a:xfrm>
          <a:prstGeom prst="rect">
            <a:avLst/>
          </a:prstGeom>
        </p:spPr>
        <p:txBody>
          <a:bodyPr vert="horz" wrap="square" lIns="0" tIns="13970" rIns="0" bIns="0" rtlCol="0">
            <a:spAutoFit/>
          </a:bodyPr>
          <a:lstStyle/>
          <a:p>
            <a:pPr marL="12700" marR="5080">
              <a:lnSpc>
                <a:spcPct val="100000"/>
              </a:lnSpc>
              <a:spcBef>
                <a:spcPts val="110"/>
              </a:spcBef>
              <a:tabLst>
                <a:tab pos="698500" algn="l"/>
              </a:tabLst>
            </a:pPr>
            <a:r>
              <a:rPr sz="1800" dirty="0">
                <a:latin typeface="+mj-lt"/>
                <a:cs typeface="Courier New" panose="02070309020205020404"/>
              </a:rPr>
              <a:t>OMP_PROC_BIND=true  OMP_PLACES=cores (threads)  </a:t>
            </a:r>
            <a:r>
              <a:rPr sz="1800" dirty="0" err="1">
                <a:latin typeface="+mj-lt"/>
                <a:cs typeface="Courier New" panose="02070309020205020404"/>
              </a:rPr>
              <a:t>srun</a:t>
            </a:r>
            <a:r>
              <a:rPr lang="en-US" sz="1800" dirty="0">
                <a:latin typeface="+mj-lt"/>
                <a:cs typeface="Courier New" panose="02070309020205020404"/>
              </a:rPr>
              <a:t>  </a:t>
            </a:r>
            <a:r>
              <a:rPr sz="1800" dirty="0">
                <a:latin typeface="+mj-lt"/>
                <a:cs typeface="Courier New" panose="02070309020205020404"/>
              </a:rPr>
              <a:t>-c 4 --cpu_bind=cores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8727" y="170195"/>
            <a:ext cx="4088951"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Memory affinity</a:t>
            </a:r>
          </a:p>
        </p:txBody>
      </p:sp>
      <p:sp>
        <p:nvSpPr>
          <p:cNvPr id="3" name="object 3"/>
          <p:cNvSpPr txBox="1"/>
          <p:nvPr/>
        </p:nvSpPr>
        <p:spPr>
          <a:xfrm>
            <a:off x="444183" y="915619"/>
            <a:ext cx="8255634" cy="3041923"/>
          </a:xfrm>
          <a:prstGeom prst="rect">
            <a:avLst/>
          </a:prstGeom>
        </p:spPr>
        <p:txBody>
          <a:bodyPr vert="horz" wrap="square" lIns="0" tIns="33020" rIns="0" bIns="0" rtlCol="0">
            <a:spAutoFit/>
          </a:bodyPr>
          <a:lstStyle/>
          <a:p>
            <a:pPr marL="355600" marR="299085" indent="-342900">
              <a:lnSpc>
                <a:spcPts val="3300"/>
              </a:lnSpc>
              <a:spcBef>
                <a:spcPts val="260"/>
              </a:spcBef>
            </a:pPr>
            <a:r>
              <a:rPr sz="2000" b="1" dirty="0">
                <a:latin typeface="+mj-lt"/>
                <a:cs typeface="Calibri" panose="020F0502020204030204"/>
              </a:rPr>
              <a:t>Linux default behavior is to allocate to closest NUMA-  node, if possible</a:t>
            </a:r>
            <a:endParaRPr sz="2000" dirty="0">
              <a:latin typeface="+mj-lt"/>
              <a:cs typeface="Calibri" panose="020F0502020204030204"/>
            </a:endParaRPr>
          </a:p>
          <a:p>
            <a:pPr marL="12700">
              <a:lnSpc>
                <a:spcPts val="3270"/>
              </a:lnSpc>
            </a:pPr>
            <a:r>
              <a:rPr sz="2000" b="1" dirty="0">
                <a:latin typeface="+mj-lt"/>
                <a:cs typeface="Calibri" panose="020F0502020204030204"/>
              </a:rPr>
              <a:t>Not always optimal:</a:t>
            </a:r>
            <a:endParaRPr sz="2000" dirty="0">
              <a:latin typeface="+mj-lt"/>
              <a:cs typeface="Calibri" panose="020F0502020204030204"/>
            </a:endParaRPr>
          </a:p>
          <a:p>
            <a:pPr marL="927100" indent="-381635">
              <a:lnSpc>
                <a:spcPts val="2850"/>
              </a:lnSpc>
              <a:buFont typeface="Arial" panose="020B0604020202020204"/>
              <a:buChar char="•"/>
              <a:tabLst>
                <a:tab pos="926465" algn="l"/>
                <a:tab pos="927100" algn="l"/>
              </a:tabLst>
            </a:pPr>
            <a:r>
              <a:rPr b="1" dirty="0">
                <a:latin typeface="+mj-lt"/>
                <a:cs typeface="Calibri" panose="020F0502020204030204"/>
              </a:rPr>
              <a:t>KNL nodes: DDR is “closer” than MCDRAM</a:t>
            </a:r>
            <a:endParaRPr dirty="0">
              <a:latin typeface="+mj-lt"/>
              <a:cs typeface="Calibri" panose="020F0502020204030204"/>
            </a:endParaRPr>
          </a:p>
          <a:p>
            <a:pPr marL="12700" marR="4942840">
              <a:lnSpc>
                <a:spcPct val="102000"/>
              </a:lnSpc>
            </a:pPr>
            <a:endParaRPr lang="en-US" sz="1400" dirty="0">
              <a:latin typeface="+mj-lt"/>
              <a:cs typeface="Courier New" panose="02070309020205020404"/>
            </a:endParaRPr>
          </a:p>
          <a:p>
            <a:pPr marL="12700" marR="4942840">
              <a:lnSpc>
                <a:spcPct val="102000"/>
              </a:lnSpc>
            </a:pPr>
            <a:r>
              <a:rPr sz="1400" dirty="0">
                <a:latin typeface="+mj-lt"/>
                <a:cs typeface="Courier New" panose="02070309020205020404"/>
              </a:rPr>
              <a:t>#SBATCH -C knl,quad,flat  export OMP_NUM_THREADS=4</a:t>
            </a:r>
          </a:p>
          <a:p>
            <a:pPr marL="12700">
              <a:lnSpc>
                <a:spcPts val="2100"/>
              </a:lnSpc>
            </a:pPr>
            <a:r>
              <a:rPr sz="1400" dirty="0">
                <a:latin typeface="+mj-lt"/>
                <a:cs typeface="Courier New" panose="02070309020205020404"/>
              </a:rPr>
              <a:t>srun -n16 -c16 --cpu_bind=cores --mem_bind=map_mem:1 ./a.out</a:t>
            </a:r>
          </a:p>
          <a:p>
            <a:pPr marL="469900" indent="-381000">
              <a:lnSpc>
                <a:spcPct val="100000"/>
              </a:lnSpc>
              <a:spcBef>
                <a:spcPts val="5"/>
              </a:spcBef>
              <a:buFont typeface="Arial" panose="020B0604020202020204"/>
              <a:buChar char="•"/>
              <a:tabLst>
                <a:tab pos="469265" algn="l"/>
                <a:tab pos="469900" algn="l"/>
              </a:tabLst>
            </a:pPr>
            <a:r>
              <a:rPr b="1" dirty="0">
                <a:latin typeface="+mj-lt"/>
                <a:cs typeface="Calibri" panose="020F0502020204030204"/>
              </a:rPr>
              <a:t>NUMA node 1 is MCDRAM in quad,ﬂat mode</a:t>
            </a:r>
            <a:endParaRPr dirty="0">
              <a:latin typeface="+mj-lt"/>
              <a:cs typeface="Calibri" panose="020F0502020204030204"/>
            </a:endParaRPr>
          </a:p>
          <a:p>
            <a:pPr marL="469900" indent="-381000">
              <a:lnSpc>
                <a:spcPct val="100000"/>
              </a:lnSpc>
              <a:spcBef>
                <a:spcPts val="20"/>
              </a:spcBef>
              <a:buFont typeface="Arial" panose="020B0604020202020204"/>
              <a:buChar char="•"/>
              <a:tabLst>
                <a:tab pos="469265" algn="l"/>
                <a:tab pos="469900" algn="l"/>
              </a:tabLst>
            </a:pPr>
            <a:r>
              <a:rPr b="1" dirty="0">
                <a:latin typeface="+mj-lt"/>
                <a:cs typeface="Calibri" panose="020F0502020204030204"/>
              </a:rPr>
              <a:t>“Mandatory” mapping: if using &gt;16GB, malloc will fail</a:t>
            </a:r>
            <a:endParaRPr dirty="0">
              <a:latin typeface="+mj-lt"/>
              <a:cs typeface="Calibri" panose="020F0502020204030204"/>
            </a:endParaRPr>
          </a:p>
          <a:p>
            <a:pPr>
              <a:lnSpc>
                <a:spcPct val="100000"/>
              </a:lnSpc>
              <a:spcBef>
                <a:spcPts val="25"/>
              </a:spcBef>
            </a:pPr>
            <a:r>
              <a:rPr lang="en-US" sz="2000" dirty="0">
                <a:latin typeface="+mj-lt"/>
                <a:cs typeface="Calibri" panose="020F0502020204030204"/>
              </a:rPr>
              <a:t>ttps://colfaxresearch.com/knl-mcdram/</a:t>
            </a:r>
          </a:p>
        </p:txBody>
      </p:sp>
      <p:sp>
        <p:nvSpPr>
          <p:cNvPr id="6" name="文本框 5">
            <a:extLst>
              <a:ext uri="{FF2B5EF4-FFF2-40B4-BE49-F238E27FC236}">
                <a16:creationId xmlns:a16="http://schemas.microsoft.com/office/drawing/2014/main" id="{9DB63B0E-29EB-47E7-98F4-2BBB745646CC}"/>
              </a:ext>
            </a:extLst>
          </p:cNvPr>
          <p:cNvSpPr txBox="1"/>
          <p:nvPr/>
        </p:nvSpPr>
        <p:spPr>
          <a:xfrm>
            <a:off x="1621577" y="6318473"/>
            <a:ext cx="5007589" cy="369332"/>
          </a:xfrm>
          <a:prstGeom prst="rect">
            <a:avLst/>
          </a:prstGeom>
          <a:noFill/>
        </p:spPr>
        <p:txBody>
          <a:bodyPr wrap="none" rtlCol="0">
            <a:spAutoFit/>
          </a:bodyPr>
          <a:lstStyle/>
          <a:p>
            <a:r>
              <a:rPr lang="en-US" dirty="0"/>
              <a:t> Usage modes of HBM in </a:t>
            </a:r>
            <a:r>
              <a:rPr lang="en-US" dirty="0" err="1"/>
              <a:t>Kights</a:t>
            </a:r>
            <a:r>
              <a:rPr lang="en-US" dirty="0"/>
              <a:t> Landing processors.</a:t>
            </a:r>
          </a:p>
        </p:txBody>
      </p:sp>
      <p:pic>
        <p:nvPicPr>
          <p:cNvPr id="1026" name="Picture 2" descr="mcdram in cache mode">
            <a:extLst>
              <a:ext uri="{FF2B5EF4-FFF2-40B4-BE49-F238E27FC236}">
                <a16:creationId xmlns:a16="http://schemas.microsoft.com/office/drawing/2014/main" id="{A2E93423-29AD-49B7-BB29-03C8C435EF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995" y="4072296"/>
            <a:ext cx="1133475"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cdram in flat mode">
            <a:extLst>
              <a:ext uri="{FF2B5EF4-FFF2-40B4-BE49-F238E27FC236}">
                <a16:creationId xmlns:a16="http://schemas.microsoft.com/office/drawing/2014/main" id="{A4E07AAC-4C03-4221-A06F-5B8FE01CD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1152" y="4072296"/>
            <a:ext cx="23241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cdram in hybrid mode">
            <a:extLst>
              <a:ext uri="{FF2B5EF4-FFF2-40B4-BE49-F238E27FC236}">
                <a16:creationId xmlns:a16="http://schemas.microsoft.com/office/drawing/2014/main" id="{B0C319CD-C55D-4839-BAAA-7763749C0D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2934" y="4090257"/>
            <a:ext cx="1485900" cy="20955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36B8C4A0-49D3-4744-AB5B-2DC3AAEB667F}"/>
              </a:ext>
            </a:extLst>
          </p:cNvPr>
          <p:cNvSpPr txBox="1"/>
          <p:nvPr/>
        </p:nvSpPr>
        <p:spPr>
          <a:xfrm>
            <a:off x="444183" y="4839855"/>
            <a:ext cx="753732" cy="646331"/>
          </a:xfrm>
          <a:prstGeom prst="rect">
            <a:avLst/>
          </a:prstGeom>
          <a:noFill/>
        </p:spPr>
        <p:txBody>
          <a:bodyPr wrap="none" rtlCol="0">
            <a:spAutoFit/>
          </a:bodyPr>
          <a:lstStyle/>
          <a:p>
            <a:r>
              <a:rPr lang="en-US" dirty="0"/>
              <a:t>Cache</a:t>
            </a:r>
          </a:p>
          <a:p>
            <a:r>
              <a:rPr lang="en-US" dirty="0"/>
              <a:t>mode</a:t>
            </a:r>
          </a:p>
        </p:txBody>
      </p:sp>
      <p:sp>
        <p:nvSpPr>
          <p:cNvPr id="11" name="文本框 10">
            <a:extLst>
              <a:ext uri="{FF2B5EF4-FFF2-40B4-BE49-F238E27FC236}">
                <a16:creationId xmlns:a16="http://schemas.microsoft.com/office/drawing/2014/main" id="{90344EAC-8938-4CAA-9ECD-90CCA2852CA4}"/>
              </a:ext>
            </a:extLst>
          </p:cNvPr>
          <p:cNvSpPr txBox="1"/>
          <p:nvPr/>
        </p:nvSpPr>
        <p:spPr>
          <a:xfrm>
            <a:off x="2638727" y="4839855"/>
            <a:ext cx="753732" cy="646331"/>
          </a:xfrm>
          <a:prstGeom prst="rect">
            <a:avLst/>
          </a:prstGeom>
          <a:noFill/>
        </p:spPr>
        <p:txBody>
          <a:bodyPr wrap="none" rtlCol="0">
            <a:spAutoFit/>
          </a:bodyPr>
          <a:lstStyle/>
          <a:p>
            <a:r>
              <a:rPr lang="en-US" dirty="0"/>
              <a:t>Flat</a:t>
            </a:r>
          </a:p>
          <a:p>
            <a:r>
              <a:rPr lang="en-US" dirty="0"/>
              <a:t>mode</a:t>
            </a:r>
          </a:p>
        </p:txBody>
      </p:sp>
      <p:sp>
        <p:nvSpPr>
          <p:cNvPr id="12" name="文本框 11">
            <a:extLst>
              <a:ext uri="{FF2B5EF4-FFF2-40B4-BE49-F238E27FC236}">
                <a16:creationId xmlns:a16="http://schemas.microsoft.com/office/drawing/2014/main" id="{8912B69D-7416-4048-A844-EEBFF7DFB90F}"/>
              </a:ext>
            </a:extLst>
          </p:cNvPr>
          <p:cNvSpPr txBox="1"/>
          <p:nvPr/>
        </p:nvSpPr>
        <p:spPr>
          <a:xfrm>
            <a:off x="6215356" y="4842552"/>
            <a:ext cx="809837" cy="646331"/>
          </a:xfrm>
          <a:prstGeom prst="rect">
            <a:avLst/>
          </a:prstGeom>
          <a:noFill/>
        </p:spPr>
        <p:txBody>
          <a:bodyPr wrap="none" rtlCol="0">
            <a:spAutoFit/>
          </a:bodyPr>
          <a:lstStyle/>
          <a:p>
            <a:r>
              <a:rPr lang="en-US" dirty="0"/>
              <a:t>Hybrid</a:t>
            </a:r>
          </a:p>
          <a:p>
            <a:r>
              <a:rPr lang="en-US" dirty="0"/>
              <a:t>mode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26151" y="162084"/>
            <a:ext cx="715043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Bottlenecks within the node</a:t>
            </a:r>
          </a:p>
        </p:txBody>
      </p:sp>
      <p:sp>
        <p:nvSpPr>
          <p:cNvPr id="3" name="object 3"/>
          <p:cNvSpPr txBox="1"/>
          <p:nvPr/>
        </p:nvSpPr>
        <p:spPr>
          <a:xfrm>
            <a:off x="535939" y="1065845"/>
            <a:ext cx="5838825" cy="421640"/>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600" b="1" dirty="0">
                <a:latin typeface="+mj-lt"/>
                <a:cs typeface="Calibri" panose="020F0502020204030204"/>
              </a:rPr>
              <a:t>Performance tends to be dominated by:</a:t>
            </a:r>
            <a:endParaRPr sz="2600">
              <a:latin typeface="+mj-lt"/>
              <a:cs typeface="Calibri" panose="020F0502020204030204"/>
            </a:endParaRPr>
          </a:p>
        </p:txBody>
      </p:sp>
      <p:sp>
        <p:nvSpPr>
          <p:cNvPr id="4" name="object 4"/>
          <p:cNvSpPr txBox="1"/>
          <p:nvPr/>
        </p:nvSpPr>
        <p:spPr>
          <a:xfrm>
            <a:off x="535939" y="5412292"/>
            <a:ext cx="7053580" cy="749300"/>
          </a:xfrm>
          <a:prstGeom prst="rect">
            <a:avLst/>
          </a:prstGeom>
        </p:spPr>
        <p:txBody>
          <a:bodyPr vert="horz" wrap="square" lIns="0" tIns="80645" rIns="0" bIns="0" rtlCol="0">
            <a:spAutoFit/>
          </a:bodyPr>
          <a:lstStyle/>
          <a:p>
            <a:pPr marL="355600" marR="5080" indent="-342900">
              <a:lnSpc>
                <a:spcPts val="2580"/>
              </a:lnSpc>
              <a:spcBef>
                <a:spcPts val="635"/>
              </a:spcBef>
              <a:buFont typeface="Arial" panose="020B0604020202020204"/>
              <a:buChar char="•"/>
              <a:tabLst>
                <a:tab pos="354965" algn="l"/>
                <a:tab pos="355600" algn="l"/>
              </a:tabLst>
            </a:pPr>
            <a:r>
              <a:rPr sz="2600" b="1" dirty="0">
                <a:latin typeface="+mj-lt"/>
                <a:cs typeface="Calibri" panose="020F0502020204030204"/>
              </a:rPr>
              <a:t>Bo</a:t>
            </a:r>
            <a:r>
              <a:rPr lang="en-US" sz="2600" b="1" dirty="0">
                <a:latin typeface="+mj-lt"/>
                <a:cs typeface="Calibri" panose="020F0502020204030204"/>
              </a:rPr>
              <a:t>tt</a:t>
            </a:r>
            <a:r>
              <a:rPr sz="2600" b="1" dirty="0">
                <a:latin typeface="+mj-lt"/>
                <a:cs typeface="Calibri" panose="020F0502020204030204"/>
              </a:rPr>
              <a:t>lenecks are usually due to one of these parts  waiting on the other</a:t>
            </a:r>
            <a:endParaRPr sz="2600" dirty="0">
              <a:latin typeface="+mj-lt"/>
              <a:cs typeface="Calibri" panose="020F0502020204030204"/>
            </a:endParaRPr>
          </a:p>
        </p:txBody>
      </p:sp>
      <p:sp>
        <p:nvSpPr>
          <p:cNvPr id="5" name="object 5"/>
          <p:cNvSpPr/>
          <p:nvPr/>
        </p:nvSpPr>
        <p:spPr>
          <a:xfrm>
            <a:off x="2896430" y="1602661"/>
            <a:ext cx="3076082" cy="3890338"/>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txBox="1"/>
          <p:nvPr/>
        </p:nvSpPr>
        <p:spPr>
          <a:xfrm>
            <a:off x="266936" y="2577849"/>
            <a:ext cx="2142490" cy="1115060"/>
          </a:xfrm>
          <a:prstGeom prst="rect">
            <a:avLst/>
          </a:prstGeom>
        </p:spPr>
        <p:txBody>
          <a:bodyPr vert="horz" wrap="square" lIns="0" tIns="33020" rIns="0" bIns="0" rtlCol="0">
            <a:spAutoFit/>
          </a:bodyPr>
          <a:lstStyle/>
          <a:p>
            <a:pPr marL="12700" marR="5080">
              <a:lnSpc>
                <a:spcPts val="2800"/>
              </a:lnSpc>
              <a:spcBef>
                <a:spcPts val="260"/>
              </a:spcBef>
            </a:pPr>
            <a:r>
              <a:rPr sz="2400" b="1" dirty="0">
                <a:latin typeface="+mj-lt"/>
                <a:cs typeface="Calibri" panose="020F0502020204030204"/>
              </a:rPr>
              <a:t>Doing arithmetic  operations</a:t>
            </a:r>
            <a:endParaRPr sz="2400">
              <a:latin typeface="+mj-lt"/>
              <a:cs typeface="Calibri" panose="020F0502020204030204"/>
            </a:endParaRPr>
          </a:p>
          <a:p>
            <a:pPr marL="12700">
              <a:lnSpc>
                <a:spcPts val="2820"/>
              </a:lnSpc>
            </a:pPr>
            <a:r>
              <a:rPr sz="2400" b="1" dirty="0">
                <a:latin typeface="+mj-lt"/>
                <a:cs typeface="Calibri" panose="020F0502020204030204"/>
              </a:rPr>
              <a:t>(# FLOPS/cycle)</a:t>
            </a:r>
            <a:endParaRPr sz="2400">
              <a:latin typeface="+mj-lt"/>
              <a:cs typeface="Calibri" panose="020F0502020204030204"/>
            </a:endParaRPr>
          </a:p>
        </p:txBody>
      </p:sp>
      <p:sp>
        <p:nvSpPr>
          <p:cNvPr id="7" name="object 7"/>
          <p:cNvSpPr/>
          <p:nvPr/>
        </p:nvSpPr>
        <p:spPr>
          <a:xfrm>
            <a:off x="2851071" y="3862332"/>
            <a:ext cx="1261745" cy="850900"/>
          </a:xfrm>
          <a:custGeom>
            <a:avLst/>
            <a:gdLst/>
            <a:ahLst/>
            <a:cxnLst/>
            <a:rect l="l" t="t" r="r" b="b"/>
            <a:pathLst>
              <a:path w="1261745" h="850900">
                <a:moveTo>
                  <a:pt x="0" y="425204"/>
                </a:moveTo>
                <a:lnTo>
                  <a:pt x="2577" y="386502"/>
                </a:lnTo>
                <a:lnTo>
                  <a:pt x="10163" y="348773"/>
                </a:lnTo>
                <a:lnTo>
                  <a:pt x="22533" y="312168"/>
                </a:lnTo>
                <a:lnTo>
                  <a:pt x="39465" y="276837"/>
                </a:lnTo>
                <a:lnTo>
                  <a:pt x="60737" y="242929"/>
                </a:lnTo>
                <a:lnTo>
                  <a:pt x="86125" y="210595"/>
                </a:lnTo>
                <a:lnTo>
                  <a:pt x="115408" y="179986"/>
                </a:lnTo>
                <a:lnTo>
                  <a:pt x="148361" y="151250"/>
                </a:lnTo>
                <a:lnTo>
                  <a:pt x="184763" y="124539"/>
                </a:lnTo>
                <a:lnTo>
                  <a:pt x="224391" y="100002"/>
                </a:lnTo>
                <a:lnTo>
                  <a:pt x="267022" y="77790"/>
                </a:lnTo>
                <a:lnTo>
                  <a:pt x="312434" y="58052"/>
                </a:lnTo>
                <a:lnTo>
                  <a:pt x="360403" y="40939"/>
                </a:lnTo>
                <a:lnTo>
                  <a:pt x="410708" y="26601"/>
                </a:lnTo>
                <a:lnTo>
                  <a:pt x="463125" y="15188"/>
                </a:lnTo>
                <a:lnTo>
                  <a:pt x="517431" y="6850"/>
                </a:lnTo>
                <a:lnTo>
                  <a:pt x="573405" y="1737"/>
                </a:lnTo>
                <a:lnTo>
                  <a:pt x="630822" y="0"/>
                </a:lnTo>
                <a:lnTo>
                  <a:pt x="688240" y="1737"/>
                </a:lnTo>
                <a:lnTo>
                  <a:pt x="744214" y="6850"/>
                </a:lnTo>
                <a:lnTo>
                  <a:pt x="798520" y="15188"/>
                </a:lnTo>
                <a:lnTo>
                  <a:pt x="850937" y="26601"/>
                </a:lnTo>
                <a:lnTo>
                  <a:pt x="901241" y="40939"/>
                </a:lnTo>
                <a:lnTo>
                  <a:pt x="949211" y="58052"/>
                </a:lnTo>
                <a:lnTo>
                  <a:pt x="994622" y="77790"/>
                </a:lnTo>
                <a:lnTo>
                  <a:pt x="1037253" y="100002"/>
                </a:lnTo>
                <a:lnTo>
                  <a:pt x="1076881" y="124539"/>
                </a:lnTo>
                <a:lnTo>
                  <a:pt x="1113284" y="151250"/>
                </a:lnTo>
                <a:lnTo>
                  <a:pt x="1146237" y="179986"/>
                </a:lnTo>
                <a:lnTo>
                  <a:pt x="1175519" y="210595"/>
                </a:lnTo>
                <a:lnTo>
                  <a:pt x="1200908" y="242929"/>
                </a:lnTo>
                <a:lnTo>
                  <a:pt x="1222179" y="276837"/>
                </a:lnTo>
                <a:lnTo>
                  <a:pt x="1239112" y="312168"/>
                </a:lnTo>
                <a:lnTo>
                  <a:pt x="1251482" y="348773"/>
                </a:lnTo>
                <a:lnTo>
                  <a:pt x="1259067" y="386502"/>
                </a:lnTo>
                <a:lnTo>
                  <a:pt x="1261645" y="425204"/>
                </a:lnTo>
                <a:lnTo>
                  <a:pt x="1259067" y="463907"/>
                </a:lnTo>
                <a:lnTo>
                  <a:pt x="1251482" y="501635"/>
                </a:lnTo>
                <a:lnTo>
                  <a:pt x="1239112" y="538241"/>
                </a:lnTo>
                <a:lnTo>
                  <a:pt x="1222179" y="573572"/>
                </a:lnTo>
                <a:lnTo>
                  <a:pt x="1200908" y="607480"/>
                </a:lnTo>
                <a:lnTo>
                  <a:pt x="1175519" y="639813"/>
                </a:lnTo>
                <a:lnTo>
                  <a:pt x="1146237" y="670423"/>
                </a:lnTo>
                <a:lnTo>
                  <a:pt x="1113284" y="699158"/>
                </a:lnTo>
                <a:lnTo>
                  <a:pt x="1076881" y="725870"/>
                </a:lnTo>
                <a:lnTo>
                  <a:pt x="1037253" y="750406"/>
                </a:lnTo>
                <a:lnTo>
                  <a:pt x="994622" y="772619"/>
                </a:lnTo>
                <a:lnTo>
                  <a:pt x="949211" y="792356"/>
                </a:lnTo>
                <a:lnTo>
                  <a:pt x="901241" y="809469"/>
                </a:lnTo>
                <a:lnTo>
                  <a:pt x="850937" y="823807"/>
                </a:lnTo>
                <a:lnTo>
                  <a:pt x="798520" y="835221"/>
                </a:lnTo>
                <a:lnTo>
                  <a:pt x="744214" y="843559"/>
                </a:lnTo>
                <a:lnTo>
                  <a:pt x="688240" y="848672"/>
                </a:lnTo>
                <a:lnTo>
                  <a:pt x="630822" y="850409"/>
                </a:lnTo>
                <a:lnTo>
                  <a:pt x="573405" y="848672"/>
                </a:lnTo>
                <a:lnTo>
                  <a:pt x="517431" y="843559"/>
                </a:lnTo>
                <a:lnTo>
                  <a:pt x="463125" y="835221"/>
                </a:lnTo>
                <a:lnTo>
                  <a:pt x="410708" y="823807"/>
                </a:lnTo>
                <a:lnTo>
                  <a:pt x="360403" y="809469"/>
                </a:lnTo>
                <a:lnTo>
                  <a:pt x="312434" y="792356"/>
                </a:lnTo>
                <a:lnTo>
                  <a:pt x="267022" y="772619"/>
                </a:lnTo>
                <a:lnTo>
                  <a:pt x="224391" y="750406"/>
                </a:lnTo>
                <a:lnTo>
                  <a:pt x="184763" y="725870"/>
                </a:lnTo>
                <a:lnTo>
                  <a:pt x="148361" y="699158"/>
                </a:lnTo>
                <a:lnTo>
                  <a:pt x="115408" y="670423"/>
                </a:lnTo>
                <a:lnTo>
                  <a:pt x="86125" y="639813"/>
                </a:lnTo>
                <a:lnTo>
                  <a:pt x="60737" y="607480"/>
                </a:lnTo>
                <a:lnTo>
                  <a:pt x="39465" y="573572"/>
                </a:lnTo>
                <a:lnTo>
                  <a:pt x="22533" y="538241"/>
                </a:lnTo>
                <a:lnTo>
                  <a:pt x="10163" y="501635"/>
                </a:lnTo>
                <a:lnTo>
                  <a:pt x="2577" y="463907"/>
                </a:lnTo>
                <a:lnTo>
                  <a:pt x="0" y="425204"/>
                </a:lnTo>
                <a:close/>
              </a:path>
            </a:pathLst>
          </a:custGeom>
          <a:ln w="76199">
            <a:solidFill>
              <a:srgbClr val="FF2600"/>
            </a:solidFill>
          </a:ln>
        </p:spPr>
        <p:txBody>
          <a:bodyPr wrap="square" lIns="0" tIns="0" rIns="0" bIns="0" rtlCol="0"/>
          <a:lstStyle/>
          <a:p>
            <a:endParaRPr>
              <a:latin typeface="+mj-lt"/>
            </a:endParaRPr>
          </a:p>
        </p:txBody>
      </p:sp>
      <p:sp>
        <p:nvSpPr>
          <p:cNvPr id="8" name="object 8"/>
          <p:cNvSpPr/>
          <p:nvPr/>
        </p:nvSpPr>
        <p:spPr>
          <a:xfrm>
            <a:off x="4010705" y="3590305"/>
            <a:ext cx="1962150" cy="1762125"/>
          </a:xfrm>
          <a:custGeom>
            <a:avLst/>
            <a:gdLst/>
            <a:ahLst/>
            <a:cxnLst/>
            <a:rect l="l" t="t" r="r" b="b"/>
            <a:pathLst>
              <a:path w="1962150" h="1762125">
                <a:moveTo>
                  <a:pt x="0" y="880771"/>
                </a:moveTo>
                <a:lnTo>
                  <a:pt x="1276" y="835447"/>
                </a:lnTo>
                <a:lnTo>
                  <a:pt x="5064" y="790717"/>
                </a:lnTo>
                <a:lnTo>
                  <a:pt x="11302" y="746638"/>
                </a:lnTo>
                <a:lnTo>
                  <a:pt x="19928" y="703265"/>
                </a:lnTo>
                <a:lnTo>
                  <a:pt x="30881" y="660653"/>
                </a:lnTo>
                <a:lnTo>
                  <a:pt x="44099" y="618857"/>
                </a:lnTo>
                <a:lnTo>
                  <a:pt x="59520" y="577932"/>
                </a:lnTo>
                <a:lnTo>
                  <a:pt x="77084" y="537935"/>
                </a:lnTo>
                <a:lnTo>
                  <a:pt x="96727" y="498920"/>
                </a:lnTo>
                <a:lnTo>
                  <a:pt x="118389" y="460943"/>
                </a:lnTo>
                <a:lnTo>
                  <a:pt x="142008" y="424059"/>
                </a:lnTo>
                <a:lnTo>
                  <a:pt x="167522" y="388323"/>
                </a:lnTo>
                <a:lnTo>
                  <a:pt x="194870" y="353791"/>
                </a:lnTo>
                <a:lnTo>
                  <a:pt x="223990" y="320519"/>
                </a:lnTo>
                <a:lnTo>
                  <a:pt x="254820" y="288560"/>
                </a:lnTo>
                <a:lnTo>
                  <a:pt x="287299" y="257972"/>
                </a:lnTo>
                <a:lnTo>
                  <a:pt x="321366" y="228808"/>
                </a:lnTo>
                <a:lnTo>
                  <a:pt x="356957" y="201125"/>
                </a:lnTo>
                <a:lnTo>
                  <a:pt x="394013" y="174978"/>
                </a:lnTo>
                <a:lnTo>
                  <a:pt x="432471" y="150421"/>
                </a:lnTo>
                <a:lnTo>
                  <a:pt x="472269" y="127512"/>
                </a:lnTo>
                <a:lnTo>
                  <a:pt x="513346" y="106304"/>
                </a:lnTo>
                <a:lnTo>
                  <a:pt x="555641" y="86853"/>
                </a:lnTo>
                <a:lnTo>
                  <a:pt x="599091" y="69215"/>
                </a:lnTo>
                <a:lnTo>
                  <a:pt x="643635" y="53444"/>
                </a:lnTo>
                <a:lnTo>
                  <a:pt x="689212" y="39597"/>
                </a:lnTo>
                <a:lnTo>
                  <a:pt x="735760" y="27729"/>
                </a:lnTo>
                <a:lnTo>
                  <a:pt x="783217" y="17894"/>
                </a:lnTo>
                <a:lnTo>
                  <a:pt x="831521" y="10148"/>
                </a:lnTo>
                <a:lnTo>
                  <a:pt x="880611" y="4547"/>
                </a:lnTo>
                <a:lnTo>
                  <a:pt x="930426" y="1146"/>
                </a:lnTo>
                <a:lnTo>
                  <a:pt x="980903" y="0"/>
                </a:lnTo>
                <a:lnTo>
                  <a:pt x="1031380" y="1146"/>
                </a:lnTo>
                <a:lnTo>
                  <a:pt x="1081195" y="4547"/>
                </a:lnTo>
                <a:lnTo>
                  <a:pt x="1130285" y="10148"/>
                </a:lnTo>
                <a:lnTo>
                  <a:pt x="1178589" y="17894"/>
                </a:lnTo>
                <a:lnTo>
                  <a:pt x="1226046" y="27729"/>
                </a:lnTo>
                <a:lnTo>
                  <a:pt x="1272594" y="39597"/>
                </a:lnTo>
                <a:lnTo>
                  <a:pt x="1318171" y="53444"/>
                </a:lnTo>
                <a:lnTo>
                  <a:pt x="1362715" y="69215"/>
                </a:lnTo>
                <a:lnTo>
                  <a:pt x="1406165" y="86853"/>
                </a:lnTo>
                <a:lnTo>
                  <a:pt x="1448460" y="106304"/>
                </a:lnTo>
                <a:lnTo>
                  <a:pt x="1489537" y="127512"/>
                </a:lnTo>
                <a:lnTo>
                  <a:pt x="1529336" y="150421"/>
                </a:lnTo>
                <a:lnTo>
                  <a:pt x="1567793" y="174978"/>
                </a:lnTo>
                <a:lnTo>
                  <a:pt x="1604849" y="201125"/>
                </a:lnTo>
                <a:lnTo>
                  <a:pt x="1640441" y="228808"/>
                </a:lnTo>
                <a:lnTo>
                  <a:pt x="1674507" y="257972"/>
                </a:lnTo>
                <a:lnTo>
                  <a:pt x="1706986" y="288560"/>
                </a:lnTo>
                <a:lnTo>
                  <a:pt x="1737816" y="320519"/>
                </a:lnTo>
                <a:lnTo>
                  <a:pt x="1766936" y="353791"/>
                </a:lnTo>
                <a:lnTo>
                  <a:pt x="1794284" y="388323"/>
                </a:lnTo>
                <a:lnTo>
                  <a:pt x="1819798" y="424059"/>
                </a:lnTo>
                <a:lnTo>
                  <a:pt x="1843417" y="460943"/>
                </a:lnTo>
                <a:lnTo>
                  <a:pt x="1865079" y="498920"/>
                </a:lnTo>
                <a:lnTo>
                  <a:pt x="1884723" y="537935"/>
                </a:lnTo>
                <a:lnTo>
                  <a:pt x="1902286" y="577932"/>
                </a:lnTo>
                <a:lnTo>
                  <a:pt x="1917707" y="618857"/>
                </a:lnTo>
                <a:lnTo>
                  <a:pt x="1930926" y="660653"/>
                </a:lnTo>
                <a:lnTo>
                  <a:pt x="1941879" y="703265"/>
                </a:lnTo>
                <a:lnTo>
                  <a:pt x="1950505" y="746638"/>
                </a:lnTo>
                <a:lnTo>
                  <a:pt x="1956743" y="790717"/>
                </a:lnTo>
                <a:lnTo>
                  <a:pt x="1960531" y="835447"/>
                </a:lnTo>
                <a:lnTo>
                  <a:pt x="1961807" y="880771"/>
                </a:lnTo>
                <a:lnTo>
                  <a:pt x="1960531" y="926096"/>
                </a:lnTo>
                <a:lnTo>
                  <a:pt x="1956743" y="970825"/>
                </a:lnTo>
                <a:lnTo>
                  <a:pt x="1950505" y="1014904"/>
                </a:lnTo>
                <a:lnTo>
                  <a:pt x="1941879" y="1058277"/>
                </a:lnTo>
                <a:lnTo>
                  <a:pt x="1930926" y="1100890"/>
                </a:lnTo>
                <a:lnTo>
                  <a:pt x="1917707" y="1142686"/>
                </a:lnTo>
                <a:lnTo>
                  <a:pt x="1902286" y="1183610"/>
                </a:lnTo>
                <a:lnTo>
                  <a:pt x="1884723" y="1223607"/>
                </a:lnTo>
                <a:lnTo>
                  <a:pt x="1865079" y="1262622"/>
                </a:lnTo>
                <a:lnTo>
                  <a:pt x="1843417" y="1300599"/>
                </a:lnTo>
                <a:lnTo>
                  <a:pt x="1819798" y="1337483"/>
                </a:lnTo>
                <a:lnTo>
                  <a:pt x="1794284" y="1373219"/>
                </a:lnTo>
                <a:lnTo>
                  <a:pt x="1766936" y="1407751"/>
                </a:lnTo>
                <a:lnTo>
                  <a:pt x="1737816" y="1441024"/>
                </a:lnTo>
                <a:lnTo>
                  <a:pt x="1706986" y="1472982"/>
                </a:lnTo>
                <a:lnTo>
                  <a:pt x="1674507" y="1503571"/>
                </a:lnTo>
                <a:lnTo>
                  <a:pt x="1640441" y="1532734"/>
                </a:lnTo>
                <a:lnTo>
                  <a:pt x="1604849" y="1560418"/>
                </a:lnTo>
                <a:lnTo>
                  <a:pt x="1567793" y="1586565"/>
                </a:lnTo>
                <a:lnTo>
                  <a:pt x="1529336" y="1611121"/>
                </a:lnTo>
                <a:lnTo>
                  <a:pt x="1489537" y="1634031"/>
                </a:lnTo>
                <a:lnTo>
                  <a:pt x="1448460" y="1655239"/>
                </a:lnTo>
                <a:lnTo>
                  <a:pt x="1406165" y="1674689"/>
                </a:lnTo>
                <a:lnTo>
                  <a:pt x="1362715" y="1692328"/>
                </a:lnTo>
                <a:lnTo>
                  <a:pt x="1318171" y="1708098"/>
                </a:lnTo>
                <a:lnTo>
                  <a:pt x="1272594" y="1721945"/>
                </a:lnTo>
                <a:lnTo>
                  <a:pt x="1226046" y="1733814"/>
                </a:lnTo>
                <a:lnTo>
                  <a:pt x="1178589" y="1743649"/>
                </a:lnTo>
                <a:lnTo>
                  <a:pt x="1130285" y="1751395"/>
                </a:lnTo>
                <a:lnTo>
                  <a:pt x="1081195" y="1756996"/>
                </a:lnTo>
                <a:lnTo>
                  <a:pt x="1031380" y="1760397"/>
                </a:lnTo>
                <a:lnTo>
                  <a:pt x="980903" y="1761543"/>
                </a:lnTo>
                <a:lnTo>
                  <a:pt x="930426" y="1760397"/>
                </a:lnTo>
                <a:lnTo>
                  <a:pt x="880611" y="1756996"/>
                </a:lnTo>
                <a:lnTo>
                  <a:pt x="831521" y="1751395"/>
                </a:lnTo>
                <a:lnTo>
                  <a:pt x="783217" y="1743649"/>
                </a:lnTo>
                <a:lnTo>
                  <a:pt x="735760" y="1733814"/>
                </a:lnTo>
                <a:lnTo>
                  <a:pt x="689212" y="1721945"/>
                </a:lnTo>
                <a:lnTo>
                  <a:pt x="643635" y="1708098"/>
                </a:lnTo>
                <a:lnTo>
                  <a:pt x="599091" y="1692328"/>
                </a:lnTo>
                <a:lnTo>
                  <a:pt x="555641" y="1674689"/>
                </a:lnTo>
                <a:lnTo>
                  <a:pt x="513346" y="1655239"/>
                </a:lnTo>
                <a:lnTo>
                  <a:pt x="472269" y="1634031"/>
                </a:lnTo>
                <a:lnTo>
                  <a:pt x="432471" y="1611121"/>
                </a:lnTo>
                <a:lnTo>
                  <a:pt x="394013" y="1586565"/>
                </a:lnTo>
                <a:lnTo>
                  <a:pt x="356957" y="1560418"/>
                </a:lnTo>
                <a:lnTo>
                  <a:pt x="321366" y="1532734"/>
                </a:lnTo>
                <a:lnTo>
                  <a:pt x="287299" y="1503571"/>
                </a:lnTo>
                <a:lnTo>
                  <a:pt x="254820" y="1472982"/>
                </a:lnTo>
                <a:lnTo>
                  <a:pt x="223990" y="1441024"/>
                </a:lnTo>
                <a:lnTo>
                  <a:pt x="194870" y="1407751"/>
                </a:lnTo>
                <a:lnTo>
                  <a:pt x="167522" y="1373219"/>
                </a:lnTo>
                <a:lnTo>
                  <a:pt x="142008" y="1337483"/>
                </a:lnTo>
                <a:lnTo>
                  <a:pt x="118389" y="1300599"/>
                </a:lnTo>
                <a:lnTo>
                  <a:pt x="96727" y="1262622"/>
                </a:lnTo>
                <a:lnTo>
                  <a:pt x="77084" y="1223607"/>
                </a:lnTo>
                <a:lnTo>
                  <a:pt x="59520" y="1183610"/>
                </a:lnTo>
                <a:lnTo>
                  <a:pt x="44099" y="1142686"/>
                </a:lnTo>
                <a:lnTo>
                  <a:pt x="30881" y="1100890"/>
                </a:lnTo>
                <a:lnTo>
                  <a:pt x="19928" y="1058277"/>
                </a:lnTo>
                <a:lnTo>
                  <a:pt x="11302" y="1014904"/>
                </a:lnTo>
                <a:lnTo>
                  <a:pt x="5064" y="970825"/>
                </a:lnTo>
                <a:lnTo>
                  <a:pt x="1276" y="926096"/>
                </a:lnTo>
                <a:lnTo>
                  <a:pt x="0" y="880771"/>
                </a:lnTo>
                <a:close/>
              </a:path>
            </a:pathLst>
          </a:custGeom>
          <a:ln w="76199">
            <a:solidFill>
              <a:srgbClr val="0433FF"/>
            </a:solidFill>
          </a:ln>
        </p:spPr>
        <p:txBody>
          <a:bodyPr wrap="square" lIns="0" tIns="0" rIns="0" bIns="0" rtlCol="0"/>
          <a:lstStyle/>
          <a:p>
            <a:endParaRPr>
              <a:latin typeface="+mj-lt"/>
            </a:endParaRPr>
          </a:p>
        </p:txBody>
      </p:sp>
      <p:sp>
        <p:nvSpPr>
          <p:cNvPr id="9" name="object 9"/>
          <p:cNvSpPr/>
          <p:nvPr/>
        </p:nvSpPr>
        <p:spPr>
          <a:xfrm>
            <a:off x="1716577" y="3707476"/>
            <a:ext cx="1330036" cy="802178"/>
          </a:xfrm>
          <a:prstGeom prst="rect">
            <a:avLst/>
          </a:prstGeom>
          <a:blipFill>
            <a:blip r:embed="rId3" cstate="print"/>
            <a:stretch>
              <a:fillRect/>
            </a:stretch>
          </a:blipFill>
        </p:spPr>
        <p:txBody>
          <a:bodyPr wrap="square" lIns="0" tIns="0" rIns="0" bIns="0" rtlCol="0"/>
          <a:lstStyle/>
          <a:p>
            <a:endParaRPr>
              <a:latin typeface="+mj-lt"/>
            </a:endParaRPr>
          </a:p>
        </p:txBody>
      </p:sp>
      <p:sp>
        <p:nvSpPr>
          <p:cNvPr id="10" name="object 10"/>
          <p:cNvSpPr/>
          <p:nvPr/>
        </p:nvSpPr>
        <p:spPr>
          <a:xfrm>
            <a:off x="1769070" y="3745159"/>
            <a:ext cx="1048385" cy="525780"/>
          </a:xfrm>
          <a:custGeom>
            <a:avLst/>
            <a:gdLst/>
            <a:ahLst/>
            <a:cxnLst/>
            <a:rect l="l" t="t" r="r" b="b"/>
            <a:pathLst>
              <a:path w="1048385" h="525779">
                <a:moveTo>
                  <a:pt x="1048201" y="525435"/>
                </a:moveTo>
                <a:lnTo>
                  <a:pt x="0" y="0"/>
                </a:lnTo>
              </a:path>
            </a:pathLst>
          </a:custGeom>
          <a:ln w="38099">
            <a:solidFill>
              <a:srgbClr val="FF2600"/>
            </a:solidFill>
          </a:ln>
        </p:spPr>
        <p:txBody>
          <a:bodyPr wrap="square" lIns="0" tIns="0" rIns="0" bIns="0" rtlCol="0"/>
          <a:lstStyle/>
          <a:p>
            <a:endParaRPr>
              <a:latin typeface="+mj-lt"/>
            </a:endParaRPr>
          </a:p>
        </p:txBody>
      </p:sp>
      <p:sp>
        <p:nvSpPr>
          <p:cNvPr id="11" name="object 11"/>
          <p:cNvSpPr/>
          <p:nvPr/>
        </p:nvSpPr>
        <p:spPr>
          <a:xfrm>
            <a:off x="2666201" y="4141016"/>
            <a:ext cx="184870" cy="156974"/>
          </a:xfrm>
          <a:prstGeom prst="rect">
            <a:avLst/>
          </a:prstGeom>
          <a:blipFill>
            <a:blip r:embed="rId4" cstate="print"/>
            <a:stretch>
              <a:fillRect/>
            </a:stretch>
          </a:blipFill>
        </p:spPr>
        <p:txBody>
          <a:bodyPr wrap="square" lIns="0" tIns="0" rIns="0" bIns="0" rtlCol="0"/>
          <a:lstStyle/>
          <a:p>
            <a:endParaRPr>
              <a:latin typeface="+mj-lt"/>
            </a:endParaRPr>
          </a:p>
        </p:txBody>
      </p:sp>
      <p:sp>
        <p:nvSpPr>
          <p:cNvPr id="12" name="object 12"/>
          <p:cNvSpPr/>
          <p:nvPr/>
        </p:nvSpPr>
        <p:spPr>
          <a:xfrm>
            <a:off x="5777345" y="3707476"/>
            <a:ext cx="1458883" cy="943494"/>
          </a:xfrm>
          <a:prstGeom prst="rect">
            <a:avLst/>
          </a:prstGeom>
          <a:blipFill>
            <a:blip r:embed="rId5" cstate="print"/>
            <a:stretch>
              <a:fillRect/>
            </a:stretch>
          </a:blipFill>
        </p:spPr>
        <p:txBody>
          <a:bodyPr wrap="square" lIns="0" tIns="0" rIns="0" bIns="0" rtlCol="0"/>
          <a:lstStyle/>
          <a:p>
            <a:endParaRPr>
              <a:latin typeface="+mj-lt"/>
            </a:endParaRPr>
          </a:p>
        </p:txBody>
      </p:sp>
      <p:sp>
        <p:nvSpPr>
          <p:cNvPr id="13" name="object 13"/>
          <p:cNvSpPr/>
          <p:nvPr/>
        </p:nvSpPr>
        <p:spPr>
          <a:xfrm>
            <a:off x="6005401" y="3745424"/>
            <a:ext cx="1174115" cy="666115"/>
          </a:xfrm>
          <a:custGeom>
            <a:avLst/>
            <a:gdLst/>
            <a:ahLst/>
            <a:cxnLst/>
            <a:rect l="l" t="t" r="r" b="b"/>
            <a:pathLst>
              <a:path w="1174115" h="666114">
                <a:moveTo>
                  <a:pt x="0" y="665562"/>
                </a:moveTo>
                <a:lnTo>
                  <a:pt x="1173612" y="0"/>
                </a:lnTo>
              </a:path>
            </a:pathLst>
          </a:custGeom>
          <a:ln w="38099">
            <a:solidFill>
              <a:srgbClr val="0433FF"/>
            </a:solidFill>
          </a:ln>
        </p:spPr>
        <p:txBody>
          <a:bodyPr wrap="square" lIns="0" tIns="0" rIns="0" bIns="0" rtlCol="0"/>
          <a:lstStyle/>
          <a:p>
            <a:endParaRPr>
              <a:latin typeface="+mj-lt"/>
            </a:endParaRPr>
          </a:p>
        </p:txBody>
      </p:sp>
      <p:sp>
        <p:nvSpPr>
          <p:cNvPr id="14" name="object 14"/>
          <p:cNvSpPr/>
          <p:nvPr/>
        </p:nvSpPr>
        <p:spPr>
          <a:xfrm>
            <a:off x="5972514" y="4277703"/>
            <a:ext cx="184251" cy="153945"/>
          </a:xfrm>
          <a:prstGeom prst="rect">
            <a:avLst/>
          </a:prstGeom>
          <a:blipFill>
            <a:blip r:embed="rId6" cstate="print"/>
            <a:stretch>
              <a:fillRect/>
            </a:stretch>
          </a:blipFill>
        </p:spPr>
        <p:txBody>
          <a:bodyPr wrap="square" lIns="0" tIns="0" rIns="0" bIns="0" rtlCol="0"/>
          <a:lstStyle/>
          <a:p>
            <a:endParaRPr>
              <a:latin typeface="+mj-lt"/>
            </a:endParaRPr>
          </a:p>
        </p:txBody>
      </p:sp>
      <p:sp>
        <p:nvSpPr>
          <p:cNvPr id="15" name="object 15"/>
          <p:cNvSpPr txBox="1"/>
          <p:nvPr/>
        </p:nvSpPr>
        <p:spPr>
          <a:xfrm>
            <a:off x="6411196" y="2577849"/>
            <a:ext cx="2526665" cy="1115060"/>
          </a:xfrm>
          <a:prstGeom prst="rect">
            <a:avLst/>
          </a:prstGeom>
        </p:spPr>
        <p:txBody>
          <a:bodyPr vert="horz" wrap="square" lIns="0" tIns="15875" rIns="0" bIns="0" rtlCol="0">
            <a:spAutoFit/>
          </a:bodyPr>
          <a:lstStyle/>
          <a:p>
            <a:pPr marL="12700" marR="5080">
              <a:lnSpc>
                <a:spcPct val="99000"/>
              </a:lnSpc>
              <a:spcBef>
                <a:spcPts val="125"/>
              </a:spcBef>
            </a:pPr>
            <a:r>
              <a:rPr sz="2400" b="1" dirty="0">
                <a:latin typeface="+mj-lt"/>
                <a:cs typeface="Calibri" panose="020F0502020204030204"/>
              </a:rPr>
              <a:t>Moving data  between arithmetic  units and memory</a:t>
            </a:r>
            <a:endParaRPr sz="2400">
              <a:latin typeface="+mj-lt"/>
              <a:cs typeface="Calibri" panose="020F050202020403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4405" y="162719"/>
            <a:ext cx="682336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Bottlenecks within the node</a:t>
            </a:r>
          </a:p>
        </p:txBody>
      </p:sp>
      <p:sp>
        <p:nvSpPr>
          <p:cNvPr id="3" name="object 3"/>
          <p:cNvSpPr txBox="1"/>
          <p:nvPr/>
        </p:nvSpPr>
        <p:spPr>
          <a:xfrm>
            <a:off x="535939" y="1251966"/>
            <a:ext cx="7830184" cy="176339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Bandwidth!</a:t>
            </a:r>
            <a:endParaRPr sz="2800" dirty="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MCDRAM is very high bandwidth (~450 GB/s)</a:t>
            </a:r>
          </a:p>
          <a:p>
            <a:pPr marL="749300" marR="5080" lvl="1" indent="-279400">
              <a:lnSpc>
                <a:spcPts val="2820"/>
              </a:lnSpc>
              <a:spcBef>
                <a:spcPts val="765"/>
              </a:spcBef>
              <a:buFont typeface="Arial" panose="020B0604020202020204"/>
              <a:buChar char="–"/>
              <a:tabLst>
                <a:tab pos="755650" algn="l"/>
              </a:tabLst>
            </a:pPr>
            <a:r>
              <a:rPr sz="2400" dirty="0">
                <a:latin typeface="+mj-lt"/>
                <a:cs typeface="Calibri" panose="020F0502020204030204"/>
              </a:rPr>
              <a:t>.. But aggregate bandwidth is not the same as bandwidth  to each core!</a:t>
            </a:r>
          </a:p>
        </p:txBody>
      </p:sp>
      <p:sp>
        <p:nvSpPr>
          <p:cNvPr id="4" name="object 4"/>
          <p:cNvSpPr/>
          <p:nvPr/>
        </p:nvSpPr>
        <p:spPr>
          <a:xfrm>
            <a:off x="778398" y="2904143"/>
            <a:ext cx="7179372" cy="3953857"/>
          </a:xfrm>
          <a:prstGeom prst="rect">
            <a:avLst/>
          </a:prstGeom>
          <a:blipFill>
            <a:blip r:embed="rId2" cstate="print"/>
            <a:stretch>
              <a:fillRect/>
            </a:stretch>
          </a:blipFill>
        </p:spPr>
        <p:txBody>
          <a:bodyPr wrap="square" lIns="0" tIns="0" rIns="0" bIns="0" rtlCol="0"/>
          <a:lstStyle/>
          <a:p>
            <a:endParaRPr>
              <a:latin typeface="+mj-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5166" y="212249"/>
            <a:ext cx="2682188"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Agenda</a:t>
            </a:r>
          </a:p>
        </p:txBody>
      </p:sp>
      <p:sp>
        <p:nvSpPr>
          <p:cNvPr id="3" name="object 3"/>
          <p:cNvSpPr txBox="1"/>
          <p:nvPr/>
        </p:nvSpPr>
        <p:spPr>
          <a:xfrm>
            <a:off x="535939" y="1250696"/>
            <a:ext cx="6441440" cy="4768215"/>
          </a:xfrm>
          <a:prstGeom prst="rect">
            <a:avLst/>
          </a:prstGeom>
        </p:spPr>
        <p:txBody>
          <a:bodyPr vert="horz" wrap="square" lIns="0" tIns="90170" rIns="0" bIns="0" rtlCol="0">
            <a:spAutoFit/>
          </a:bodyPr>
          <a:lstStyle/>
          <a:p>
            <a:pPr marL="355600" indent="-342900">
              <a:lnSpc>
                <a:spcPct val="100000"/>
              </a:lnSpc>
              <a:spcBef>
                <a:spcPts val="71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Cori overview, logging in</a:t>
            </a:r>
            <a:endParaRPr sz="2800">
              <a:latin typeface="+mj-lt"/>
              <a:cs typeface="Calibri" panose="020F0502020204030204"/>
            </a:endParaRPr>
          </a:p>
          <a:p>
            <a:pPr marL="355600" indent="-342900">
              <a:lnSpc>
                <a:spcPct val="100000"/>
              </a:lnSpc>
              <a:spcBef>
                <a:spcPts val="615"/>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Run a simple job</a:t>
            </a:r>
            <a:endParaRPr sz="2800">
              <a:latin typeface="+mj-lt"/>
              <a:cs typeface="Calibri" panose="020F0502020204030204"/>
            </a:endParaRPr>
          </a:p>
          <a:p>
            <a:pPr marL="355600" indent="-342900">
              <a:lnSpc>
                <a:spcPct val="100000"/>
              </a:lnSpc>
              <a:spcBef>
                <a:spcPts val="64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Building and running applications on Cori</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Serial</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Parallel (MPI)</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solidFill>
                  <a:srgbClr val="A6A6A6"/>
                </a:solidFill>
                <a:latin typeface="+mj-lt"/>
                <a:cs typeface="Calibri" panose="020F0502020204030204"/>
              </a:rPr>
              <a:t>Multithreaded (OpenMP)</a:t>
            </a:r>
            <a:endParaRPr sz="2400">
              <a:latin typeface="+mj-lt"/>
              <a:cs typeface="Calibri" panose="020F0502020204030204"/>
            </a:endParaRPr>
          </a:p>
          <a:p>
            <a:pPr marL="355600" indent="-342900">
              <a:lnSpc>
                <a:spcPct val="100000"/>
              </a:lnSpc>
              <a:spcBef>
                <a:spcPts val="620"/>
              </a:spcBef>
              <a:buClr>
                <a:srgbClr val="A6A6A6"/>
              </a:buClr>
              <a:buFont typeface="Arial" panose="020B0604020202020204"/>
              <a:buChar char="•"/>
              <a:tabLst>
                <a:tab pos="354965" algn="l"/>
                <a:tab pos="355600" algn="l"/>
              </a:tabLst>
            </a:pPr>
            <a:r>
              <a:rPr sz="2800" b="1" dirty="0">
                <a:solidFill>
                  <a:srgbClr val="B5B5B5"/>
                </a:solidFill>
                <a:latin typeface="+mj-lt"/>
                <a:cs typeface="Calibri" panose="020F0502020204030204"/>
              </a:rPr>
              <a:t>What aﬀects performance?</a:t>
            </a:r>
            <a:endParaRPr sz="2800">
              <a:latin typeface="+mj-lt"/>
              <a:cs typeface="Calibri" panose="020F0502020204030204"/>
            </a:endParaRPr>
          </a:p>
          <a:p>
            <a:pPr marL="755650" lvl="1" indent="-285750">
              <a:lnSpc>
                <a:spcPct val="100000"/>
              </a:lnSpc>
              <a:spcBef>
                <a:spcPts val="640"/>
              </a:spcBef>
              <a:buFont typeface="Arial" panose="020B0604020202020204"/>
              <a:buChar char="–"/>
              <a:tabLst>
                <a:tab pos="755650" algn="l"/>
              </a:tabLst>
            </a:pPr>
            <a:r>
              <a:rPr sz="2400" dirty="0">
                <a:solidFill>
                  <a:srgbClr val="A6A6A6"/>
                </a:solidFill>
                <a:latin typeface="+mj-lt"/>
                <a:cs typeface="Calibri" panose="020F0502020204030204"/>
              </a:rPr>
              <a:t>Bottlenecks</a:t>
            </a:r>
            <a:endParaRPr sz="2400">
              <a:latin typeface="+mj-lt"/>
              <a:cs typeface="Calibri" panose="020F0502020204030204"/>
            </a:endParaRPr>
          </a:p>
          <a:p>
            <a:pPr marL="755650" lvl="1" indent="-285750">
              <a:lnSpc>
                <a:spcPct val="100000"/>
              </a:lnSpc>
              <a:spcBef>
                <a:spcPts val="520"/>
              </a:spcBef>
              <a:buFont typeface="Arial" panose="020B0604020202020204"/>
              <a:buChar char="–"/>
              <a:tabLst>
                <a:tab pos="755650" algn="l"/>
              </a:tabLst>
            </a:pPr>
            <a:r>
              <a:rPr sz="2400" dirty="0">
                <a:solidFill>
                  <a:srgbClr val="A6A6A6"/>
                </a:solidFill>
                <a:latin typeface="+mj-lt"/>
                <a:cs typeface="Calibri" panose="020F0502020204030204"/>
              </a:rPr>
              <a:t>Task placement and aﬃnity</a:t>
            </a:r>
            <a:endParaRPr sz="2400">
              <a:latin typeface="+mj-lt"/>
              <a:cs typeface="Calibri" panose="020F0502020204030204"/>
            </a:endParaRPr>
          </a:p>
          <a:p>
            <a:pPr marL="355600" indent="-342900">
              <a:lnSpc>
                <a:spcPct val="100000"/>
              </a:lnSpc>
              <a:spcBef>
                <a:spcPts val="715"/>
              </a:spcBef>
              <a:buFont typeface="Arial" panose="020B0604020202020204"/>
              <a:buChar char="•"/>
              <a:tabLst>
                <a:tab pos="354965" algn="l"/>
                <a:tab pos="355600" algn="l"/>
              </a:tabLst>
            </a:pPr>
            <a:r>
              <a:rPr sz="2800" b="1" dirty="0">
                <a:latin typeface="+mj-lt"/>
                <a:cs typeface="Calibri" panose="020F0502020204030204"/>
              </a:rPr>
              <a:t>Preparing for performance analysis</a:t>
            </a:r>
            <a:endParaRPr sz="2800">
              <a:latin typeface="+mj-lt"/>
              <a:cs typeface="Calibri" panose="020F050202020403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39" y="1292859"/>
            <a:ext cx="7957820" cy="3035300"/>
          </a:xfrm>
          <a:prstGeom prst="rect">
            <a:avLst/>
          </a:prstGeom>
        </p:spPr>
        <p:txBody>
          <a:bodyPr vert="horz" wrap="square" lIns="0" tIns="63500" rIns="0" bIns="0" rtlCol="0">
            <a:spAutoFit/>
          </a:bodyPr>
          <a:lstStyle/>
          <a:p>
            <a:pPr marL="355600" marR="5080" indent="-342900">
              <a:lnSpc>
                <a:spcPts val="3000"/>
              </a:lnSpc>
              <a:spcBef>
                <a:spcPts val="500"/>
              </a:spcBef>
              <a:buFont typeface="Arial" panose="020B0604020202020204"/>
              <a:buChar char="•"/>
              <a:tabLst>
                <a:tab pos="354965" algn="l"/>
                <a:tab pos="355600" algn="l"/>
              </a:tabLst>
            </a:pPr>
            <a:r>
              <a:rPr sz="2800" b="1" dirty="0">
                <a:latin typeface="+mj-lt"/>
                <a:cs typeface="Calibri" panose="020F0502020204030204"/>
              </a:rPr>
              <a:t>A small, short, but representative test case for your  application</a:t>
            </a:r>
            <a:endParaRPr sz="2800">
              <a:latin typeface="+mj-lt"/>
              <a:cs typeface="Calibri" panose="020F0502020204030204"/>
            </a:endParaRPr>
          </a:p>
          <a:p>
            <a:pPr marL="755650" lvl="1" indent="-285750">
              <a:lnSpc>
                <a:spcPct val="100000"/>
              </a:lnSpc>
              <a:spcBef>
                <a:spcPts val="215"/>
              </a:spcBef>
              <a:buFont typeface="Arial" panose="020B0604020202020204"/>
              <a:buChar char="–"/>
              <a:tabLst>
                <a:tab pos="755650" algn="l"/>
              </a:tabLst>
            </a:pPr>
            <a:r>
              <a:rPr sz="2400" dirty="0">
                <a:latin typeface="+mj-lt"/>
                <a:cs typeface="Calibri" panose="020F0502020204030204"/>
              </a:rPr>
              <a:t>Proﬁling tends to be costly</a:t>
            </a:r>
            <a:endParaRPr sz="2400">
              <a:latin typeface="+mj-lt"/>
              <a:cs typeface="Calibri" panose="020F0502020204030204"/>
            </a:endParaRPr>
          </a:p>
          <a:p>
            <a:pPr marL="1155700" lvl="2" indent="-228600">
              <a:lnSpc>
                <a:spcPct val="100000"/>
              </a:lnSpc>
              <a:spcBef>
                <a:spcPts val="265"/>
              </a:spcBef>
              <a:buFont typeface="Arial" panose="020B0604020202020204"/>
              <a:buChar char="•"/>
              <a:tabLst>
                <a:tab pos="1155065" algn="l"/>
                <a:tab pos="1155700" algn="l"/>
              </a:tabLst>
            </a:pPr>
            <a:r>
              <a:rPr sz="2000" dirty="0">
                <a:latin typeface="+mj-lt"/>
                <a:cs typeface="Calibri" panose="020F0502020204030204"/>
              </a:rPr>
              <a:t>Runtime overhead</a:t>
            </a:r>
            <a:endParaRPr sz="2000">
              <a:latin typeface="+mj-lt"/>
              <a:cs typeface="Calibri" panose="020F0502020204030204"/>
            </a:endParaRPr>
          </a:p>
          <a:p>
            <a:pPr marL="1155700" lvl="2" indent="-228600">
              <a:lnSpc>
                <a:spcPct val="100000"/>
              </a:lnSpc>
              <a:spcBef>
                <a:spcPts val="200"/>
              </a:spcBef>
              <a:buFont typeface="Arial" panose="020B0604020202020204"/>
              <a:buChar char="•"/>
              <a:tabLst>
                <a:tab pos="1155065" algn="l"/>
                <a:tab pos="1155700" algn="l"/>
              </a:tabLst>
            </a:pPr>
            <a:r>
              <a:rPr sz="2000" dirty="0">
                <a:latin typeface="+mj-lt"/>
                <a:cs typeface="Calibri" panose="020F0502020204030204"/>
              </a:rPr>
              <a:t>Size of data collected</a:t>
            </a:r>
            <a:endParaRPr sz="2000">
              <a:latin typeface="+mj-lt"/>
              <a:cs typeface="Calibri" panose="020F0502020204030204"/>
            </a:endParaRPr>
          </a:p>
          <a:p>
            <a:pPr marL="749300" marR="59690" lvl="1" indent="-279400">
              <a:lnSpc>
                <a:spcPts val="2620"/>
              </a:lnSpc>
              <a:spcBef>
                <a:spcPts val="560"/>
              </a:spcBef>
              <a:buFont typeface="Arial" panose="020B0604020202020204"/>
              <a:buChar char="–"/>
              <a:tabLst>
                <a:tab pos="755650" algn="l"/>
              </a:tabLst>
            </a:pPr>
            <a:r>
              <a:rPr sz="2400" b="1" dirty="0">
                <a:latin typeface="+mj-lt"/>
                <a:cs typeface="Calibri" panose="020F0502020204030204"/>
              </a:rPr>
              <a:t>BUT</a:t>
            </a:r>
            <a:r>
              <a:rPr sz="2400" dirty="0">
                <a:latin typeface="+mj-lt"/>
                <a:cs typeface="Calibri" panose="020F0502020204030204"/>
              </a:rPr>
              <a:t>: must cover same paths through code as “real”  example (or at least, the diﬀerences must be understood)</a:t>
            </a:r>
            <a:endParaRPr sz="2400">
              <a:latin typeface="+mj-lt"/>
              <a:cs typeface="Calibri" panose="020F0502020204030204"/>
            </a:endParaRPr>
          </a:p>
          <a:p>
            <a:pPr marL="1155700" lvl="2" indent="-228600">
              <a:lnSpc>
                <a:spcPct val="100000"/>
              </a:lnSpc>
              <a:spcBef>
                <a:spcPts val="255"/>
              </a:spcBef>
              <a:buFont typeface="Arial" panose="020B0604020202020204"/>
              <a:buChar char="•"/>
              <a:tabLst>
                <a:tab pos="1155700" algn="l"/>
              </a:tabLst>
            </a:pPr>
            <a:r>
              <a:rPr sz="2400" dirty="0">
                <a:latin typeface="+mj-lt"/>
                <a:cs typeface="Calibri" panose="020F0502020204030204"/>
              </a:rPr>
              <a:t>What could go wrong with this test case?</a:t>
            </a:r>
            <a:endParaRPr sz="2400">
              <a:latin typeface="+mj-lt"/>
              <a:cs typeface="Calibri" panose="020F0502020204030204"/>
            </a:endParaRPr>
          </a:p>
        </p:txBody>
      </p:sp>
      <p:sp>
        <p:nvSpPr>
          <p:cNvPr id="3" name="object 3"/>
          <p:cNvSpPr txBox="1">
            <a:spLocks noGrp="1"/>
          </p:cNvSpPr>
          <p:nvPr>
            <p:ph type="title"/>
          </p:nvPr>
        </p:nvSpPr>
        <p:spPr>
          <a:xfrm>
            <a:off x="1832270" y="242094"/>
            <a:ext cx="5223165" cy="628377"/>
          </a:xfrm>
          <a:prstGeom prst="rect">
            <a:avLst/>
          </a:prstGeom>
        </p:spPr>
        <p:txBody>
          <a:bodyPr vert="horz" wrap="square" lIns="0" tIns="12700" rIns="0" bIns="0" rtlCol="0">
            <a:spAutoFit/>
          </a:bodyPr>
          <a:lstStyle/>
          <a:p>
            <a:pPr marL="12700">
              <a:lnSpc>
                <a:spcPct val="100000"/>
              </a:lnSpc>
              <a:spcBef>
                <a:spcPts val="100"/>
              </a:spcBef>
            </a:pPr>
            <a:r>
              <a:rPr dirty="0">
                <a:latin typeface="+mj-lt"/>
              </a:rPr>
              <a:t>Profiling prerequisite</a:t>
            </a:r>
          </a:p>
        </p:txBody>
      </p:sp>
      <p:sp>
        <p:nvSpPr>
          <p:cNvPr id="4" name="object 4"/>
          <p:cNvSpPr/>
          <p:nvPr/>
        </p:nvSpPr>
        <p:spPr>
          <a:xfrm>
            <a:off x="3478929" y="4414240"/>
            <a:ext cx="271780" cy="396875"/>
          </a:xfrm>
          <a:custGeom>
            <a:avLst/>
            <a:gdLst/>
            <a:ahLst/>
            <a:cxnLst/>
            <a:rect l="l" t="t" r="r" b="b"/>
            <a:pathLst>
              <a:path w="271779" h="396875">
                <a:moveTo>
                  <a:pt x="271434" y="0"/>
                </a:moveTo>
                <a:lnTo>
                  <a:pt x="0" y="0"/>
                </a:lnTo>
                <a:lnTo>
                  <a:pt x="0" y="396875"/>
                </a:lnTo>
                <a:lnTo>
                  <a:pt x="271434" y="396875"/>
                </a:lnTo>
                <a:lnTo>
                  <a:pt x="271434" y="0"/>
                </a:lnTo>
                <a:close/>
              </a:path>
            </a:pathLst>
          </a:custGeom>
          <a:solidFill>
            <a:srgbClr val="A13B2A"/>
          </a:solidFill>
        </p:spPr>
        <p:txBody>
          <a:bodyPr wrap="square" lIns="0" tIns="0" rIns="0" bIns="0" rtlCol="0"/>
          <a:lstStyle/>
          <a:p>
            <a:endParaRPr>
              <a:latin typeface="+mj-lt"/>
            </a:endParaRPr>
          </a:p>
        </p:txBody>
      </p:sp>
      <p:sp>
        <p:nvSpPr>
          <p:cNvPr id="5" name="object 5"/>
          <p:cNvSpPr/>
          <p:nvPr/>
        </p:nvSpPr>
        <p:spPr>
          <a:xfrm>
            <a:off x="3478929" y="4414240"/>
            <a:ext cx="271780" cy="396875"/>
          </a:xfrm>
          <a:custGeom>
            <a:avLst/>
            <a:gdLst/>
            <a:ahLst/>
            <a:cxnLst/>
            <a:rect l="l" t="t" r="r" b="b"/>
            <a:pathLst>
              <a:path w="271779" h="396875">
                <a:moveTo>
                  <a:pt x="0" y="0"/>
                </a:moveTo>
                <a:lnTo>
                  <a:pt x="271433" y="0"/>
                </a:lnTo>
                <a:lnTo>
                  <a:pt x="271433" y="396874"/>
                </a:lnTo>
                <a:lnTo>
                  <a:pt x="0" y="396874"/>
                </a:lnTo>
                <a:lnTo>
                  <a:pt x="0" y="0"/>
                </a:lnTo>
                <a:close/>
              </a:path>
            </a:pathLst>
          </a:custGeom>
          <a:ln w="25399">
            <a:solidFill>
              <a:srgbClr val="7C2919"/>
            </a:solidFill>
          </a:ln>
        </p:spPr>
        <p:txBody>
          <a:bodyPr wrap="square" lIns="0" tIns="0" rIns="0" bIns="0" rtlCol="0"/>
          <a:lstStyle/>
          <a:p>
            <a:endParaRPr>
              <a:latin typeface="+mj-lt"/>
            </a:endParaRPr>
          </a:p>
        </p:txBody>
      </p:sp>
      <p:sp>
        <p:nvSpPr>
          <p:cNvPr id="6" name="object 6"/>
          <p:cNvSpPr txBox="1"/>
          <p:nvPr/>
        </p:nvSpPr>
        <p:spPr>
          <a:xfrm>
            <a:off x="3827656" y="4414240"/>
            <a:ext cx="4454525" cy="338554"/>
          </a:xfrm>
          <a:prstGeom prst="rect">
            <a:avLst/>
          </a:prstGeom>
          <a:solidFill>
            <a:srgbClr val="5EB169"/>
          </a:solidFill>
          <a:ln w="25399">
            <a:solidFill>
              <a:srgbClr val="45884E"/>
            </a:solidFill>
          </a:ln>
        </p:spPr>
        <p:txBody>
          <a:bodyPr vert="horz" wrap="square" lIns="0" tIns="60960" rIns="0" bIns="0" rtlCol="0">
            <a:spAutoFit/>
          </a:bodyPr>
          <a:lstStyle/>
          <a:p>
            <a:pPr marL="5080" algn="ctr">
              <a:lnSpc>
                <a:spcPct val="100000"/>
              </a:lnSpc>
              <a:spcBef>
                <a:spcPts val="480"/>
              </a:spcBef>
            </a:pPr>
            <a:r>
              <a:rPr sz="1800" dirty="0">
                <a:solidFill>
                  <a:srgbClr val="FFFFFF"/>
                </a:solidFill>
                <a:latin typeface="+mj-lt"/>
                <a:cs typeface="Calibri" panose="020F0502020204030204"/>
              </a:rPr>
              <a:t>time-stepping</a:t>
            </a:r>
            <a:endParaRPr sz="1800">
              <a:latin typeface="+mj-lt"/>
              <a:cs typeface="Calibri" panose="020F0502020204030204"/>
            </a:endParaRPr>
          </a:p>
        </p:txBody>
      </p:sp>
      <p:sp>
        <p:nvSpPr>
          <p:cNvPr id="7" name="object 7"/>
          <p:cNvSpPr/>
          <p:nvPr/>
        </p:nvSpPr>
        <p:spPr>
          <a:xfrm>
            <a:off x="8353169" y="4414240"/>
            <a:ext cx="382905" cy="396875"/>
          </a:xfrm>
          <a:custGeom>
            <a:avLst/>
            <a:gdLst/>
            <a:ahLst/>
            <a:cxnLst/>
            <a:rect l="l" t="t" r="r" b="b"/>
            <a:pathLst>
              <a:path w="382904" h="396875">
                <a:moveTo>
                  <a:pt x="382433" y="0"/>
                </a:moveTo>
                <a:lnTo>
                  <a:pt x="0" y="0"/>
                </a:lnTo>
                <a:lnTo>
                  <a:pt x="0" y="396875"/>
                </a:lnTo>
                <a:lnTo>
                  <a:pt x="382433" y="396875"/>
                </a:lnTo>
                <a:lnTo>
                  <a:pt x="382433" y="0"/>
                </a:lnTo>
                <a:close/>
              </a:path>
            </a:pathLst>
          </a:custGeom>
          <a:solidFill>
            <a:srgbClr val="1E5C76"/>
          </a:solidFill>
        </p:spPr>
        <p:txBody>
          <a:bodyPr wrap="square" lIns="0" tIns="0" rIns="0" bIns="0" rtlCol="0"/>
          <a:lstStyle/>
          <a:p>
            <a:endParaRPr>
              <a:latin typeface="+mj-lt"/>
            </a:endParaRPr>
          </a:p>
        </p:txBody>
      </p:sp>
      <p:sp>
        <p:nvSpPr>
          <p:cNvPr id="8" name="object 8"/>
          <p:cNvSpPr/>
          <p:nvPr/>
        </p:nvSpPr>
        <p:spPr>
          <a:xfrm>
            <a:off x="8353169" y="4414240"/>
            <a:ext cx="382905" cy="396875"/>
          </a:xfrm>
          <a:custGeom>
            <a:avLst/>
            <a:gdLst/>
            <a:ahLst/>
            <a:cxnLst/>
            <a:rect l="l" t="t" r="r" b="b"/>
            <a:pathLst>
              <a:path w="382904" h="396875">
                <a:moveTo>
                  <a:pt x="0" y="0"/>
                </a:moveTo>
                <a:lnTo>
                  <a:pt x="382433" y="0"/>
                </a:lnTo>
                <a:lnTo>
                  <a:pt x="382433" y="396874"/>
                </a:lnTo>
                <a:lnTo>
                  <a:pt x="0" y="396874"/>
                </a:lnTo>
                <a:lnTo>
                  <a:pt x="0" y="0"/>
                </a:lnTo>
                <a:close/>
              </a:path>
            </a:pathLst>
          </a:custGeom>
          <a:ln w="25399">
            <a:solidFill>
              <a:srgbClr val="0F4359"/>
            </a:solidFill>
          </a:ln>
        </p:spPr>
        <p:txBody>
          <a:bodyPr wrap="square" lIns="0" tIns="0" rIns="0" bIns="0" rtlCol="0"/>
          <a:lstStyle/>
          <a:p>
            <a:endParaRPr>
              <a:latin typeface="+mj-lt"/>
            </a:endParaRPr>
          </a:p>
        </p:txBody>
      </p:sp>
      <p:sp>
        <p:nvSpPr>
          <p:cNvPr id="9" name="object 9"/>
          <p:cNvSpPr txBox="1"/>
          <p:nvPr/>
        </p:nvSpPr>
        <p:spPr>
          <a:xfrm>
            <a:off x="2630604" y="4987170"/>
            <a:ext cx="5454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setup</a:t>
            </a:r>
            <a:endParaRPr sz="1800">
              <a:latin typeface="+mj-lt"/>
              <a:cs typeface="Calibri" panose="020F0502020204030204"/>
            </a:endParaRPr>
          </a:p>
        </p:txBody>
      </p:sp>
      <p:sp>
        <p:nvSpPr>
          <p:cNvPr id="10" name="object 10"/>
          <p:cNvSpPr txBox="1"/>
          <p:nvPr/>
        </p:nvSpPr>
        <p:spPr>
          <a:xfrm>
            <a:off x="4195127" y="6191184"/>
            <a:ext cx="1616710" cy="511175"/>
          </a:xfrm>
          <a:prstGeom prst="rect">
            <a:avLst/>
          </a:prstGeom>
        </p:spPr>
        <p:txBody>
          <a:bodyPr vert="horz" wrap="square" lIns="0" tIns="12700" rIns="0" bIns="0" rtlCol="0">
            <a:spAutoFit/>
          </a:bodyPr>
          <a:lstStyle/>
          <a:p>
            <a:pPr marL="612140">
              <a:lnSpc>
                <a:spcPts val="1910"/>
              </a:lnSpc>
              <a:spcBef>
                <a:spcPts val="100"/>
              </a:spcBef>
            </a:pPr>
            <a:r>
              <a:rPr sz="1800" dirty="0">
                <a:latin typeface="+mj-lt"/>
                <a:cs typeface="Calibri" panose="020F0502020204030204"/>
              </a:rPr>
              <a:t>1 timestep</a:t>
            </a:r>
            <a:endParaRPr sz="1800">
              <a:latin typeface="+mj-lt"/>
              <a:cs typeface="Calibri" panose="020F0502020204030204"/>
            </a:endParaRPr>
          </a:p>
          <a:p>
            <a:pPr marL="12700">
              <a:lnSpc>
                <a:spcPts val="1910"/>
              </a:lnSpc>
            </a:pPr>
            <a:r>
              <a:rPr sz="1800" dirty="0">
                <a:latin typeface="+mj-lt"/>
                <a:cs typeface="Calibri" panose="020F0502020204030204"/>
              </a:rPr>
              <a:t>- 65 -</a:t>
            </a:r>
            <a:endParaRPr sz="1800">
              <a:latin typeface="+mj-lt"/>
              <a:cs typeface="Calibri" panose="020F0502020204030204"/>
            </a:endParaRPr>
          </a:p>
        </p:txBody>
      </p:sp>
      <p:sp>
        <p:nvSpPr>
          <p:cNvPr id="11" name="object 11"/>
          <p:cNvSpPr txBox="1"/>
          <p:nvPr/>
        </p:nvSpPr>
        <p:spPr>
          <a:xfrm>
            <a:off x="6785092" y="5356503"/>
            <a:ext cx="6597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output</a:t>
            </a:r>
            <a:endParaRPr sz="1800">
              <a:latin typeface="+mj-lt"/>
              <a:cs typeface="Calibri" panose="020F0502020204030204"/>
            </a:endParaRPr>
          </a:p>
        </p:txBody>
      </p:sp>
      <p:sp>
        <p:nvSpPr>
          <p:cNvPr id="12" name="object 12"/>
          <p:cNvSpPr txBox="1"/>
          <p:nvPr/>
        </p:nvSpPr>
        <p:spPr>
          <a:xfrm>
            <a:off x="410592" y="4447259"/>
            <a:ext cx="858519"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Real run:</a:t>
            </a:r>
            <a:endParaRPr sz="1800">
              <a:latin typeface="+mj-lt"/>
              <a:cs typeface="Calibri" panose="020F0502020204030204"/>
            </a:endParaRPr>
          </a:p>
        </p:txBody>
      </p:sp>
      <p:sp>
        <p:nvSpPr>
          <p:cNvPr id="13" name="object 13"/>
          <p:cNvSpPr/>
          <p:nvPr/>
        </p:nvSpPr>
        <p:spPr>
          <a:xfrm>
            <a:off x="4397431" y="5565370"/>
            <a:ext cx="2356657" cy="295101"/>
          </a:xfrm>
          <a:prstGeom prst="rect">
            <a:avLst/>
          </a:prstGeom>
          <a:blipFill>
            <a:blip r:embed="rId2" cstate="print"/>
            <a:stretch>
              <a:fillRect/>
            </a:stretch>
          </a:blipFill>
        </p:spPr>
        <p:txBody>
          <a:bodyPr wrap="square" lIns="0" tIns="0" rIns="0" bIns="0" rtlCol="0"/>
          <a:lstStyle/>
          <a:p>
            <a:endParaRPr>
              <a:latin typeface="+mj-lt"/>
            </a:endParaRPr>
          </a:p>
        </p:txBody>
      </p:sp>
      <p:sp>
        <p:nvSpPr>
          <p:cNvPr id="14" name="object 14"/>
          <p:cNvSpPr/>
          <p:nvPr/>
        </p:nvSpPr>
        <p:spPr>
          <a:xfrm>
            <a:off x="4569273" y="5621509"/>
            <a:ext cx="2137410" cy="70485"/>
          </a:xfrm>
          <a:custGeom>
            <a:avLst/>
            <a:gdLst/>
            <a:ahLst/>
            <a:cxnLst/>
            <a:rect l="l" t="t" r="r" b="b"/>
            <a:pathLst>
              <a:path w="2137409" h="70485">
                <a:moveTo>
                  <a:pt x="2137079" y="0"/>
                </a:moveTo>
                <a:lnTo>
                  <a:pt x="0" y="70475"/>
                </a:lnTo>
              </a:path>
            </a:pathLst>
          </a:custGeom>
          <a:ln w="25399">
            <a:solidFill>
              <a:srgbClr val="1E5C76"/>
            </a:solidFill>
          </a:ln>
        </p:spPr>
        <p:txBody>
          <a:bodyPr wrap="square" lIns="0" tIns="0" rIns="0" bIns="0" rtlCol="0"/>
          <a:lstStyle/>
          <a:p>
            <a:endParaRPr>
              <a:latin typeface="+mj-lt"/>
            </a:endParaRPr>
          </a:p>
        </p:txBody>
      </p:sp>
      <p:sp>
        <p:nvSpPr>
          <p:cNvPr id="15" name="object 15"/>
          <p:cNvSpPr/>
          <p:nvPr/>
        </p:nvSpPr>
        <p:spPr>
          <a:xfrm>
            <a:off x="4544082" y="5630562"/>
            <a:ext cx="117322" cy="117844"/>
          </a:xfrm>
          <a:prstGeom prst="rect">
            <a:avLst/>
          </a:prstGeom>
          <a:blipFill>
            <a:blip r:embed="rId3" cstate="print"/>
            <a:stretch>
              <a:fillRect/>
            </a:stretch>
          </a:blipFill>
        </p:spPr>
        <p:txBody>
          <a:bodyPr wrap="square" lIns="0" tIns="0" rIns="0" bIns="0" rtlCol="0"/>
          <a:lstStyle/>
          <a:p>
            <a:endParaRPr>
              <a:latin typeface="+mj-lt"/>
            </a:endParaRPr>
          </a:p>
        </p:txBody>
      </p:sp>
      <p:sp>
        <p:nvSpPr>
          <p:cNvPr id="16" name="object 16"/>
          <p:cNvSpPr/>
          <p:nvPr/>
        </p:nvSpPr>
        <p:spPr>
          <a:xfrm>
            <a:off x="3478929" y="5483608"/>
            <a:ext cx="271780" cy="396875"/>
          </a:xfrm>
          <a:custGeom>
            <a:avLst/>
            <a:gdLst/>
            <a:ahLst/>
            <a:cxnLst/>
            <a:rect l="l" t="t" r="r" b="b"/>
            <a:pathLst>
              <a:path w="271779" h="396875">
                <a:moveTo>
                  <a:pt x="271434" y="0"/>
                </a:moveTo>
                <a:lnTo>
                  <a:pt x="0" y="0"/>
                </a:lnTo>
                <a:lnTo>
                  <a:pt x="0" y="396874"/>
                </a:lnTo>
                <a:lnTo>
                  <a:pt x="271434" y="396874"/>
                </a:lnTo>
                <a:lnTo>
                  <a:pt x="271434" y="0"/>
                </a:lnTo>
                <a:close/>
              </a:path>
            </a:pathLst>
          </a:custGeom>
          <a:solidFill>
            <a:srgbClr val="A13B2A"/>
          </a:solidFill>
        </p:spPr>
        <p:txBody>
          <a:bodyPr wrap="square" lIns="0" tIns="0" rIns="0" bIns="0" rtlCol="0"/>
          <a:lstStyle/>
          <a:p>
            <a:endParaRPr>
              <a:latin typeface="+mj-lt"/>
            </a:endParaRPr>
          </a:p>
        </p:txBody>
      </p:sp>
      <p:sp>
        <p:nvSpPr>
          <p:cNvPr id="17" name="object 17"/>
          <p:cNvSpPr/>
          <p:nvPr/>
        </p:nvSpPr>
        <p:spPr>
          <a:xfrm>
            <a:off x="3478929" y="5483608"/>
            <a:ext cx="271780" cy="396875"/>
          </a:xfrm>
          <a:custGeom>
            <a:avLst/>
            <a:gdLst/>
            <a:ahLst/>
            <a:cxnLst/>
            <a:rect l="l" t="t" r="r" b="b"/>
            <a:pathLst>
              <a:path w="271779" h="396875">
                <a:moveTo>
                  <a:pt x="0" y="0"/>
                </a:moveTo>
                <a:lnTo>
                  <a:pt x="271433" y="0"/>
                </a:lnTo>
                <a:lnTo>
                  <a:pt x="271433" y="396874"/>
                </a:lnTo>
                <a:lnTo>
                  <a:pt x="0" y="396874"/>
                </a:lnTo>
                <a:lnTo>
                  <a:pt x="0" y="0"/>
                </a:lnTo>
                <a:close/>
              </a:path>
            </a:pathLst>
          </a:custGeom>
          <a:ln w="25399">
            <a:solidFill>
              <a:srgbClr val="7C2919"/>
            </a:solidFill>
          </a:ln>
        </p:spPr>
        <p:txBody>
          <a:bodyPr wrap="square" lIns="0" tIns="0" rIns="0" bIns="0" rtlCol="0"/>
          <a:lstStyle/>
          <a:p>
            <a:endParaRPr>
              <a:latin typeface="+mj-lt"/>
            </a:endParaRPr>
          </a:p>
        </p:txBody>
      </p:sp>
      <p:sp>
        <p:nvSpPr>
          <p:cNvPr id="18" name="object 18"/>
          <p:cNvSpPr/>
          <p:nvPr/>
        </p:nvSpPr>
        <p:spPr>
          <a:xfrm>
            <a:off x="3827656" y="5483608"/>
            <a:ext cx="132080" cy="396875"/>
          </a:xfrm>
          <a:custGeom>
            <a:avLst/>
            <a:gdLst/>
            <a:ahLst/>
            <a:cxnLst/>
            <a:rect l="l" t="t" r="r" b="b"/>
            <a:pathLst>
              <a:path w="132079" h="396875">
                <a:moveTo>
                  <a:pt x="131946" y="0"/>
                </a:moveTo>
                <a:lnTo>
                  <a:pt x="0" y="0"/>
                </a:lnTo>
                <a:lnTo>
                  <a:pt x="0" y="396874"/>
                </a:lnTo>
                <a:lnTo>
                  <a:pt x="131946" y="396874"/>
                </a:lnTo>
                <a:lnTo>
                  <a:pt x="131946" y="0"/>
                </a:lnTo>
                <a:close/>
              </a:path>
            </a:pathLst>
          </a:custGeom>
          <a:solidFill>
            <a:srgbClr val="5EB169"/>
          </a:solidFill>
        </p:spPr>
        <p:txBody>
          <a:bodyPr wrap="square" lIns="0" tIns="0" rIns="0" bIns="0" rtlCol="0"/>
          <a:lstStyle/>
          <a:p>
            <a:endParaRPr>
              <a:latin typeface="+mj-lt"/>
            </a:endParaRPr>
          </a:p>
        </p:txBody>
      </p:sp>
      <p:sp>
        <p:nvSpPr>
          <p:cNvPr id="19" name="object 19"/>
          <p:cNvSpPr/>
          <p:nvPr/>
        </p:nvSpPr>
        <p:spPr>
          <a:xfrm>
            <a:off x="3827656" y="5483608"/>
            <a:ext cx="132080" cy="396875"/>
          </a:xfrm>
          <a:custGeom>
            <a:avLst/>
            <a:gdLst/>
            <a:ahLst/>
            <a:cxnLst/>
            <a:rect l="l" t="t" r="r" b="b"/>
            <a:pathLst>
              <a:path w="132079" h="396875">
                <a:moveTo>
                  <a:pt x="0" y="0"/>
                </a:moveTo>
                <a:lnTo>
                  <a:pt x="131946" y="0"/>
                </a:lnTo>
                <a:lnTo>
                  <a:pt x="131946" y="396874"/>
                </a:lnTo>
                <a:lnTo>
                  <a:pt x="0" y="396874"/>
                </a:lnTo>
                <a:lnTo>
                  <a:pt x="0" y="0"/>
                </a:lnTo>
                <a:close/>
              </a:path>
            </a:pathLst>
          </a:custGeom>
          <a:ln w="25399">
            <a:solidFill>
              <a:srgbClr val="45884E"/>
            </a:solidFill>
          </a:ln>
        </p:spPr>
        <p:txBody>
          <a:bodyPr wrap="square" lIns="0" tIns="0" rIns="0" bIns="0" rtlCol="0"/>
          <a:lstStyle/>
          <a:p>
            <a:endParaRPr>
              <a:latin typeface="+mj-lt"/>
            </a:endParaRPr>
          </a:p>
        </p:txBody>
      </p:sp>
      <p:sp>
        <p:nvSpPr>
          <p:cNvPr id="20" name="object 20"/>
          <p:cNvSpPr/>
          <p:nvPr/>
        </p:nvSpPr>
        <p:spPr>
          <a:xfrm>
            <a:off x="4052659" y="5483608"/>
            <a:ext cx="382905" cy="396875"/>
          </a:xfrm>
          <a:custGeom>
            <a:avLst/>
            <a:gdLst/>
            <a:ahLst/>
            <a:cxnLst/>
            <a:rect l="l" t="t" r="r" b="b"/>
            <a:pathLst>
              <a:path w="382904" h="396875">
                <a:moveTo>
                  <a:pt x="382432" y="0"/>
                </a:moveTo>
                <a:lnTo>
                  <a:pt x="0" y="0"/>
                </a:lnTo>
                <a:lnTo>
                  <a:pt x="0" y="396874"/>
                </a:lnTo>
                <a:lnTo>
                  <a:pt x="382432" y="396874"/>
                </a:lnTo>
                <a:lnTo>
                  <a:pt x="382432" y="0"/>
                </a:lnTo>
                <a:close/>
              </a:path>
            </a:pathLst>
          </a:custGeom>
          <a:solidFill>
            <a:srgbClr val="1E5C76"/>
          </a:solidFill>
        </p:spPr>
        <p:txBody>
          <a:bodyPr wrap="square" lIns="0" tIns="0" rIns="0" bIns="0" rtlCol="0"/>
          <a:lstStyle/>
          <a:p>
            <a:endParaRPr>
              <a:latin typeface="+mj-lt"/>
            </a:endParaRPr>
          </a:p>
        </p:txBody>
      </p:sp>
      <p:sp>
        <p:nvSpPr>
          <p:cNvPr id="21" name="object 21"/>
          <p:cNvSpPr/>
          <p:nvPr/>
        </p:nvSpPr>
        <p:spPr>
          <a:xfrm>
            <a:off x="4052659" y="5483608"/>
            <a:ext cx="382905" cy="396875"/>
          </a:xfrm>
          <a:custGeom>
            <a:avLst/>
            <a:gdLst/>
            <a:ahLst/>
            <a:cxnLst/>
            <a:rect l="l" t="t" r="r" b="b"/>
            <a:pathLst>
              <a:path w="382904" h="396875">
                <a:moveTo>
                  <a:pt x="0" y="0"/>
                </a:moveTo>
                <a:lnTo>
                  <a:pt x="382432" y="0"/>
                </a:lnTo>
                <a:lnTo>
                  <a:pt x="382432" y="396874"/>
                </a:lnTo>
                <a:lnTo>
                  <a:pt x="0" y="396874"/>
                </a:lnTo>
                <a:lnTo>
                  <a:pt x="0" y="0"/>
                </a:lnTo>
                <a:close/>
              </a:path>
            </a:pathLst>
          </a:custGeom>
          <a:ln w="25399">
            <a:solidFill>
              <a:srgbClr val="0F4359"/>
            </a:solidFill>
          </a:ln>
        </p:spPr>
        <p:txBody>
          <a:bodyPr wrap="square" lIns="0" tIns="0" rIns="0" bIns="0" rtlCol="0"/>
          <a:lstStyle/>
          <a:p>
            <a:endParaRPr>
              <a:latin typeface="+mj-lt"/>
            </a:endParaRPr>
          </a:p>
        </p:txBody>
      </p:sp>
      <p:sp>
        <p:nvSpPr>
          <p:cNvPr id="22" name="object 22"/>
          <p:cNvSpPr/>
          <p:nvPr/>
        </p:nvSpPr>
        <p:spPr>
          <a:xfrm>
            <a:off x="7481454" y="4825537"/>
            <a:ext cx="1192876" cy="760614"/>
          </a:xfrm>
          <a:prstGeom prst="rect">
            <a:avLst/>
          </a:prstGeom>
          <a:blipFill>
            <a:blip r:embed="rId4" cstate="print"/>
            <a:stretch>
              <a:fillRect/>
            </a:stretch>
          </a:blipFill>
        </p:spPr>
        <p:txBody>
          <a:bodyPr wrap="square" lIns="0" tIns="0" rIns="0" bIns="0" rtlCol="0"/>
          <a:lstStyle/>
          <a:p>
            <a:endParaRPr>
              <a:latin typeface="+mj-lt"/>
            </a:endParaRPr>
          </a:p>
        </p:txBody>
      </p:sp>
      <p:sp>
        <p:nvSpPr>
          <p:cNvPr id="23" name="object 23"/>
          <p:cNvSpPr/>
          <p:nvPr/>
        </p:nvSpPr>
        <p:spPr>
          <a:xfrm>
            <a:off x="7532220" y="4966377"/>
            <a:ext cx="972819" cy="542290"/>
          </a:xfrm>
          <a:custGeom>
            <a:avLst/>
            <a:gdLst/>
            <a:ahLst/>
            <a:cxnLst/>
            <a:rect l="l" t="t" r="r" b="b"/>
            <a:pathLst>
              <a:path w="972820" h="542289">
                <a:moveTo>
                  <a:pt x="0" y="541771"/>
                </a:moveTo>
                <a:lnTo>
                  <a:pt x="972549" y="0"/>
                </a:lnTo>
              </a:path>
            </a:pathLst>
          </a:custGeom>
          <a:ln w="25399">
            <a:solidFill>
              <a:srgbClr val="1E5C76"/>
            </a:solidFill>
          </a:ln>
        </p:spPr>
        <p:txBody>
          <a:bodyPr wrap="square" lIns="0" tIns="0" rIns="0" bIns="0" rtlCol="0"/>
          <a:lstStyle/>
          <a:p>
            <a:endParaRPr>
              <a:latin typeface="+mj-lt"/>
            </a:endParaRPr>
          </a:p>
        </p:txBody>
      </p:sp>
      <p:sp>
        <p:nvSpPr>
          <p:cNvPr id="24" name="object 24"/>
          <p:cNvSpPr/>
          <p:nvPr/>
        </p:nvSpPr>
        <p:spPr>
          <a:xfrm>
            <a:off x="8403733" y="4951792"/>
            <a:ext cx="123055" cy="105001"/>
          </a:xfrm>
          <a:prstGeom prst="rect">
            <a:avLst/>
          </a:prstGeom>
          <a:blipFill>
            <a:blip r:embed="rId5" cstate="print"/>
            <a:stretch>
              <a:fillRect/>
            </a:stretch>
          </a:blipFill>
        </p:spPr>
        <p:txBody>
          <a:bodyPr wrap="square" lIns="0" tIns="0" rIns="0" bIns="0" rtlCol="0"/>
          <a:lstStyle/>
          <a:p>
            <a:endParaRPr>
              <a:latin typeface="+mj-lt"/>
            </a:endParaRPr>
          </a:p>
        </p:txBody>
      </p:sp>
      <p:sp>
        <p:nvSpPr>
          <p:cNvPr id="25" name="object 25"/>
          <p:cNvSpPr/>
          <p:nvPr/>
        </p:nvSpPr>
        <p:spPr>
          <a:xfrm>
            <a:off x="3811385" y="5860472"/>
            <a:ext cx="935181" cy="552796"/>
          </a:xfrm>
          <a:prstGeom prst="rect">
            <a:avLst/>
          </a:prstGeom>
          <a:blipFill>
            <a:blip r:embed="rId6" cstate="print"/>
            <a:stretch>
              <a:fillRect/>
            </a:stretch>
          </a:blipFill>
        </p:spPr>
        <p:txBody>
          <a:bodyPr wrap="square" lIns="0" tIns="0" rIns="0" bIns="0" rtlCol="0"/>
          <a:lstStyle/>
          <a:p>
            <a:endParaRPr>
              <a:latin typeface="+mj-lt"/>
            </a:endParaRPr>
          </a:p>
        </p:txBody>
      </p:sp>
      <p:sp>
        <p:nvSpPr>
          <p:cNvPr id="26" name="object 26"/>
          <p:cNvSpPr/>
          <p:nvPr/>
        </p:nvSpPr>
        <p:spPr>
          <a:xfrm>
            <a:off x="3982368" y="5997340"/>
            <a:ext cx="714375" cy="339725"/>
          </a:xfrm>
          <a:custGeom>
            <a:avLst/>
            <a:gdLst/>
            <a:ahLst/>
            <a:cxnLst/>
            <a:rect l="l" t="t" r="r" b="b"/>
            <a:pathLst>
              <a:path w="714375" h="339725">
                <a:moveTo>
                  <a:pt x="714114" y="339349"/>
                </a:moveTo>
                <a:lnTo>
                  <a:pt x="0" y="0"/>
                </a:lnTo>
              </a:path>
            </a:pathLst>
          </a:custGeom>
          <a:ln w="25399">
            <a:solidFill>
              <a:srgbClr val="5EB169"/>
            </a:solidFill>
          </a:ln>
        </p:spPr>
        <p:txBody>
          <a:bodyPr wrap="square" lIns="0" tIns="0" rIns="0" bIns="0" rtlCol="0"/>
          <a:lstStyle/>
          <a:p>
            <a:endParaRPr>
              <a:latin typeface="+mj-lt"/>
            </a:endParaRPr>
          </a:p>
        </p:txBody>
      </p:sp>
      <p:sp>
        <p:nvSpPr>
          <p:cNvPr id="27" name="object 27"/>
          <p:cNvSpPr/>
          <p:nvPr/>
        </p:nvSpPr>
        <p:spPr>
          <a:xfrm>
            <a:off x="3959603" y="5976652"/>
            <a:ext cx="123913" cy="107984"/>
          </a:xfrm>
          <a:prstGeom prst="rect">
            <a:avLst/>
          </a:prstGeom>
          <a:blipFill>
            <a:blip r:embed="rId7" cstate="print"/>
            <a:stretch>
              <a:fillRect/>
            </a:stretch>
          </a:blipFill>
        </p:spPr>
        <p:txBody>
          <a:bodyPr wrap="square" lIns="0" tIns="0" rIns="0" bIns="0" rtlCol="0"/>
          <a:lstStyle/>
          <a:p>
            <a:endParaRPr>
              <a:latin typeface="+mj-lt"/>
            </a:endParaRPr>
          </a:p>
        </p:txBody>
      </p:sp>
      <p:sp>
        <p:nvSpPr>
          <p:cNvPr id="28" name="object 28"/>
          <p:cNvSpPr/>
          <p:nvPr/>
        </p:nvSpPr>
        <p:spPr>
          <a:xfrm>
            <a:off x="3208712" y="4750723"/>
            <a:ext cx="469669" cy="378229"/>
          </a:xfrm>
          <a:prstGeom prst="rect">
            <a:avLst/>
          </a:prstGeom>
          <a:blipFill>
            <a:blip r:embed="rId8" cstate="print"/>
            <a:stretch>
              <a:fillRect/>
            </a:stretch>
          </a:blipFill>
        </p:spPr>
        <p:txBody>
          <a:bodyPr wrap="square" lIns="0" tIns="0" rIns="0" bIns="0" rtlCol="0"/>
          <a:lstStyle/>
          <a:p>
            <a:endParaRPr>
              <a:latin typeface="+mj-lt"/>
            </a:endParaRPr>
          </a:p>
        </p:txBody>
      </p:sp>
      <p:sp>
        <p:nvSpPr>
          <p:cNvPr id="29" name="object 29"/>
          <p:cNvSpPr/>
          <p:nvPr/>
        </p:nvSpPr>
        <p:spPr>
          <a:xfrm>
            <a:off x="3261538" y="4890711"/>
            <a:ext cx="250825" cy="161925"/>
          </a:xfrm>
          <a:custGeom>
            <a:avLst/>
            <a:gdLst/>
            <a:ahLst/>
            <a:cxnLst/>
            <a:rect l="l" t="t" r="r" b="b"/>
            <a:pathLst>
              <a:path w="250825" h="161925">
                <a:moveTo>
                  <a:pt x="0" y="161738"/>
                </a:moveTo>
                <a:lnTo>
                  <a:pt x="250292" y="0"/>
                </a:lnTo>
              </a:path>
            </a:pathLst>
          </a:custGeom>
          <a:ln w="25399">
            <a:solidFill>
              <a:srgbClr val="A13B2A"/>
            </a:solidFill>
          </a:ln>
        </p:spPr>
        <p:txBody>
          <a:bodyPr wrap="square" lIns="0" tIns="0" rIns="0" bIns="0" rtlCol="0"/>
          <a:lstStyle/>
          <a:p>
            <a:endParaRPr>
              <a:latin typeface="+mj-lt"/>
            </a:endParaRPr>
          </a:p>
        </p:txBody>
      </p:sp>
      <p:sp>
        <p:nvSpPr>
          <p:cNvPr id="30" name="object 30"/>
          <p:cNvSpPr/>
          <p:nvPr/>
        </p:nvSpPr>
        <p:spPr>
          <a:xfrm>
            <a:off x="3410699" y="4877030"/>
            <a:ext cx="122302" cy="106869"/>
          </a:xfrm>
          <a:prstGeom prst="rect">
            <a:avLst/>
          </a:prstGeom>
          <a:blipFill>
            <a:blip r:embed="rId9" cstate="print"/>
            <a:stretch>
              <a:fillRect/>
            </a:stretch>
          </a:blipFill>
        </p:spPr>
        <p:txBody>
          <a:bodyPr wrap="square" lIns="0" tIns="0" rIns="0" bIns="0" rtlCol="0"/>
          <a:lstStyle/>
          <a:p>
            <a:endParaRPr>
              <a:latin typeface="+mj-lt"/>
            </a:endParaRPr>
          </a:p>
        </p:txBody>
      </p:sp>
      <p:sp>
        <p:nvSpPr>
          <p:cNvPr id="31" name="object 31"/>
          <p:cNvSpPr/>
          <p:nvPr/>
        </p:nvSpPr>
        <p:spPr>
          <a:xfrm>
            <a:off x="3113116" y="5195453"/>
            <a:ext cx="590203" cy="386541"/>
          </a:xfrm>
          <a:prstGeom prst="rect">
            <a:avLst/>
          </a:prstGeom>
          <a:blipFill>
            <a:blip r:embed="rId10" cstate="print"/>
            <a:stretch>
              <a:fillRect/>
            </a:stretch>
          </a:blipFill>
        </p:spPr>
        <p:txBody>
          <a:bodyPr wrap="square" lIns="0" tIns="0" rIns="0" bIns="0" rtlCol="0"/>
          <a:lstStyle/>
          <a:p>
            <a:endParaRPr>
              <a:latin typeface="+mj-lt"/>
            </a:endParaRPr>
          </a:p>
        </p:txBody>
      </p:sp>
      <p:sp>
        <p:nvSpPr>
          <p:cNvPr id="32" name="object 32"/>
          <p:cNvSpPr/>
          <p:nvPr/>
        </p:nvSpPr>
        <p:spPr>
          <a:xfrm>
            <a:off x="3164511" y="5231150"/>
            <a:ext cx="368300" cy="174625"/>
          </a:xfrm>
          <a:custGeom>
            <a:avLst/>
            <a:gdLst/>
            <a:ahLst/>
            <a:cxnLst/>
            <a:rect l="l" t="t" r="r" b="b"/>
            <a:pathLst>
              <a:path w="368300" h="174625">
                <a:moveTo>
                  <a:pt x="0" y="0"/>
                </a:moveTo>
                <a:lnTo>
                  <a:pt x="367745" y="174155"/>
                </a:lnTo>
              </a:path>
            </a:pathLst>
          </a:custGeom>
          <a:ln w="25399">
            <a:solidFill>
              <a:srgbClr val="A13B2A"/>
            </a:solidFill>
          </a:ln>
        </p:spPr>
        <p:txBody>
          <a:bodyPr wrap="square" lIns="0" tIns="0" rIns="0" bIns="0" rtlCol="0"/>
          <a:lstStyle/>
          <a:p>
            <a:endParaRPr>
              <a:latin typeface="+mj-lt"/>
            </a:endParaRPr>
          </a:p>
        </p:txBody>
      </p:sp>
      <p:sp>
        <p:nvSpPr>
          <p:cNvPr id="33" name="object 33"/>
          <p:cNvSpPr/>
          <p:nvPr/>
        </p:nvSpPr>
        <p:spPr>
          <a:xfrm>
            <a:off x="3431109" y="5318078"/>
            <a:ext cx="123926" cy="108040"/>
          </a:xfrm>
          <a:prstGeom prst="rect">
            <a:avLst/>
          </a:prstGeom>
          <a:blipFill>
            <a:blip r:embed="rId11" cstate="print"/>
            <a:stretch>
              <a:fillRect/>
            </a:stretch>
          </a:blipFill>
        </p:spPr>
        <p:txBody>
          <a:bodyPr wrap="square" lIns="0" tIns="0" rIns="0" bIns="0" rtlCol="0"/>
          <a:lstStyle/>
          <a:p>
            <a:endParaRPr>
              <a:latin typeface="+mj-lt"/>
            </a:endParaRPr>
          </a:p>
        </p:txBody>
      </p:sp>
      <p:sp>
        <p:nvSpPr>
          <p:cNvPr id="34" name="object 34"/>
          <p:cNvSpPr txBox="1"/>
          <p:nvPr/>
        </p:nvSpPr>
        <p:spPr>
          <a:xfrm>
            <a:off x="292741" y="5544170"/>
            <a:ext cx="20866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j-lt"/>
                <a:cs typeface="Calibri" panose="020F0502020204030204"/>
              </a:rPr>
              <a:t>Test case for proﬁling:</a:t>
            </a:r>
            <a:endParaRPr sz="1800">
              <a:latin typeface="+mj-lt"/>
              <a:cs typeface="Calibri" panose="020F050202020403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4740" y="147992"/>
            <a:ext cx="7210227" cy="627736"/>
          </a:xfrm>
          <a:prstGeom prst="rect">
            <a:avLst/>
          </a:prstGeom>
        </p:spPr>
        <p:txBody>
          <a:bodyPr vert="horz" wrap="square" lIns="0" tIns="12065" rIns="0" bIns="0" rtlCol="0">
            <a:spAutoFit/>
          </a:bodyPr>
          <a:lstStyle/>
          <a:p>
            <a:pPr marL="12700">
              <a:lnSpc>
                <a:spcPct val="100000"/>
              </a:lnSpc>
              <a:spcBef>
                <a:spcPts val="95"/>
              </a:spcBef>
            </a:pPr>
            <a:r>
              <a:rPr dirty="0">
                <a:latin typeface="+mj-lt"/>
              </a:rPr>
              <a:t>…But my application </a:t>
            </a:r>
            <a:r>
              <a:rPr sz="3300" i="1" dirty="0">
                <a:solidFill>
                  <a:srgbClr val="1E5C76"/>
                </a:solidFill>
                <a:latin typeface="+mj-lt"/>
                <a:cs typeface="Arial" panose="020B0604020202020204"/>
              </a:rPr>
              <a:t>just is </a:t>
            </a:r>
            <a:r>
              <a:rPr dirty="0">
                <a:latin typeface="+mj-lt"/>
              </a:rPr>
              <a:t>big!</a:t>
            </a:r>
            <a:endParaRPr sz="3300" dirty="0">
              <a:latin typeface="+mj-lt"/>
              <a:cs typeface="Arial" panose="020B0604020202020204"/>
            </a:endParaRPr>
          </a:p>
        </p:txBody>
      </p:sp>
      <p:sp>
        <p:nvSpPr>
          <p:cNvPr id="3" name="object 3"/>
          <p:cNvSpPr txBox="1"/>
          <p:nvPr/>
        </p:nvSpPr>
        <p:spPr>
          <a:xfrm>
            <a:off x="535939" y="1251966"/>
            <a:ext cx="7948930" cy="455104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Start with a low-overhead proﬁling method</a:t>
            </a:r>
            <a:endParaRPr sz="280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Eg sampling-based (gprof, TAU, CrayPat, …)</a:t>
            </a:r>
            <a:endParaRPr sz="2400">
              <a:latin typeface="+mj-lt"/>
              <a:cs typeface="Calibri" panose="020F0502020204030204"/>
            </a:endParaRPr>
          </a:p>
          <a:p>
            <a:pPr marL="755650" lvl="1" indent="-285750">
              <a:lnSpc>
                <a:spcPct val="100000"/>
              </a:lnSpc>
              <a:spcBef>
                <a:spcPts val="620"/>
              </a:spcBef>
              <a:buFont typeface="Arial" panose="020B0604020202020204"/>
              <a:buChar char="–"/>
              <a:tabLst>
                <a:tab pos="755650" algn="l"/>
              </a:tabLst>
            </a:pPr>
            <a:r>
              <a:rPr sz="2400" dirty="0">
                <a:latin typeface="+mj-lt"/>
                <a:cs typeface="Calibri" panose="020F0502020204030204"/>
              </a:rPr>
              <a:t>Identify hotspots</a:t>
            </a:r>
            <a:endParaRPr sz="2400">
              <a:latin typeface="+mj-lt"/>
              <a:cs typeface="Calibri" panose="020F0502020204030204"/>
            </a:endParaRPr>
          </a:p>
          <a:p>
            <a:pPr marL="355600" indent="-342900">
              <a:lnSpc>
                <a:spcPct val="100000"/>
              </a:lnSpc>
              <a:spcBef>
                <a:spcPts val="615"/>
              </a:spcBef>
              <a:buFont typeface="Arial" panose="020B0604020202020204"/>
              <a:buChar char="•"/>
              <a:tabLst>
                <a:tab pos="354965" algn="l"/>
                <a:tab pos="355600" algn="l"/>
              </a:tabLst>
            </a:pPr>
            <a:r>
              <a:rPr sz="2800" b="1" dirty="0">
                <a:latin typeface="+mj-lt"/>
                <a:cs typeface="Calibri" panose="020F0502020204030204"/>
              </a:rPr>
              <a:t>Only proﬁle part of a run</a:t>
            </a:r>
            <a:endParaRPr sz="2800">
              <a:latin typeface="+mj-lt"/>
              <a:cs typeface="Calibri" panose="020F0502020204030204"/>
            </a:endParaRPr>
          </a:p>
          <a:p>
            <a:pPr marL="749300" marR="5080" lvl="1" indent="-279400">
              <a:lnSpc>
                <a:spcPts val="2820"/>
              </a:lnSpc>
              <a:spcBef>
                <a:spcPts val="790"/>
              </a:spcBef>
              <a:buFont typeface="Arial" panose="020B0604020202020204"/>
              <a:buChar char="–"/>
              <a:tabLst>
                <a:tab pos="755650" algn="l"/>
              </a:tabLst>
            </a:pPr>
            <a:r>
              <a:rPr sz="2400" dirty="0">
                <a:latin typeface="+mj-lt"/>
                <a:cs typeface="Calibri" panose="020F0502020204030204"/>
              </a:rPr>
              <a:t>Some tools (eg Vtune) allow you to start the run “paused”  and “resume collection” via an API call</a:t>
            </a:r>
            <a:endParaRPr sz="2400">
              <a:latin typeface="+mj-lt"/>
              <a:cs typeface="Calibri" panose="020F0502020204030204"/>
            </a:endParaRPr>
          </a:p>
          <a:p>
            <a:pPr marL="355600" indent="-342900">
              <a:lnSpc>
                <a:spcPct val="100000"/>
              </a:lnSpc>
              <a:spcBef>
                <a:spcPts val="610"/>
              </a:spcBef>
              <a:buFont typeface="Arial" panose="020B0604020202020204"/>
              <a:buChar char="•"/>
              <a:tabLst>
                <a:tab pos="354965" algn="l"/>
                <a:tab pos="355600" algn="l"/>
              </a:tabLst>
            </a:pPr>
            <a:r>
              <a:rPr sz="2800" b="1" dirty="0">
                <a:latin typeface="+mj-lt"/>
                <a:cs typeface="Calibri" panose="020F0502020204030204"/>
              </a:rPr>
              <a:t>Only proﬁle 1 MPI rank</a:t>
            </a:r>
            <a:endParaRPr sz="2800">
              <a:latin typeface="+mj-lt"/>
              <a:cs typeface="Calibri" panose="020F0502020204030204"/>
            </a:endParaRPr>
          </a:p>
          <a:p>
            <a:pPr marL="749300" marR="441960" lvl="1" indent="-279400">
              <a:lnSpc>
                <a:spcPct val="101000"/>
              </a:lnSpc>
              <a:spcBef>
                <a:spcPts val="505"/>
              </a:spcBef>
              <a:buFont typeface="Arial" panose="020B0604020202020204"/>
              <a:buChar char="–"/>
              <a:tabLst>
                <a:tab pos="755650" algn="l"/>
              </a:tabLst>
            </a:pPr>
            <a:r>
              <a:rPr sz="2400" dirty="0">
                <a:latin typeface="+mj-lt"/>
                <a:cs typeface="Calibri" panose="020F0502020204030204"/>
              </a:rPr>
              <a:t>Via srun options, eg run Vtune on one rank, not others  (beyond today’s scope)</a:t>
            </a:r>
            <a:endParaRPr sz="2400">
              <a:latin typeface="+mj-lt"/>
              <a:cs typeface="Calibri" panose="020F0502020204030204"/>
            </a:endParaRPr>
          </a:p>
          <a:p>
            <a:pPr marL="355600" indent="-342900">
              <a:lnSpc>
                <a:spcPct val="100000"/>
              </a:lnSpc>
              <a:spcBef>
                <a:spcPts val="690"/>
              </a:spcBef>
              <a:buFont typeface="Arial" panose="020B0604020202020204"/>
              <a:buChar char="•"/>
              <a:tabLst>
                <a:tab pos="354965" algn="l"/>
                <a:tab pos="355600" algn="l"/>
              </a:tabLst>
            </a:pPr>
            <a:r>
              <a:rPr sz="2800" b="1" dirty="0">
                <a:latin typeface="+mj-lt"/>
                <a:cs typeface="Calibri" panose="020F0502020204030204"/>
              </a:rPr>
              <a:t>Luckily, our hack-a-kernel is already small! </a:t>
            </a:r>
            <a:r>
              <a:rPr sz="2800" dirty="0">
                <a:latin typeface="+mj-lt"/>
                <a:cs typeface="Wingdings" panose="05000000000000000000"/>
              </a:rPr>
              <a:t></a:t>
            </a:r>
            <a:endParaRPr sz="2800">
              <a:latin typeface="+mj-lt"/>
              <a:cs typeface="Wingdings" panose="0500000000000000000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9280" y="237028"/>
            <a:ext cx="7605881" cy="599138"/>
          </a:xfrm>
          <a:prstGeom prst="rect">
            <a:avLst/>
          </a:prstGeom>
        </p:spPr>
        <p:txBody>
          <a:bodyPr vert="horz" wrap="square" lIns="0" tIns="12700" rIns="0" bIns="0" rtlCol="0">
            <a:spAutoFit/>
          </a:bodyPr>
          <a:lstStyle/>
          <a:p>
            <a:pPr marL="12700">
              <a:lnSpc>
                <a:spcPct val="100000"/>
              </a:lnSpc>
              <a:spcBef>
                <a:spcPts val="100"/>
              </a:spcBef>
            </a:pPr>
            <a:r>
              <a:rPr dirty="0">
                <a:latin typeface="+mj-lt"/>
              </a:rPr>
              <a:t>Performance Analysis</a:t>
            </a:r>
          </a:p>
        </p:txBody>
      </p:sp>
      <p:sp>
        <p:nvSpPr>
          <p:cNvPr id="3" name="object 3"/>
          <p:cNvSpPr txBox="1"/>
          <p:nvPr/>
        </p:nvSpPr>
        <p:spPr>
          <a:xfrm>
            <a:off x="535939" y="1251966"/>
            <a:ext cx="7752080" cy="4303395"/>
          </a:xfrm>
          <a:prstGeom prst="rect">
            <a:avLst/>
          </a:prstGeom>
        </p:spPr>
        <p:txBody>
          <a:bodyPr vert="horz" wrap="square" lIns="0" tIns="88900" rIns="0" bIns="0" rtlCol="0">
            <a:spAutoFit/>
          </a:bodyPr>
          <a:lstStyle/>
          <a:p>
            <a:pPr marL="355600" indent="-342900">
              <a:lnSpc>
                <a:spcPct val="100000"/>
              </a:lnSpc>
              <a:spcBef>
                <a:spcPts val="700"/>
              </a:spcBef>
              <a:buFont typeface="Arial" panose="020B0604020202020204"/>
              <a:buChar char="•"/>
              <a:tabLst>
                <a:tab pos="354965" algn="l"/>
                <a:tab pos="355600" algn="l"/>
              </a:tabLst>
            </a:pPr>
            <a:r>
              <a:rPr sz="2800" b="1" dirty="0">
                <a:latin typeface="+mj-lt"/>
                <a:cs typeface="Calibri" panose="020F0502020204030204"/>
              </a:rPr>
              <a:t>Many tools require dynamically-linked executable</a:t>
            </a:r>
            <a:endParaRPr sz="2800" dirty="0">
              <a:latin typeface="+mj-lt"/>
              <a:cs typeface="Calibri" panose="020F0502020204030204"/>
            </a:endParaRPr>
          </a:p>
          <a:p>
            <a:pPr marL="755650" lvl="1" indent="-285750">
              <a:lnSpc>
                <a:spcPct val="100000"/>
              </a:lnSpc>
              <a:spcBef>
                <a:spcPts val="515"/>
              </a:spcBef>
              <a:buFont typeface="Arial" panose="020B0604020202020204"/>
              <a:buChar char="–"/>
              <a:tabLst>
                <a:tab pos="755650" algn="l"/>
              </a:tabLst>
            </a:pPr>
            <a:r>
              <a:rPr sz="2400" dirty="0">
                <a:latin typeface="+mj-lt"/>
                <a:cs typeface="Calibri" panose="020F0502020204030204"/>
              </a:rPr>
              <a:t>Including Vtune</a:t>
            </a:r>
          </a:p>
          <a:p>
            <a:pPr marL="749300" marR="16510" lvl="1" indent="-279400">
              <a:lnSpc>
                <a:spcPts val="2820"/>
              </a:lnSpc>
              <a:spcBef>
                <a:spcPts val="765"/>
              </a:spcBef>
              <a:buFont typeface="Arial" panose="020B0604020202020204"/>
              <a:buChar char="–"/>
              <a:tabLst>
                <a:tab pos="755650" algn="l"/>
              </a:tabLst>
            </a:pPr>
            <a:r>
              <a:rPr sz="2400" dirty="0">
                <a:latin typeface="+mj-lt"/>
                <a:cs typeface="Calibri" panose="020F0502020204030204"/>
              </a:rPr>
              <a:t>NERSC/Cray: applications are statically linked by default,  must use “-dynamic” at compile time</a:t>
            </a:r>
          </a:p>
          <a:p>
            <a:pPr marL="355600" marR="335280" indent="-342900">
              <a:lnSpc>
                <a:spcPct val="100000"/>
              </a:lnSpc>
              <a:spcBef>
                <a:spcPts val="610"/>
              </a:spcBef>
              <a:buFont typeface="Arial" panose="020B0604020202020204"/>
              <a:buChar char="•"/>
              <a:tabLst>
                <a:tab pos="354965" algn="l"/>
                <a:tab pos="355600" algn="l"/>
              </a:tabLst>
            </a:pPr>
            <a:r>
              <a:rPr sz="2800" b="1" dirty="0">
                <a:latin typeface="+mj-lt"/>
                <a:cs typeface="Calibri" panose="020F0502020204030204"/>
              </a:rPr>
              <a:t>“Uncore” (eg memory related) performance  counters usually require special permissions (eg  kernel module)</a:t>
            </a:r>
            <a:endParaRPr sz="2800" dirty="0">
              <a:latin typeface="+mj-lt"/>
              <a:cs typeface="Calibri" panose="020F0502020204030204"/>
            </a:endParaRPr>
          </a:p>
          <a:p>
            <a:pPr marL="1162685" marR="3040380" lvl="1" indent="-693420">
              <a:lnSpc>
                <a:spcPts val="2820"/>
              </a:lnSpc>
              <a:spcBef>
                <a:spcPts val="760"/>
              </a:spcBef>
              <a:buFont typeface="Arial" panose="020B0604020202020204"/>
              <a:buChar char="–"/>
              <a:tabLst>
                <a:tab pos="755650" algn="l"/>
              </a:tabLst>
            </a:pPr>
            <a:r>
              <a:rPr sz="2400" dirty="0">
                <a:latin typeface="+mj-lt"/>
                <a:cs typeface="Calibri" panose="020F0502020204030204"/>
              </a:rPr>
              <a:t>NERSC/Slurm supports this with  #SBATCH –perf=</a:t>
            </a:r>
            <a:r>
              <a:rPr sz="2400" dirty="0" err="1">
                <a:latin typeface="+mj-lt"/>
                <a:cs typeface="Calibri" panose="020F0502020204030204"/>
              </a:rPr>
              <a:t>vtune</a:t>
            </a:r>
            <a:r>
              <a:rPr lang="en-US" sz="2400" dirty="0">
                <a:latin typeface="+mj-lt"/>
                <a:cs typeface="Calibri" panose="020F0502020204030204"/>
              </a:rPr>
              <a:t> </a:t>
            </a:r>
            <a:r>
              <a:rPr sz="2400" dirty="0">
                <a:latin typeface="+mj-lt"/>
                <a:cs typeface="Calibri" panose="020F0502020204030204"/>
              </a:rPr>
              <a:t>directive</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448</TotalTime>
  <Words>3647</Words>
  <Application>Microsoft Office PowerPoint</Application>
  <PresentationFormat>全屏显示(4:3)</PresentationFormat>
  <Paragraphs>546</Paragraphs>
  <Slides>57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57</vt:i4>
      </vt:variant>
    </vt:vector>
  </HeadingPairs>
  <TitlesOfParts>
    <vt:vector size="68" baseType="lpstr">
      <vt:lpstr>Microsoft YaHei UI</vt:lpstr>
      <vt:lpstr>宋体</vt:lpstr>
      <vt:lpstr>微软雅黑</vt:lpstr>
      <vt:lpstr>黑体</vt:lpstr>
      <vt:lpstr>Arial</vt:lpstr>
      <vt:lpstr>Calibri</vt:lpstr>
      <vt:lpstr>Courier New</vt:lpstr>
      <vt:lpstr>Lucida Console</vt:lpstr>
      <vt:lpstr>Times New Roman</vt:lpstr>
      <vt:lpstr>Wingdings</vt:lpstr>
      <vt:lpstr>Office 主题​​</vt:lpstr>
      <vt:lpstr>并行程序设计</vt:lpstr>
      <vt:lpstr>NERSC Cori</vt:lpstr>
      <vt:lpstr>Agenda</vt:lpstr>
      <vt:lpstr>Cori Overview</vt:lpstr>
      <vt:lpstr>What's so special about it?</vt:lpstr>
      <vt:lpstr>What's so special about it?</vt:lpstr>
      <vt:lpstr>What's so special about it?</vt:lpstr>
      <vt:lpstr>What's so special about KNL?</vt:lpstr>
      <vt:lpstr>What's so special about KNL?</vt:lpstr>
      <vt:lpstr>Why?</vt:lpstr>
      <vt:lpstr>Cori Overview</vt:lpstr>
      <vt:lpstr>Connecting to Cori</vt:lpstr>
      <vt:lpstr>X-forwarding</vt:lpstr>
      <vt:lpstr>Example Session</vt:lpstr>
      <vt:lpstr>After logging in…</vt:lpstr>
      <vt:lpstr>Agenda</vt:lpstr>
      <vt:lpstr>Running jobs – key points</vt:lpstr>
      <vt:lpstr>Running jobs – key points</vt:lpstr>
      <vt:lpstr>How jobs work</vt:lpstr>
      <vt:lpstr>How jobs work (whole procedure) </vt:lpstr>
      <vt:lpstr>Nodes, cores, CPUs, threads, tasks -  some definitions</vt:lpstr>
      <vt:lpstr>Nodes, cores, CPUs, threads, tasks -  some definitions</vt:lpstr>
      <vt:lpstr>Slurm tasks</vt:lpstr>
      <vt:lpstr>Slurm tasks</vt:lpstr>
      <vt:lpstr>So what must I request for my job?</vt:lpstr>
      <vt:lpstr>Requesting nodes or tasks</vt:lpstr>
      <vt:lpstr>Requesting time</vt:lpstr>
      <vt:lpstr>Hands-on exercise: My first job</vt:lpstr>
      <vt:lpstr>Hands-on exercise: My first job</vt:lpstr>
      <vt:lpstr>Running jobs – key points</vt:lpstr>
      <vt:lpstr>Where is my job?</vt:lpstr>
      <vt:lpstr>Agenda</vt:lpstr>
      <vt:lpstr>Cray compiler wrappers, ftn, cc and CC</vt:lpstr>
      <vt:lpstr>Environment Modules</vt:lpstr>
      <vt:lpstr>Module Commands</vt:lpstr>
      <vt:lpstr>Key modules for compiling</vt:lpstr>
      <vt:lpstr>What do compiler wrappers link by default?</vt:lpstr>
      <vt:lpstr>Compiling code</vt:lpstr>
      <vt:lpstr>Compiling parallel code</vt:lpstr>
      <vt:lpstr>MPI vs OpenMP</vt:lpstr>
      <vt:lpstr>MPI vs OpenMP</vt:lpstr>
      <vt:lpstr>Why do we suddenly need OpenMP?</vt:lpstr>
      <vt:lpstr>Why do we suddenly need OpenMP?</vt:lpstr>
      <vt:lpstr>Agenda</vt:lpstr>
      <vt:lpstr>Performance bottlenecks</vt:lpstr>
      <vt:lpstr>Bottlenecks within the node – Affinity issues</vt:lpstr>
      <vt:lpstr>Bottlenecks within the node – Affinity issues</vt:lpstr>
      <vt:lpstr>Process (task) affinity</vt:lpstr>
      <vt:lpstr>Thread affinity (OpenMP)</vt:lpstr>
      <vt:lpstr>PowerPoint 演示文稿</vt:lpstr>
      <vt:lpstr>Memory affinity</vt:lpstr>
      <vt:lpstr>Bottlenecks within the node</vt:lpstr>
      <vt:lpstr>Bottlenecks within the node</vt:lpstr>
      <vt:lpstr>Agenda</vt:lpstr>
      <vt:lpstr>Profiling prerequisite</vt:lpstr>
      <vt:lpstr>…But my application just is big!</vt:lpstr>
      <vt:lpstr>Performance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HuangDan</dc:creator>
  <cp:lastModifiedBy>HuangDan</cp:lastModifiedBy>
  <cp:revision>172</cp:revision>
  <dcterms:created xsi:type="dcterms:W3CDTF">2020-08-28T06:03:00Z</dcterms:created>
  <dcterms:modified xsi:type="dcterms:W3CDTF">2025-04-09T05:51:00Z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1FCD7AB4CC734B2AB5B0F87B09A30ABB</vt:lpwstr>
  </property>
  <property fmtid="{D5CDD505-2E9C-101B-9397-08002B2CF9AE}" pid="3" name="KSOProductBuildVer">
    <vt:lpwstr>2052-11.1.0.11294</vt:lpwstr>
  </property>
</Properties>
</file>